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77" y="2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hyperlink" Target="http://www.rapidesign.cn/" TargetMode="External"/><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7" name="组合 46"/>
          <p:cNvGrpSpPr/>
          <p:nvPr/>
        </p:nvGrpSpPr>
        <p:grpSpPr>
          <a:xfrm>
            <a:off x="0" y="0"/>
            <a:ext cx="12192000" cy="6858000"/>
            <a:chOff x="0" y="0"/>
            <a:chExt cx="9144000" cy="5143500"/>
          </a:xfrm>
        </p:grpSpPr>
        <p:pic>
          <p:nvPicPr>
            <p:cNvPr id="18" name="图片 17">
              <a:hlinkClick r:id="rId2"/>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9" name="Freeform 58"/>
            <p:cNvSpPr>
              <a:spLocks/>
            </p:cNvSpPr>
            <p:nvPr userDrawn="1"/>
          </p:nvSpPr>
          <p:spPr bwMode="auto">
            <a:xfrm flipV="1">
              <a:off x="4258935" y="2585097"/>
              <a:ext cx="624792" cy="573734"/>
            </a:xfrm>
            <a:custGeom>
              <a:avLst/>
              <a:gdLst>
                <a:gd name="T0" fmla="*/ 11 w 332"/>
                <a:gd name="T1" fmla="*/ 147 h 261"/>
                <a:gd name="T2" fmla="*/ 0 w 332"/>
                <a:gd name="T3" fmla="*/ 120 h 261"/>
                <a:gd name="T4" fmla="*/ 0 w 332"/>
                <a:gd name="T5" fmla="*/ 0 h 261"/>
                <a:gd name="T6" fmla="*/ 332 w 332"/>
                <a:gd name="T7" fmla="*/ 0 h 261"/>
                <a:gd name="T8" fmla="*/ 332 w 332"/>
                <a:gd name="T9" fmla="*/ 120 h 261"/>
                <a:gd name="T10" fmla="*/ 321 w 332"/>
                <a:gd name="T11" fmla="*/ 147 h 261"/>
                <a:gd name="T12" fmla="*/ 166 w 332"/>
                <a:gd name="T13" fmla="*/ 261 h 261"/>
                <a:gd name="T14" fmla="*/ 11 w 332"/>
                <a:gd name="T15" fmla="*/ 147 h 2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2" h="261">
                  <a:moveTo>
                    <a:pt x="11" y="147"/>
                  </a:moveTo>
                  <a:cubicBezTo>
                    <a:pt x="7" y="144"/>
                    <a:pt x="0" y="130"/>
                    <a:pt x="0" y="120"/>
                  </a:cubicBezTo>
                  <a:cubicBezTo>
                    <a:pt x="0" y="0"/>
                    <a:pt x="0" y="0"/>
                    <a:pt x="0" y="0"/>
                  </a:cubicBezTo>
                  <a:cubicBezTo>
                    <a:pt x="332" y="0"/>
                    <a:pt x="332" y="0"/>
                    <a:pt x="332" y="0"/>
                  </a:cubicBezTo>
                  <a:cubicBezTo>
                    <a:pt x="332" y="120"/>
                    <a:pt x="332" y="120"/>
                    <a:pt x="332" y="120"/>
                  </a:cubicBezTo>
                  <a:cubicBezTo>
                    <a:pt x="332" y="130"/>
                    <a:pt x="325" y="144"/>
                    <a:pt x="321" y="147"/>
                  </a:cubicBezTo>
                  <a:cubicBezTo>
                    <a:pt x="166" y="261"/>
                    <a:pt x="166" y="261"/>
                    <a:pt x="166" y="261"/>
                  </a:cubicBezTo>
                  <a:lnTo>
                    <a:pt x="11" y="147"/>
                  </a:lnTo>
                  <a:close/>
                </a:path>
              </a:pathLst>
            </a:custGeom>
            <a:solidFill>
              <a:srgbClr val="C20F2A"/>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zh-CN" altLang="en-US" sz="1013">
                <a:solidFill>
                  <a:prstClr val="black"/>
                </a:solidFill>
              </a:endParaRPr>
            </a:p>
          </p:txBody>
        </p:sp>
        <p:sp>
          <p:nvSpPr>
            <p:cNvPr id="20" name="矩形 19"/>
            <p:cNvSpPr/>
            <p:nvPr userDrawn="1"/>
          </p:nvSpPr>
          <p:spPr>
            <a:xfrm>
              <a:off x="4158010" y="2564315"/>
              <a:ext cx="825566" cy="712262"/>
            </a:xfrm>
            <a:prstGeom prst="rect">
              <a:avLst/>
            </a:prstGeom>
            <a:solidFill>
              <a:srgbClr val="29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013">
                <a:solidFill>
                  <a:prstClr val="white"/>
                </a:solidFill>
              </a:endParaRPr>
            </a:p>
          </p:txBody>
        </p:sp>
        <p:sp>
          <p:nvSpPr>
            <p:cNvPr id="21" name="Freeform 58"/>
            <p:cNvSpPr>
              <a:spLocks/>
            </p:cNvSpPr>
            <p:nvPr userDrawn="1"/>
          </p:nvSpPr>
          <p:spPr bwMode="auto">
            <a:xfrm>
              <a:off x="4262792" y="1724544"/>
              <a:ext cx="616577" cy="483115"/>
            </a:xfrm>
            <a:custGeom>
              <a:avLst/>
              <a:gdLst>
                <a:gd name="T0" fmla="*/ 11 w 332"/>
                <a:gd name="T1" fmla="*/ 147 h 261"/>
                <a:gd name="T2" fmla="*/ 0 w 332"/>
                <a:gd name="T3" fmla="*/ 120 h 261"/>
                <a:gd name="T4" fmla="*/ 0 w 332"/>
                <a:gd name="T5" fmla="*/ 0 h 261"/>
                <a:gd name="T6" fmla="*/ 332 w 332"/>
                <a:gd name="T7" fmla="*/ 0 h 261"/>
                <a:gd name="T8" fmla="*/ 332 w 332"/>
                <a:gd name="T9" fmla="*/ 120 h 261"/>
                <a:gd name="T10" fmla="*/ 321 w 332"/>
                <a:gd name="T11" fmla="*/ 147 h 261"/>
                <a:gd name="T12" fmla="*/ 166 w 332"/>
                <a:gd name="T13" fmla="*/ 261 h 261"/>
                <a:gd name="T14" fmla="*/ 11 w 332"/>
                <a:gd name="T15" fmla="*/ 147 h 2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2" h="261">
                  <a:moveTo>
                    <a:pt x="11" y="147"/>
                  </a:moveTo>
                  <a:cubicBezTo>
                    <a:pt x="7" y="144"/>
                    <a:pt x="0" y="130"/>
                    <a:pt x="0" y="120"/>
                  </a:cubicBezTo>
                  <a:cubicBezTo>
                    <a:pt x="0" y="0"/>
                    <a:pt x="0" y="0"/>
                    <a:pt x="0" y="0"/>
                  </a:cubicBezTo>
                  <a:cubicBezTo>
                    <a:pt x="332" y="0"/>
                    <a:pt x="332" y="0"/>
                    <a:pt x="332" y="0"/>
                  </a:cubicBezTo>
                  <a:cubicBezTo>
                    <a:pt x="332" y="120"/>
                    <a:pt x="332" y="120"/>
                    <a:pt x="332" y="120"/>
                  </a:cubicBezTo>
                  <a:cubicBezTo>
                    <a:pt x="332" y="130"/>
                    <a:pt x="325" y="144"/>
                    <a:pt x="321" y="147"/>
                  </a:cubicBezTo>
                  <a:cubicBezTo>
                    <a:pt x="166" y="261"/>
                    <a:pt x="166" y="261"/>
                    <a:pt x="166" y="261"/>
                  </a:cubicBezTo>
                  <a:lnTo>
                    <a:pt x="11" y="147"/>
                  </a:lnTo>
                  <a:close/>
                </a:path>
              </a:pathLst>
            </a:custGeom>
            <a:solidFill>
              <a:srgbClr val="C20F2A"/>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zh-CN" altLang="en-US" sz="1013">
                <a:solidFill>
                  <a:prstClr val="black"/>
                </a:solidFill>
                <a:effectLst>
                  <a:outerShdw blurRad="50800" dist="38100" dir="2700000" algn="tl" rotWithShape="0">
                    <a:prstClr val="black">
                      <a:alpha val="40000"/>
                    </a:prstClr>
                  </a:outerShdw>
                </a:effectLst>
              </a:endParaRPr>
            </a:p>
          </p:txBody>
        </p:sp>
        <p:sp>
          <p:nvSpPr>
            <p:cNvPr id="22" name="矩形 21"/>
            <p:cNvSpPr/>
            <p:nvPr userDrawn="1"/>
          </p:nvSpPr>
          <p:spPr>
            <a:xfrm>
              <a:off x="4149370" y="1095210"/>
              <a:ext cx="825566" cy="619946"/>
            </a:xfrm>
            <a:prstGeom prst="rect">
              <a:avLst/>
            </a:prstGeom>
            <a:solidFill>
              <a:srgbClr val="29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013">
                <a:solidFill>
                  <a:prstClr val="white"/>
                </a:solidFill>
                <a:effectLst>
                  <a:outerShdw blurRad="50800" dist="38100" dir="2700000" algn="tl" rotWithShape="0">
                    <a:prstClr val="black">
                      <a:alpha val="40000"/>
                    </a:prstClr>
                  </a:outerShdw>
                </a:effectLst>
              </a:endParaRPr>
            </a:p>
          </p:txBody>
        </p:sp>
        <p:sp>
          <p:nvSpPr>
            <p:cNvPr id="25" name="矩形 24">
              <a:hlinkClick r:id="rId2"/>
            </p:cNvPr>
            <p:cNvSpPr/>
            <p:nvPr userDrawn="1"/>
          </p:nvSpPr>
          <p:spPr>
            <a:xfrm>
              <a:off x="0" y="3044534"/>
              <a:ext cx="9144000" cy="2098966"/>
            </a:xfrm>
            <a:prstGeom prst="rect">
              <a:avLst/>
            </a:prstGeom>
            <a:solidFill>
              <a:srgbClr val="C20F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013">
                <a:solidFill>
                  <a:prstClr val="white"/>
                </a:solidFill>
              </a:endParaRPr>
            </a:p>
          </p:txBody>
        </p:sp>
        <p:sp>
          <p:nvSpPr>
            <p:cNvPr id="30" name="Freeform 5">
              <a:hlinkClick r:id="rId2"/>
            </p:cNvPr>
            <p:cNvSpPr>
              <a:spLocks noEditPoints="1"/>
            </p:cNvSpPr>
            <p:nvPr userDrawn="1"/>
          </p:nvSpPr>
          <p:spPr bwMode="auto">
            <a:xfrm>
              <a:off x="4783055" y="3327021"/>
              <a:ext cx="309069" cy="310124"/>
            </a:xfrm>
            <a:custGeom>
              <a:avLst/>
              <a:gdLst>
                <a:gd name="T0" fmla="*/ 111 w 121"/>
                <a:gd name="T1" fmla="*/ 50 h 121"/>
                <a:gd name="T2" fmla="*/ 109 w 121"/>
                <a:gd name="T3" fmla="*/ 44 h 121"/>
                <a:gd name="T4" fmla="*/ 116 w 121"/>
                <a:gd name="T5" fmla="*/ 36 h 121"/>
                <a:gd name="T6" fmla="*/ 109 w 121"/>
                <a:gd name="T7" fmla="*/ 24 h 121"/>
                <a:gd name="T8" fmla="*/ 99 w 121"/>
                <a:gd name="T9" fmla="*/ 26 h 121"/>
                <a:gd name="T10" fmla="*/ 95 w 121"/>
                <a:gd name="T11" fmla="*/ 22 h 121"/>
                <a:gd name="T12" fmla="*/ 97 w 121"/>
                <a:gd name="T13" fmla="*/ 11 h 121"/>
                <a:gd name="T14" fmla="*/ 84 w 121"/>
                <a:gd name="T15" fmla="*/ 4 h 121"/>
                <a:gd name="T16" fmla="*/ 76 w 121"/>
                <a:gd name="T17" fmla="*/ 11 h 121"/>
                <a:gd name="T18" fmla="*/ 71 w 121"/>
                <a:gd name="T19" fmla="*/ 10 h 121"/>
                <a:gd name="T20" fmla="*/ 68 w 121"/>
                <a:gd name="T21" fmla="*/ 0 h 121"/>
                <a:gd name="T22" fmla="*/ 60 w 121"/>
                <a:gd name="T23" fmla="*/ 0 h 121"/>
                <a:gd name="T24" fmla="*/ 53 w 121"/>
                <a:gd name="T25" fmla="*/ 0 h 121"/>
                <a:gd name="T26" fmla="*/ 50 w 121"/>
                <a:gd name="T27" fmla="*/ 10 h 121"/>
                <a:gd name="T28" fmla="*/ 44 w 121"/>
                <a:gd name="T29" fmla="*/ 11 h 121"/>
                <a:gd name="T30" fmla="*/ 36 w 121"/>
                <a:gd name="T31" fmla="*/ 4 h 121"/>
                <a:gd name="T32" fmla="*/ 24 w 121"/>
                <a:gd name="T33" fmla="*/ 11 h 121"/>
                <a:gd name="T34" fmla="*/ 26 w 121"/>
                <a:gd name="T35" fmla="*/ 22 h 121"/>
                <a:gd name="T36" fmla="*/ 22 w 121"/>
                <a:gd name="T37" fmla="*/ 26 h 121"/>
                <a:gd name="T38" fmla="*/ 11 w 121"/>
                <a:gd name="T39" fmla="*/ 24 h 121"/>
                <a:gd name="T40" fmla="*/ 4 w 121"/>
                <a:gd name="T41" fmla="*/ 36 h 121"/>
                <a:gd name="T42" fmla="*/ 11 w 121"/>
                <a:gd name="T43" fmla="*/ 44 h 121"/>
                <a:gd name="T44" fmla="*/ 10 w 121"/>
                <a:gd name="T45" fmla="*/ 50 h 121"/>
                <a:gd name="T46" fmla="*/ 0 w 121"/>
                <a:gd name="T47" fmla="*/ 53 h 121"/>
                <a:gd name="T48" fmla="*/ 0 w 121"/>
                <a:gd name="T49" fmla="*/ 60 h 121"/>
                <a:gd name="T50" fmla="*/ 0 w 121"/>
                <a:gd name="T51" fmla="*/ 67 h 121"/>
                <a:gd name="T52" fmla="*/ 10 w 121"/>
                <a:gd name="T53" fmla="*/ 71 h 121"/>
                <a:gd name="T54" fmla="*/ 11 w 121"/>
                <a:gd name="T55" fmla="*/ 76 h 121"/>
                <a:gd name="T56" fmla="*/ 4 w 121"/>
                <a:gd name="T57" fmla="*/ 84 h 121"/>
                <a:gd name="T58" fmla="*/ 11 w 121"/>
                <a:gd name="T59" fmla="*/ 97 h 121"/>
                <a:gd name="T60" fmla="*/ 22 w 121"/>
                <a:gd name="T61" fmla="*/ 95 h 121"/>
                <a:gd name="T62" fmla="*/ 26 w 121"/>
                <a:gd name="T63" fmla="*/ 99 h 121"/>
                <a:gd name="T64" fmla="*/ 24 w 121"/>
                <a:gd name="T65" fmla="*/ 109 h 121"/>
                <a:gd name="T66" fmla="*/ 36 w 121"/>
                <a:gd name="T67" fmla="*/ 116 h 121"/>
                <a:gd name="T68" fmla="*/ 44 w 121"/>
                <a:gd name="T69" fmla="*/ 109 h 121"/>
                <a:gd name="T70" fmla="*/ 50 w 121"/>
                <a:gd name="T71" fmla="*/ 111 h 121"/>
                <a:gd name="T72" fmla="*/ 53 w 121"/>
                <a:gd name="T73" fmla="*/ 121 h 121"/>
                <a:gd name="T74" fmla="*/ 60 w 121"/>
                <a:gd name="T75" fmla="*/ 121 h 121"/>
                <a:gd name="T76" fmla="*/ 68 w 121"/>
                <a:gd name="T77" fmla="*/ 121 h 121"/>
                <a:gd name="T78" fmla="*/ 71 w 121"/>
                <a:gd name="T79" fmla="*/ 111 h 121"/>
                <a:gd name="T80" fmla="*/ 76 w 121"/>
                <a:gd name="T81" fmla="*/ 109 h 121"/>
                <a:gd name="T82" fmla="*/ 84 w 121"/>
                <a:gd name="T83" fmla="*/ 116 h 121"/>
                <a:gd name="T84" fmla="*/ 97 w 121"/>
                <a:gd name="T85" fmla="*/ 109 h 121"/>
                <a:gd name="T86" fmla="*/ 95 w 121"/>
                <a:gd name="T87" fmla="*/ 99 h 121"/>
                <a:gd name="T88" fmla="*/ 99 w 121"/>
                <a:gd name="T89" fmla="*/ 95 h 121"/>
                <a:gd name="T90" fmla="*/ 109 w 121"/>
                <a:gd name="T91" fmla="*/ 97 h 121"/>
                <a:gd name="T92" fmla="*/ 116 w 121"/>
                <a:gd name="T93" fmla="*/ 84 h 121"/>
                <a:gd name="T94" fmla="*/ 109 w 121"/>
                <a:gd name="T95" fmla="*/ 76 h 121"/>
                <a:gd name="T96" fmla="*/ 111 w 121"/>
                <a:gd name="T97" fmla="*/ 71 h 121"/>
                <a:gd name="T98" fmla="*/ 121 w 121"/>
                <a:gd name="T99" fmla="*/ 67 h 121"/>
                <a:gd name="T100" fmla="*/ 121 w 121"/>
                <a:gd name="T101" fmla="*/ 60 h 121"/>
                <a:gd name="T102" fmla="*/ 121 w 121"/>
                <a:gd name="T103" fmla="*/ 53 h 121"/>
                <a:gd name="T104" fmla="*/ 111 w 121"/>
                <a:gd name="T105" fmla="*/ 50 h 121"/>
                <a:gd name="T106" fmla="*/ 60 w 121"/>
                <a:gd name="T107" fmla="*/ 83 h 121"/>
                <a:gd name="T108" fmla="*/ 38 w 121"/>
                <a:gd name="T109" fmla="*/ 60 h 121"/>
                <a:gd name="T110" fmla="*/ 60 w 121"/>
                <a:gd name="T111" fmla="*/ 38 h 121"/>
                <a:gd name="T112" fmla="*/ 83 w 121"/>
                <a:gd name="T113" fmla="*/ 60 h 121"/>
                <a:gd name="T114" fmla="*/ 60 w 121"/>
                <a:gd name="T115" fmla="*/ 83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1" h="121">
                  <a:moveTo>
                    <a:pt x="111" y="50"/>
                  </a:moveTo>
                  <a:cubicBezTo>
                    <a:pt x="110" y="48"/>
                    <a:pt x="110" y="46"/>
                    <a:pt x="109" y="44"/>
                  </a:cubicBezTo>
                  <a:cubicBezTo>
                    <a:pt x="116" y="36"/>
                    <a:pt x="116" y="36"/>
                    <a:pt x="116" y="36"/>
                  </a:cubicBezTo>
                  <a:cubicBezTo>
                    <a:pt x="109" y="24"/>
                    <a:pt x="109" y="24"/>
                    <a:pt x="109" y="24"/>
                  </a:cubicBezTo>
                  <a:cubicBezTo>
                    <a:pt x="99" y="26"/>
                    <a:pt x="99" y="26"/>
                    <a:pt x="99" y="26"/>
                  </a:cubicBezTo>
                  <a:cubicBezTo>
                    <a:pt x="97" y="24"/>
                    <a:pt x="96" y="23"/>
                    <a:pt x="95" y="22"/>
                  </a:cubicBezTo>
                  <a:cubicBezTo>
                    <a:pt x="97" y="11"/>
                    <a:pt x="97" y="11"/>
                    <a:pt x="97" y="11"/>
                  </a:cubicBezTo>
                  <a:cubicBezTo>
                    <a:pt x="84" y="4"/>
                    <a:pt x="84" y="4"/>
                    <a:pt x="84" y="4"/>
                  </a:cubicBezTo>
                  <a:cubicBezTo>
                    <a:pt x="76" y="11"/>
                    <a:pt x="76" y="11"/>
                    <a:pt x="76" y="11"/>
                  </a:cubicBezTo>
                  <a:cubicBezTo>
                    <a:pt x="75" y="11"/>
                    <a:pt x="73" y="10"/>
                    <a:pt x="71" y="10"/>
                  </a:cubicBezTo>
                  <a:cubicBezTo>
                    <a:pt x="68" y="0"/>
                    <a:pt x="68" y="0"/>
                    <a:pt x="68" y="0"/>
                  </a:cubicBezTo>
                  <a:cubicBezTo>
                    <a:pt x="60" y="0"/>
                    <a:pt x="60" y="0"/>
                    <a:pt x="60" y="0"/>
                  </a:cubicBezTo>
                  <a:cubicBezTo>
                    <a:pt x="53" y="0"/>
                    <a:pt x="53" y="0"/>
                    <a:pt x="53" y="0"/>
                  </a:cubicBezTo>
                  <a:cubicBezTo>
                    <a:pt x="50" y="10"/>
                    <a:pt x="50" y="10"/>
                    <a:pt x="50" y="10"/>
                  </a:cubicBezTo>
                  <a:cubicBezTo>
                    <a:pt x="48" y="10"/>
                    <a:pt x="46" y="11"/>
                    <a:pt x="44" y="11"/>
                  </a:cubicBezTo>
                  <a:cubicBezTo>
                    <a:pt x="36" y="4"/>
                    <a:pt x="36" y="4"/>
                    <a:pt x="36" y="4"/>
                  </a:cubicBezTo>
                  <a:cubicBezTo>
                    <a:pt x="24" y="11"/>
                    <a:pt x="24" y="11"/>
                    <a:pt x="24" y="11"/>
                  </a:cubicBezTo>
                  <a:cubicBezTo>
                    <a:pt x="26" y="22"/>
                    <a:pt x="26" y="22"/>
                    <a:pt x="26" y="22"/>
                  </a:cubicBezTo>
                  <a:cubicBezTo>
                    <a:pt x="24" y="23"/>
                    <a:pt x="23" y="24"/>
                    <a:pt x="22" y="26"/>
                  </a:cubicBezTo>
                  <a:cubicBezTo>
                    <a:pt x="11" y="24"/>
                    <a:pt x="11" y="24"/>
                    <a:pt x="11" y="24"/>
                  </a:cubicBezTo>
                  <a:cubicBezTo>
                    <a:pt x="4" y="36"/>
                    <a:pt x="4" y="36"/>
                    <a:pt x="4" y="36"/>
                  </a:cubicBezTo>
                  <a:cubicBezTo>
                    <a:pt x="11" y="44"/>
                    <a:pt x="11" y="44"/>
                    <a:pt x="11" y="44"/>
                  </a:cubicBezTo>
                  <a:cubicBezTo>
                    <a:pt x="11" y="46"/>
                    <a:pt x="10" y="48"/>
                    <a:pt x="10" y="50"/>
                  </a:cubicBezTo>
                  <a:cubicBezTo>
                    <a:pt x="0" y="53"/>
                    <a:pt x="0" y="53"/>
                    <a:pt x="0" y="53"/>
                  </a:cubicBezTo>
                  <a:cubicBezTo>
                    <a:pt x="0" y="60"/>
                    <a:pt x="0" y="60"/>
                    <a:pt x="0" y="60"/>
                  </a:cubicBezTo>
                  <a:cubicBezTo>
                    <a:pt x="0" y="67"/>
                    <a:pt x="0" y="67"/>
                    <a:pt x="0" y="67"/>
                  </a:cubicBezTo>
                  <a:cubicBezTo>
                    <a:pt x="10" y="71"/>
                    <a:pt x="10" y="71"/>
                    <a:pt x="10" y="71"/>
                  </a:cubicBezTo>
                  <a:cubicBezTo>
                    <a:pt x="10" y="73"/>
                    <a:pt x="11" y="75"/>
                    <a:pt x="11" y="76"/>
                  </a:cubicBezTo>
                  <a:cubicBezTo>
                    <a:pt x="4" y="84"/>
                    <a:pt x="4" y="84"/>
                    <a:pt x="4" y="84"/>
                  </a:cubicBezTo>
                  <a:cubicBezTo>
                    <a:pt x="11" y="97"/>
                    <a:pt x="11" y="97"/>
                    <a:pt x="11" y="97"/>
                  </a:cubicBezTo>
                  <a:cubicBezTo>
                    <a:pt x="22" y="95"/>
                    <a:pt x="22" y="95"/>
                    <a:pt x="22" y="95"/>
                  </a:cubicBezTo>
                  <a:cubicBezTo>
                    <a:pt x="23" y="96"/>
                    <a:pt x="24" y="97"/>
                    <a:pt x="26" y="99"/>
                  </a:cubicBezTo>
                  <a:cubicBezTo>
                    <a:pt x="24" y="109"/>
                    <a:pt x="24" y="109"/>
                    <a:pt x="24" y="109"/>
                  </a:cubicBezTo>
                  <a:cubicBezTo>
                    <a:pt x="36" y="116"/>
                    <a:pt x="36" y="116"/>
                    <a:pt x="36" y="116"/>
                  </a:cubicBezTo>
                  <a:cubicBezTo>
                    <a:pt x="44" y="109"/>
                    <a:pt x="44" y="109"/>
                    <a:pt x="44" y="109"/>
                  </a:cubicBezTo>
                  <a:cubicBezTo>
                    <a:pt x="46" y="110"/>
                    <a:pt x="48" y="110"/>
                    <a:pt x="50" y="111"/>
                  </a:cubicBezTo>
                  <a:cubicBezTo>
                    <a:pt x="53" y="121"/>
                    <a:pt x="53" y="121"/>
                    <a:pt x="53" y="121"/>
                  </a:cubicBezTo>
                  <a:cubicBezTo>
                    <a:pt x="60" y="121"/>
                    <a:pt x="60" y="121"/>
                    <a:pt x="60" y="121"/>
                  </a:cubicBezTo>
                  <a:cubicBezTo>
                    <a:pt x="68" y="121"/>
                    <a:pt x="68" y="121"/>
                    <a:pt x="68" y="121"/>
                  </a:cubicBezTo>
                  <a:cubicBezTo>
                    <a:pt x="71" y="111"/>
                    <a:pt x="71" y="111"/>
                    <a:pt x="71" y="111"/>
                  </a:cubicBezTo>
                  <a:cubicBezTo>
                    <a:pt x="73" y="110"/>
                    <a:pt x="75" y="110"/>
                    <a:pt x="76" y="109"/>
                  </a:cubicBezTo>
                  <a:cubicBezTo>
                    <a:pt x="84" y="116"/>
                    <a:pt x="84" y="116"/>
                    <a:pt x="84" y="116"/>
                  </a:cubicBezTo>
                  <a:cubicBezTo>
                    <a:pt x="97" y="109"/>
                    <a:pt x="97" y="109"/>
                    <a:pt x="97" y="109"/>
                  </a:cubicBezTo>
                  <a:cubicBezTo>
                    <a:pt x="95" y="99"/>
                    <a:pt x="95" y="99"/>
                    <a:pt x="95" y="99"/>
                  </a:cubicBezTo>
                  <a:cubicBezTo>
                    <a:pt x="96" y="97"/>
                    <a:pt x="97" y="96"/>
                    <a:pt x="99" y="95"/>
                  </a:cubicBezTo>
                  <a:cubicBezTo>
                    <a:pt x="109" y="97"/>
                    <a:pt x="109" y="97"/>
                    <a:pt x="109" y="97"/>
                  </a:cubicBezTo>
                  <a:cubicBezTo>
                    <a:pt x="116" y="84"/>
                    <a:pt x="116" y="84"/>
                    <a:pt x="116" y="84"/>
                  </a:cubicBezTo>
                  <a:cubicBezTo>
                    <a:pt x="109" y="76"/>
                    <a:pt x="109" y="76"/>
                    <a:pt x="109" y="76"/>
                  </a:cubicBezTo>
                  <a:cubicBezTo>
                    <a:pt x="110" y="75"/>
                    <a:pt x="110" y="73"/>
                    <a:pt x="111" y="71"/>
                  </a:cubicBezTo>
                  <a:cubicBezTo>
                    <a:pt x="121" y="67"/>
                    <a:pt x="121" y="67"/>
                    <a:pt x="121" y="67"/>
                  </a:cubicBezTo>
                  <a:cubicBezTo>
                    <a:pt x="121" y="60"/>
                    <a:pt x="121" y="60"/>
                    <a:pt x="121" y="60"/>
                  </a:cubicBezTo>
                  <a:cubicBezTo>
                    <a:pt x="121" y="53"/>
                    <a:pt x="121" y="53"/>
                    <a:pt x="121" y="53"/>
                  </a:cubicBezTo>
                  <a:lnTo>
                    <a:pt x="111" y="50"/>
                  </a:lnTo>
                  <a:close/>
                  <a:moveTo>
                    <a:pt x="60" y="83"/>
                  </a:moveTo>
                  <a:cubicBezTo>
                    <a:pt x="48" y="83"/>
                    <a:pt x="38" y="73"/>
                    <a:pt x="38" y="60"/>
                  </a:cubicBezTo>
                  <a:cubicBezTo>
                    <a:pt x="38" y="48"/>
                    <a:pt x="48" y="38"/>
                    <a:pt x="60" y="38"/>
                  </a:cubicBezTo>
                  <a:cubicBezTo>
                    <a:pt x="73" y="38"/>
                    <a:pt x="83" y="48"/>
                    <a:pt x="83" y="60"/>
                  </a:cubicBezTo>
                  <a:cubicBezTo>
                    <a:pt x="83" y="73"/>
                    <a:pt x="73" y="83"/>
                    <a:pt x="60" y="83"/>
                  </a:cubicBez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pPr defTabSz="685800"/>
              <a:endParaRPr lang="zh-CN" altLang="en-US" sz="1013">
                <a:solidFill>
                  <a:prstClr val="black"/>
                </a:solidFill>
              </a:endParaRPr>
            </a:p>
          </p:txBody>
        </p:sp>
        <p:grpSp>
          <p:nvGrpSpPr>
            <p:cNvPr id="31" name="Group 8"/>
            <p:cNvGrpSpPr>
              <a:grpSpLocks noChangeAspect="1"/>
            </p:cNvGrpSpPr>
            <p:nvPr userDrawn="1"/>
          </p:nvGrpSpPr>
          <p:grpSpPr bwMode="auto">
            <a:xfrm>
              <a:off x="4100410" y="3317554"/>
              <a:ext cx="249526" cy="333089"/>
              <a:chOff x="4993" y="-497"/>
              <a:chExt cx="215" cy="287"/>
            </a:xfrm>
          </p:grpSpPr>
          <p:sp>
            <p:nvSpPr>
              <p:cNvPr id="32" name="Freeform 9">
                <a:hlinkClick r:id="rId2"/>
              </p:cNvPr>
              <p:cNvSpPr>
                <a:spLocks/>
              </p:cNvSpPr>
              <p:nvPr/>
            </p:nvSpPr>
            <p:spPr bwMode="auto">
              <a:xfrm>
                <a:off x="4993" y="-497"/>
                <a:ext cx="215" cy="287"/>
              </a:xfrm>
              <a:custGeom>
                <a:avLst/>
                <a:gdLst>
                  <a:gd name="T0" fmla="*/ 88 w 88"/>
                  <a:gd name="T1" fmla="*/ 44 h 118"/>
                  <a:gd name="T2" fmla="*/ 44 w 88"/>
                  <a:gd name="T3" fmla="*/ 0 h 118"/>
                  <a:gd name="T4" fmla="*/ 0 w 88"/>
                  <a:gd name="T5" fmla="*/ 44 h 118"/>
                  <a:gd name="T6" fmla="*/ 44 w 88"/>
                  <a:gd name="T7" fmla="*/ 118 h 118"/>
                  <a:gd name="T8" fmla="*/ 88 w 88"/>
                  <a:gd name="T9" fmla="*/ 44 h 118"/>
                </a:gdLst>
                <a:ahLst/>
                <a:cxnLst>
                  <a:cxn ang="0">
                    <a:pos x="T0" y="T1"/>
                  </a:cxn>
                  <a:cxn ang="0">
                    <a:pos x="T2" y="T3"/>
                  </a:cxn>
                  <a:cxn ang="0">
                    <a:pos x="T4" y="T5"/>
                  </a:cxn>
                  <a:cxn ang="0">
                    <a:pos x="T6" y="T7"/>
                  </a:cxn>
                  <a:cxn ang="0">
                    <a:pos x="T8" y="T9"/>
                  </a:cxn>
                </a:cxnLst>
                <a:rect l="0" t="0" r="r" b="b"/>
                <a:pathLst>
                  <a:path w="88" h="118">
                    <a:moveTo>
                      <a:pt x="88" y="44"/>
                    </a:moveTo>
                    <a:cubicBezTo>
                      <a:pt x="88" y="20"/>
                      <a:pt x="68" y="0"/>
                      <a:pt x="44" y="0"/>
                    </a:cubicBezTo>
                    <a:cubicBezTo>
                      <a:pt x="20" y="0"/>
                      <a:pt x="0" y="20"/>
                      <a:pt x="0" y="44"/>
                    </a:cubicBezTo>
                    <a:cubicBezTo>
                      <a:pt x="0" y="68"/>
                      <a:pt x="44" y="118"/>
                      <a:pt x="44" y="118"/>
                    </a:cubicBezTo>
                    <a:cubicBezTo>
                      <a:pt x="44" y="118"/>
                      <a:pt x="88" y="68"/>
                      <a:pt x="88" y="4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zh-CN" altLang="en-US" sz="1013">
                  <a:solidFill>
                    <a:prstClr val="black"/>
                  </a:solidFill>
                </a:endParaRPr>
              </a:p>
            </p:txBody>
          </p:sp>
          <p:sp>
            <p:nvSpPr>
              <p:cNvPr id="33" name="Oval 10">
                <a:hlinkClick r:id="rId2"/>
              </p:cNvPr>
              <p:cNvSpPr>
                <a:spLocks noChangeArrowheads="1"/>
              </p:cNvSpPr>
              <p:nvPr/>
            </p:nvSpPr>
            <p:spPr bwMode="auto">
              <a:xfrm>
                <a:off x="5059" y="-434"/>
                <a:ext cx="83" cy="83"/>
              </a:xfrm>
              <a:prstGeom prst="ellipse">
                <a:avLst/>
              </a:prstGeom>
              <a:solidFill>
                <a:srgbClr val="C20F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zh-CN" altLang="en-US" sz="1013">
                  <a:solidFill>
                    <a:prstClr val="black"/>
                  </a:solidFill>
                </a:endParaRPr>
              </a:p>
            </p:txBody>
          </p:sp>
        </p:grpSp>
        <p:sp>
          <p:nvSpPr>
            <p:cNvPr id="34" name="Freeform 18">
              <a:hlinkClick r:id="rId2"/>
            </p:cNvPr>
            <p:cNvSpPr>
              <a:spLocks noEditPoints="1"/>
            </p:cNvSpPr>
            <p:nvPr userDrawn="1"/>
          </p:nvSpPr>
          <p:spPr bwMode="auto">
            <a:xfrm>
              <a:off x="3397160" y="3329079"/>
              <a:ext cx="299976" cy="305131"/>
            </a:xfrm>
            <a:custGeom>
              <a:avLst/>
              <a:gdLst>
                <a:gd name="T0" fmla="*/ 60 w 120"/>
                <a:gd name="T1" fmla="*/ 62 h 122"/>
                <a:gd name="T2" fmla="*/ 91 w 120"/>
                <a:gd name="T3" fmla="*/ 31 h 122"/>
                <a:gd name="T4" fmla="*/ 60 w 120"/>
                <a:gd name="T5" fmla="*/ 0 h 122"/>
                <a:gd name="T6" fmla="*/ 29 w 120"/>
                <a:gd name="T7" fmla="*/ 31 h 122"/>
                <a:gd name="T8" fmla="*/ 60 w 120"/>
                <a:gd name="T9" fmla="*/ 62 h 122"/>
                <a:gd name="T10" fmla="*/ 75 w 120"/>
                <a:gd name="T11" fmla="*/ 64 h 122"/>
                <a:gd name="T12" fmla="*/ 60 w 120"/>
                <a:gd name="T13" fmla="*/ 83 h 122"/>
                <a:gd name="T14" fmla="*/ 44 w 120"/>
                <a:gd name="T15" fmla="*/ 64 h 122"/>
                <a:gd name="T16" fmla="*/ 0 w 120"/>
                <a:gd name="T17" fmla="*/ 122 h 122"/>
                <a:gd name="T18" fmla="*/ 59 w 120"/>
                <a:gd name="T19" fmla="*/ 122 h 122"/>
                <a:gd name="T20" fmla="*/ 60 w 120"/>
                <a:gd name="T21" fmla="*/ 122 h 122"/>
                <a:gd name="T22" fmla="*/ 120 w 120"/>
                <a:gd name="T23" fmla="*/ 122 h 122"/>
                <a:gd name="T24" fmla="*/ 75 w 120"/>
                <a:gd name="T25" fmla="*/ 64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0" h="122">
                  <a:moveTo>
                    <a:pt x="60" y="62"/>
                  </a:moveTo>
                  <a:cubicBezTo>
                    <a:pt x="77" y="62"/>
                    <a:pt x="91" y="48"/>
                    <a:pt x="91" y="31"/>
                  </a:cubicBezTo>
                  <a:cubicBezTo>
                    <a:pt x="91" y="13"/>
                    <a:pt x="77" y="0"/>
                    <a:pt x="60" y="0"/>
                  </a:cubicBezTo>
                  <a:cubicBezTo>
                    <a:pt x="43" y="0"/>
                    <a:pt x="29" y="13"/>
                    <a:pt x="29" y="31"/>
                  </a:cubicBezTo>
                  <a:cubicBezTo>
                    <a:pt x="29" y="48"/>
                    <a:pt x="43" y="62"/>
                    <a:pt x="60" y="62"/>
                  </a:cubicBezTo>
                  <a:moveTo>
                    <a:pt x="75" y="64"/>
                  </a:moveTo>
                  <a:cubicBezTo>
                    <a:pt x="60" y="83"/>
                    <a:pt x="60" y="83"/>
                    <a:pt x="60" y="83"/>
                  </a:cubicBezTo>
                  <a:cubicBezTo>
                    <a:pt x="44" y="64"/>
                    <a:pt x="44" y="64"/>
                    <a:pt x="44" y="64"/>
                  </a:cubicBezTo>
                  <a:cubicBezTo>
                    <a:pt x="44" y="64"/>
                    <a:pt x="10" y="63"/>
                    <a:pt x="0" y="122"/>
                  </a:cubicBezTo>
                  <a:cubicBezTo>
                    <a:pt x="59" y="122"/>
                    <a:pt x="59" y="122"/>
                    <a:pt x="59" y="122"/>
                  </a:cubicBezTo>
                  <a:cubicBezTo>
                    <a:pt x="60" y="122"/>
                    <a:pt x="60" y="122"/>
                    <a:pt x="60" y="122"/>
                  </a:cubicBezTo>
                  <a:cubicBezTo>
                    <a:pt x="120" y="122"/>
                    <a:pt x="120" y="122"/>
                    <a:pt x="120" y="122"/>
                  </a:cubicBezTo>
                  <a:cubicBezTo>
                    <a:pt x="110" y="63"/>
                    <a:pt x="75" y="64"/>
                    <a:pt x="75" y="64"/>
                  </a:cubicBezTo>
                </a:path>
              </a:pathLst>
            </a:custGeom>
            <a:solidFill>
              <a:schemeClr val="tx1"/>
            </a:solidFill>
            <a:ln>
              <a:noFill/>
            </a:ln>
          </p:spPr>
          <p:txBody>
            <a:bodyPr vert="horz" wrap="square" lIns="68580" tIns="34290" rIns="68580" bIns="34290" numCol="1" anchor="t" anchorCtr="0" compatLnSpc="1">
              <a:prstTxWarp prst="textNoShape">
                <a:avLst/>
              </a:prstTxWarp>
            </a:bodyPr>
            <a:lstStyle/>
            <a:p>
              <a:pPr defTabSz="685800"/>
              <a:endParaRPr lang="zh-CN" altLang="en-US" sz="1013">
                <a:solidFill>
                  <a:prstClr val="black"/>
                </a:solidFill>
              </a:endParaRPr>
            </a:p>
          </p:txBody>
        </p:sp>
        <p:grpSp>
          <p:nvGrpSpPr>
            <p:cNvPr id="35" name="组合 34"/>
            <p:cNvGrpSpPr/>
            <p:nvPr userDrawn="1"/>
          </p:nvGrpSpPr>
          <p:grpSpPr>
            <a:xfrm>
              <a:off x="5463873" y="3333791"/>
              <a:ext cx="294712" cy="293699"/>
              <a:chOff x="8886825" y="5241925"/>
              <a:chExt cx="461963" cy="460375"/>
            </a:xfrm>
          </p:grpSpPr>
          <p:sp>
            <p:nvSpPr>
              <p:cNvPr id="36" name="AutoShape 20"/>
              <p:cNvSpPr>
                <a:spLocks noChangeAspect="1" noChangeArrowheads="1" noTextEdit="1"/>
              </p:cNvSpPr>
              <p:nvPr/>
            </p:nvSpPr>
            <p:spPr bwMode="auto">
              <a:xfrm>
                <a:off x="8886825" y="5241925"/>
                <a:ext cx="461963" cy="457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defTabSz="685800"/>
                <a:endParaRPr lang="zh-CN" altLang="en-US" sz="1013">
                  <a:solidFill>
                    <a:prstClr val="black"/>
                  </a:solidFill>
                </a:endParaRPr>
              </a:p>
            </p:txBody>
          </p:sp>
          <p:sp>
            <p:nvSpPr>
              <p:cNvPr id="37" name="Freeform 22">
                <a:hlinkClick r:id="rId2"/>
              </p:cNvPr>
              <p:cNvSpPr>
                <a:spLocks/>
              </p:cNvSpPr>
              <p:nvPr/>
            </p:nvSpPr>
            <p:spPr bwMode="auto">
              <a:xfrm>
                <a:off x="8886825" y="5245078"/>
                <a:ext cx="215900" cy="214421"/>
              </a:xfrm>
              <a:custGeom>
                <a:avLst/>
                <a:gdLst>
                  <a:gd name="T0" fmla="*/ 56 w 56"/>
                  <a:gd name="T1" fmla="*/ 44 h 56"/>
                  <a:gd name="T2" fmla="*/ 44 w 56"/>
                  <a:gd name="T3" fmla="*/ 56 h 56"/>
                  <a:gd name="T4" fmla="*/ 12 w 56"/>
                  <a:gd name="T5" fmla="*/ 56 h 56"/>
                  <a:gd name="T6" fmla="*/ 0 w 56"/>
                  <a:gd name="T7" fmla="*/ 44 h 56"/>
                  <a:gd name="T8" fmla="*/ 0 w 56"/>
                  <a:gd name="T9" fmla="*/ 12 h 56"/>
                  <a:gd name="T10" fmla="*/ 12 w 56"/>
                  <a:gd name="T11" fmla="*/ 0 h 56"/>
                  <a:gd name="T12" fmla="*/ 44 w 56"/>
                  <a:gd name="T13" fmla="*/ 0 h 56"/>
                  <a:gd name="T14" fmla="*/ 56 w 56"/>
                  <a:gd name="T15" fmla="*/ 12 h 56"/>
                  <a:gd name="T16" fmla="*/ 56 w 56"/>
                  <a:gd name="T17" fmla="*/ 4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6">
                    <a:moveTo>
                      <a:pt x="56" y="44"/>
                    </a:moveTo>
                    <a:cubicBezTo>
                      <a:pt x="56" y="51"/>
                      <a:pt x="51" y="56"/>
                      <a:pt x="44" y="56"/>
                    </a:cubicBezTo>
                    <a:cubicBezTo>
                      <a:pt x="12" y="56"/>
                      <a:pt x="12" y="56"/>
                      <a:pt x="12" y="56"/>
                    </a:cubicBezTo>
                    <a:cubicBezTo>
                      <a:pt x="5" y="56"/>
                      <a:pt x="0" y="51"/>
                      <a:pt x="0" y="44"/>
                    </a:cubicBezTo>
                    <a:cubicBezTo>
                      <a:pt x="0" y="12"/>
                      <a:pt x="0" y="12"/>
                      <a:pt x="0" y="12"/>
                    </a:cubicBezTo>
                    <a:cubicBezTo>
                      <a:pt x="0" y="5"/>
                      <a:pt x="5" y="0"/>
                      <a:pt x="12" y="0"/>
                    </a:cubicBezTo>
                    <a:cubicBezTo>
                      <a:pt x="44" y="0"/>
                      <a:pt x="44" y="0"/>
                      <a:pt x="44" y="0"/>
                    </a:cubicBezTo>
                    <a:cubicBezTo>
                      <a:pt x="51" y="0"/>
                      <a:pt x="56" y="5"/>
                      <a:pt x="56" y="12"/>
                    </a:cubicBezTo>
                    <a:lnTo>
                      <a:pt x="56" y="44"/>
                    </a:ln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pPr defTabSz="685800"/>
                <a:endParaRPr lang="zh-CN" altLang="en-US" sz="1013">
                  <a:solidFill>
                    <a:prstClr val="black"/>
                  </a:solidFill>
                </a:endParaRPr>
              </a:p>
            </p:txBody>
          </p:sp>
          <p:sp>
            <p:nvSpPr>
              <p:cNvPr id="38" name="Freeform 23">
                <a:hlinkClick r:id="rId2"/>
              </p:cNvPr>
              <p:cNvSpPr>
                <a:spLocks/>
              </p:cNvSpPr>
              <p:nvPr/>
            </p:nvSpPr>
            <p:spPr bwMode="auto">
              <a:xfrm>
                <a:off x="9132888" y="5245078"/>
                <a:ext cx="215900" cy="214421"/>
              </a:xfrm>
              <a:custGeom>
                <a:avLst/>
                <a:gdLst>
                  <a:gd name="T0" fmla="*/ 56 w 56"/>
                  <a:gd name="T1" fmla="*/ 44 h 56"/>
                  <a:gd name="T2" fmla="*/ 44 w 56"/>
                  <a:gd name="T3" fmla="*/ 56 h 56"/>
                  <a:gd name="T4" fmla="*/ 12 w 56"/>
                  <a:gd name="T5" fmla="*/ 56 h 56"/>
                  <a:gd name="T6" fmla="*/ 0 w 56"/>
                  <a:gd name="T7" fmla="*/ 44 h 56"/>
                  <a:gd name="T8" fmla="*/ 0 w 56"/>
                  <a:gd name="T9" fmla="*/ 12 h 56"/>
                  <a:gd name="T10" fmla="*/ 12 w 56"/>
                  <a:gd name="T11" fmla="*/ 0 h 56"/>
                  <a:gd name="T12" fmla="*/ 44 w 56"/>
                  <a:gd name="T13" fmla="*/ 0 h 56"/>
                  <a:gd name="T14" fmla="*/ 56 w 56"/>
                  <a:gd name="T15" fmla="*/ 12 h 56"/>
                  <a:gd name="T16" fmla="*/ 56 w 56"/>
                  <a:gd name="T17" fmla="*/ 4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6">
                    <a:moveTo>
                      <a:pt x="56" y="44"/>
                    </a:moveTo>
                    <a:cubicBezTo>
                      <a:pt x="56" y="51"/>
                      <a:pt x="51" y="56"/>
                      <a:pt x="44" y="56"/>
                    </a:cubicBezTo>
                    <a:cubicBezTo>
                      <a:pt x="12" y="56"/>
                      <a:pt x="12" y="56"/>
                      <a:pt x="12" y="56"/>
                    </a:cubicBezTo>
                    <a:cubicBezTo>
                      <a:pt x="5" y="56"/>
                      <a:pt x="0" y="51"/>
                      <a:pt x="0" y="44"/>
                    </a:cubicBezTo>
                    <a:cubicBezTo>
                      <a:pt x="0" y="12"/>
                      <a:pt x="0" y="12"/>
                      <a:pt x="0" y="12"/>
                    </a:cubicBezTo>
                    <a:cubicBezTo>
                      <a:pt x="0" y="5"/>
                      <a:pt x="5" y="0"/>
                      <a:pt x="12" y="0"/>
                    </a:cubicBezTo>
                    <a:cubicBezTo>
                      <a:pt x="44" y="0"/>
                      <a:pt x="44" y="0"/>
                      <a:pt x="44" y="0"/>
                    </a:cubicBezTo>
                    <a:cubicBezTo>
                      <a:pt x="51" y="0"/>
                      <a:pt x="56" y="5"/>
                      <a:pt x="56" y="12"/>
                    </a:cubicBezTo>
                    <a:lnTo>
                      <a:pt x="56" y="44"/>
                    </a:ln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pPr defTabSz="685800"/>
                <a:endParaRPr lang="zh-CN" altLang="en-US" sz="1013">
                  <a:solidFill>
                    <a:prstClr val="black"/>
                  </a:solidFill>
                </a:endParaRPr>
              </a:p>
            </p:txBody>
          </p:sp>
          <p:sp>
            <p:nvSpPr>
              <p:cNvPr id="39" name="Freeform 24">
                <a:hlinkClick r:id="rId2"/>
              </p:cNvPr>
              <p:cNvSpPr>
                <a:spLocks/>
              </p:cNvSpPr>
              <p:nvPr/>
            </p:nvSpPr>
            <p:spPr bwMode="auto">
              <a:xfrm>
                <a:off x="8886825" y="5486302"/>
                <a:ext cx="215900" cy="215998"/>
              </a:xfrm>
              <a:custGeom>
                <a:avLst/>
                <a:gdLst>
                  <a:gd name="T0" fmla="*/ 56 w 56"/>
                  <a:gd name="T1" fmla="*/ 45 h 57"/>
                  <a:gd name="T2" fmla="*/ 44 w 56"/>
                  <a:gd name="T3" fmla="*/ 57 h 57"/>
                  <a:gd name="T4" fmla="*/ 12 w 56"/>
                  <a:gd name="T5" fmla="*/ 57 h 57"/>
                  <a:gd name="T6" fmla="*/ 0 w 56"/>
                  <a:gd name="T7" fmla="*/ 45 h 57"/>
                  <a:gd name="T8" fmla="*/ 0 w 56"/>
                  <a:gd name="T9" fmla="*/ 12 h 57"/>
                  <a:gd name="T10" fmla="*/ 12 w 56"/>
                  <a:gd name="T11" fmla="*/ 0 h 57"/>
                  <a:gd name="T12" fmla="*/ 44 w 56"/>
                  <a:gd name="T13" fmla="*/ 0 h 57"/>
                  <a:gd name="T14" fmla="*/ 56 w 56"/>
                  <a:gd name="T15" fmla="*/ 12 h 57"/>
                  <a:gd name="T16" fmla="*/ 56 w 56"/>
                  <a:gd name="T17" fmla="*/ 4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45"/>
                    </a:moveTo>
                    <a:cubicBezTo>
                      <a:pt x="56" y="51"/>
                      <a:pt x="51" y="57"/>
                      <a:pt x="44" y="57"/>
                    </a:cubicBezTo>
                    <a:cubicBezTo>
                      <a:pt x="12" y="57"/>
                      <a:pt x="12" y="57"/>
                      <a:pt x="12" y="57"/>
                    </a:cubicBezTo>
                    <a:cubicBezTo>
                      <a:pt x="5" y="57"/>
                      <a:pt x="0" y="51"/>
                      <a:pt x="0" y="45"/>
                    </a:cubicBezTo>
                    <a:cubicBezTo>
                      <a:pt x="0" y="12"/>
                      <a:pt x="0" y="12"/>
                      <a:pt x="0" y="12"/>
                    </a:cubicBezTo>
                    <a:cubicBezTo>
                      <a:pt x="0" y="6"/>
                      <a:pt x="5" y="0"/>
                      <a:pt x="12" y="0"/>
                    </a:cubicBezTo>
                    <a:cubicBezTo>
                      <a:pt x="44" y="0"/>
                      <a:pt x="44" y="0"/>
                      <a:pt x="44" y="0"/>
                    </a:cubicBezTo>
                    <a:cubicBezTo>
                      <a:pt x="51" y="0"/>
                      <a:pt x="56" y="6"/>
                      <a:pt x="56" y="12"/>
                    </a:cubicBezTo>
                    <a:lnTo>
                      <a:pt x="56" y="45"/>
                    </a:ln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pPr defTabSz="685800"/>
                <a:endParaRPr lang="zh-CN" altLang="en-US" sz="1013">
                  <a:solidFill>
                    <a:prstClr val="black"/>
                  </a:solidFill>
                </a:endParaRPr>
              </a:p>
            </p:txBody>
          </p:sp>
          <p:sp>
            <p:nvSpPr>
              <p:cNvPr id="40" name="Freeform 25">
                <a:hlinkClick r:id="rId2"/>
              </p:cNvPr>
              <p:cNvSpPr>
                <a:spLocks/>
              </p:cNvSpPr>
              <p:nvPr/>
            </p:nvSpPr>
            <p:spPr bwMode="auto">
              <a:xfrm>
                <a:off x="9132888" y="5486302"/>
                <a:ext cx="215900" cy="215998"/>
              </a:xfrm>
              <a:custGeom>
                <a:avLst/>
                <a:gdLst>
                  <a:gd name="T0" fmla="*/ 56 w 56"/>
                  <a:gd name="T1" fmla="*/ 45 h 57"/>
                  <a:gd name="T2" fmla="*/ 44 w 56"/>
                  <a:gd name="T3" fmla="*/ 57 h 57"/>
                  <a:gd name="T4" fmla="*/ 12 w 56"/>
                  <a:gd name="T5" fmla="*/ 57 h 57"/>
                  <a:gd name="T6" fmla="*/ 0 w 56"/>
                  <a:gd name="T7" fmla="*/ 45 h 57"/>
                  <a:gd name="T8" fmla="*/ 0 w 56"/>
                  <a:gd name="T9" fmla="*/ 12 h 57"/>
                  <a:gd name="T10" fmla="*/ 12 w 56"/>
                  <a:gd name="T11" fmla="*/ 0 h 57"/>
                  <a:gd name="T12" fmla="*/ 44 w 56"/>
                  <a:gd name="T13" fmla="*/ 0 h 57"/>
                  <a:gd name="T14" fmla="*/ 56 w 56"/>
                  <a:gd name="T15" fmla="*/ 12 h 57"/>
                  <a:gd name="T16" fmla="*/ 56 w 56"/>
                  <a:gd name="T17" fmla="*/ 4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45"/>
                    </a:moveTo>
                    <a:cubicBezTo>
                      <a:pt x="56" y="51"/>
                      <a:pt x="51" y="57"/>
                      <a:pt x="44" y="57"/>
                    </a:cubicBezTo>
                    <a:cubicBezTo>
                      <a:pt x="12" y="57"/>
                      <a:pt x="12" y="57"/>
                      <a:pt x="12" y="57"/>
                    </a:cubicBezTo>
                    <a:cubicBezTo>
                      <a:pt x="5" y="57"/>
                      <a:pt x="0" y="51"/>
                      <a:pt x="0" y="45"/>
                    </a:cubicBezTo>
                    <a:cubicBezTo>
                      <a:pt x="0" y="12"/>
                      <a:pt x="0" y="12"/>
                      <a:pt x="0" y="12"/>
                    </a:cubicBezTo>
                    <a:cubicBezTo>
                      <a:pt x="0" y="6"/>
                      <a:pt x="5" y="0"/>
                      <a:pt x="12" y="0"/>
                    </a:cubicBezTo>
                    <a:cubicBezTo>
                      <a:pt x="44" y="0"/>
                      <a:pt x="44" y="0"/>
                      <a:pt x="44" y="0"/>
                    </a:cubicBezTo>
                    <a:cubicBezTo>
                      <a:pt x="51" y="0"/>
                      <a:pt x="56" y="6"/>
                      <a:pt x="56" y="12"/>
                    </a:cubicBezTo>
                    <a:lnTo>
                      <a:pt x="56" y="45"/>
                    </a:ln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pPr defTabSz="685800"/>
                <a:endParaRPr lang="zh-CN" altLang="en-US" sz="1013">
                  <a:solidFill>
                    <a:prstClr val="black"/>
                  </a:solidFill>
                </a:endParaRPr>
              </a:p>
            </p:txBody>
          </p:sp>
        </p:grpSp>
        <p:pic>
          <p:nvPicPr>
            <p:cNvPr id="41" name="图片 40">
              <a:hlinkClick r:id="rId2"/>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3998123" y="1303597"/>
              <a:ext cx="578597" cy="1764945"/>
            </a:xfrm>
            <a:prstGeom prst="rect">
              <a:avLst/>
            </a:prstGeom>
            <a:effectLst>
              <a:outerShdw blurRad="50800" dist="38100" dir="2700000" algn="tl" rotWithShape="0">
                <a:prstClr val="black">
                  <a:alpha val="40000"/>
                </a:prstClr>
              </a:outerShdw>
            </a:effectLst>
          </p:spPr>
        </p:pic>
        <p:pic>
          <p:nvPicPr>
            <p:cNvPr id="42" name="图片 41">
              <a:hlinkClick r:id="rId2"/>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4567567" y="1303597"/>
              <a:ext cx="602600" cy="1764945"/>
            </a:xfrm>
            <a:prstGeom prst="rect">
              <a:avLst/>
            </a:prstGeom>
            <a:effectLst>
              <a:outerShdw blurRad="50800" dist="38100" dir="2700000" algn="tl" rotWithShape="0">
                <a:prstClr val="black">
                  <a:alpha val="40000"/>
                </a:prstClr>
              </a:outerShdw>
            </a:effectLst>
          </p:spPr>
        </p:pic>
        <p:cxnSp>
          <p:nvCxnSpPr>
            <p:cNvPr id="43" name="直接连接符 42"/>
            <p:cNvCxnSpPr/>
            <p:nvPr userDrawn="1"/>
          </p:nvCxnSpPr>
          <p:spPr>
            <a:xfrm>
              <a:off x="0" y="3044534"/>
              <a:ext cx="4218723" cy="4830"/>
            </a:xfrm>
            <a:prstGeom prst="line">
              <a:avLst/>
            </a:prstGeom>
            <a:ln w="34925">
              <a:solidFill>
                <a:srgbClr val="FFFFFF"/>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4" name="直接连接符 43"/>
            <p:cNvCxnSpPr/>
            <p:nvPr userDrawn="1"/>
          </p:nvCxnSpPr>
          <p:spPr>
            <a:xfrm flipV="1">
              <a:off x="4921331" y="3044534"/>
              <a:ext cx="4222669" cy="4830"/>
            </a:xfrm>
            <a:prstGeom prst="line">
              <a:avLst/>
            </a:prstGeom>
            <a:ln w="34925">
              <a:solidFill>
                <a:srgbClr val="FFFFFF"/>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4" name="Date Placeholder 3"/>
          <p:cNvSpPr>
            <a:spLocks noGrp="1"/>
          </p:cNvSpPr>
          <p:nvPr>
            <p:ph type="dt" sz="half" idx="10"/>
          </p:nvPr>
        </p:nvSpPr>
        <p:spPr/>
        <p:txBody>
          <a:bodyPr/>
          <a:lstStyle/>
          <a:p>
            <a:fld id="{E6D07F2C-AC21-4ACE-892A-915B0ABA3720}" type="datetimeFigureOut">
              <a:rPr lang="zh-CN" altLang="en-US" smtClean="0"/>
              <a:t>2018/8/21</a:t>
            </a:fld>
            <a:endParaRPr lang="zh-CN" altLang="en-US"/>
          </a:p>
        </p:txBody>
      </p:sp>
      <p:sp>
        <p:nvSpPr>
          <p:cNvPr id="5" name="Footer Placeholder 4"/>
          <p:cNvSpPr>
            <a:spLocks noGrp="1"/>
          </p:cNvSpPr>
          <p:nvPr>
            <p:ph type="ftr" sz="quarter" idx="11"/>
          </p:nvPr>
        </p:nvSpPr>
        <p:spPr>
          <a:xfrm>
            <a:off x="4073922" y="6361244"/>
            <a:ext cx="4114800" cy="365125"/>
          </a:xfrm>
        </p:spPr>
        <p:txBody>
          <a:bodyPr/>
          <a:lstStyle/>
          <a:p>
            <a:endParaRPr lang="zh-CN" altLang="en-US"/>
          </a:p>
        </p:txBody>
      </p:sp>
      <p:sp>
        <p:nvSpPr>
          <p:cNvPr id="6" name="Slide Number Placeholder 5"/>
          <p:cNvSpPr>
            <a:spLocks noGrp="1"/>
          </p:cNvSpPr>
          <p:nvPr>
            <p:ph type="sldNum" sz="quarter" idx="12"/>
          </p:nvPr>
        </p:nvSpPr>
        <p:spPr/>
        <p:txBody>
          <a:bodyPr/>
          <a:lstStyle/>
          <a:p>
            <a:fld id="{83AF67FB-3691-47BE-889F-42FBABC20E0F}" type="slidenum">
              <a:rPr lang="zh-CN" altLang="en-US" smtClean="0"/>
              <a:t>‹#›</a:t>
            </a:fld>
            <a:endParaRPr lang="zh-CN" altLang="en-US"/>
          </a:p>
        </p:txBody>
      </p:sp>
      <p:sp>
        <p:nvSpPr>
          <p:cNvPr id="2" name="Title 1"/>
          <p:cNvSpPr>
            <a:spLocks noGrp="1"/>
          </p:cNvSpPr>
          <p:nvPr>
            <p:ph type="ctrTitle"/>
          </p:nvPr>
        </p:nvSpPr>
        <p:spPr>
          <a:xfrm>
            <a:off x="2014755" y="4984592"/>
            <a:ext cx="8131535" cy="725950"/>
          </a:xfrm>
        </p:spPr>
        <p:txBody>
          <a:bodyPr anchor="ctr">
            <a:normAutofit/>
          </a:bodyPr>
          <a:lstStyle>
            <a:lvl1pPr algn="ctr">
              <a:lnSpc>
                <a:spcPct val="100000"/>
              </a:lnSpc>
              <a:defRPr sz="3200" b="0" i="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989355" y="5729857"/>
            <a:ext cx="8156935" cy="423361"/>
          </a:xfrm>
        </p:spPr>
        <p:txBody>
          <a:bodyPr>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pic>
        <p:nvPicPr>
          <p:cNvPr id="49" name="图片 48"/>
          <p:cNvPicPr>
            <a:picLocks noChangeAspect="1"/>
          </p:cNvPicPr>
          <p:nvPr/>
        </p:nvPicPr>
        <p:blipFill rotWithShape="1">
          <a:blip r:embed="rId6"/>
          <a:srcRect l="15503" t="14607" r="19482" b="31798"/>
          <a:stretch/>
        </p:blipFill>
        <p:spPr>
          <a:xfrm>
            <a:off x="5460569" y="1002355"/>
            <a:ext cx="1244601" cy="673100"/>
          </a:xfrm>
          <a:prstGeom prst="rect">
            <a:avLst/>
          </a:prstGeom>
        </p:spPr>
      </p:pic>
      <p:sp>
        <p:nvSpPr>
          <p:cNvPr id="55" name="椭圆 54">
            <a:hlinkClick r:id="rId2"/>
          </p:cNvPr>
          <p:cNvSpPr/>
          <p:nvPr/>
        </p:nvSpPr>
        <p:spPr>
          <a:xfrm>
            <a:off x="5510011" y="6418551"/>
            <a:ext cx="151071" cy="151071"/>
          </a:xfrm>
          <a:prstGeom prst="ellipse">
            <a:avLst/>
          </a:prstGeom>
          <a:solidFill>
            <a:srgbClr val="C20F2A"/>
          </a:solidFill>
          <a:ln w="12700" cap="flat" cmpd="sng" algn="ctr">
            <a:solidFill>
              <a:sysClr val="window" lastClr="FFFFFF"/>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013" b="0" i="0" u="none" strike="noStrike" kern="0" cap="none" spc="0" normalizeH="0" baseline="0" noProof="0" smtClean="0">
              <a:ln>
                <a:noFill/>
              </a:ln>
              <a:solidFill>
                <a:srgbClr val="4D4D4D"/>
              </a:solidFill>
              <a:effectLst/>
              <a:uLnTx/>
              <a:uFillTx/>
              <a:latin typeface="Calibri" panose="020F0502020204030204"/>
              <a:ea typeface="宋体" panose="02010600030101010101" pitchFamily="2" charset="-122"/>
              <a:cs typeface="+mn-cs"/>
            </a:endParaRPr>
          </a:p>
        </p:txBody>
      </p:sp>
      <p:sp>
        <p:nvSpPr>
          <p:cNvPr id="56" name="椭圆 55">
            <a:hlinkClick r:id="rId2"/>
          </p:cNvPr>
          <p:cNvSpPr/>
          <p:nvPr/>
        </p:nvSpPr>
        <p:spPr>
          <a:xfrm>
            <a:off x="5742403" y="6418551"/>
            <a:ext cx="151071" cy="151071"/>
          </a:xfrm>
          <a:prstGeom prst="ellipse">
            <a:avLst/>
          </a:prstGeom>
          <a:solidFill>
            <a:srgbClr val="292929"/>
          </a:solidFill>
          <a:ln w="12700" cap="flat" cmpd="sng" algn="ctr">
            <a:solidFill>
              <a:sysClr val="window" lastClr="FFFFFF"/>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013" b="0" i="0" u="none" strike="noStrike" kern="0" cap="none" spc="0" normalizeH="0" baseline="0" noProof="0" smtClean="0">
              <a:ln>
                <a:noFill/>
              </a:ln>
              <a:solidFill>
                <a:srgbClr val="4D4D4D"/>
              </a:solidFill>
              <a:effectLst/>
              <a:uLnTx/>
              <a:uFillTx/>
              <a:latin typeface="Calibri" panose="020F0502020204030204"/>
              <a:ea typeface="宋体" panose="02010600030101010101" pitchFamily="2" charset="-122"/>
              <a:cs typeface="+mn-cs"/>
            </a:endParaRPr>
          </a:p>
        </p:txBody>
      </p:sp>
      <p:sp>
        <p:nvSpPr>
          <p:cNvPr id="57" name="椭圆 56">
            <a:hlinkClick r:id="rId2"/>
          </p:cNvPr>
          <p:cNvSpPr/>
          <p:nvPr/>
        </p:nvSpPr>
        <p:spPr>
          <a:xfrm>
            <a:off x="5974795" y="6418551"/>
            <a:ext cx="151071" cy="151071"/>
          </a:xfrm>
          <a:prstGeom prst="ellipse">
            <a:avLst/>
          </a:prstGeom>
          <a:solidFill>
            <a:srgbClr val="333333"/>
          </a:solidFill>
          <a:ln w="12700" cap="flat" cmpd="sng" algn="ctr">
            <a:solidFill>
              <a:sysClr val="window" lastClr="FFFFFF"/>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013" b="0" i="0" u="none" strike="noStrike" kern="0" cap="none" spc="0" normalizeH="0" baseline="0" noProof="0" smtClean="0">
              <a:ln>
                <a:noFill/>
              </a:ln>
              <a:solidFill>
                <a:srgbClr val="4D4D4D"/>
              </a:solidFill>
              <a:effectLst/>
              <a:uLnTx/>
              <a:uFillTx/>
              <a:latin typeface="Calibri" panose="020F0502020204030204"/>
              <a:ea typeface="宋体" panose="02010600030101010101" pitchFamily="2" charset="-122"/>
              <a:cs typeface="+mn-cs"/>
            </a:endParaRPr>
          </a:p>
        </p:txBody>
      </p:sp>
      <p:sp>
        <p:nvSpPr>
          <p:cNvPr id="58" name="椭圆 57">
            <a:hlinkClick r:id="rId2"/>
          </p:cNvPr>
          <p:cNvSpPr/>
          <p:nvPr/>
        </p:nvSpPr>
        <p:spPr>
          <a:xfrm>
            <a:off x="6207187" y="6418551"/>
            <a:ext cx="151071" cy="151071"/>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013" b="0" i="0" u="none" strike="noStrike" kern="0" cap="none" spc="0" normalizeH="0" baseline="0" noProof="0" smtClean="0">
              <a:ln>
                <a:noFill/>
              </a:ln>
              <a:solidFill>
                <a:srgbClr val="4D4D4D"/>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055339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90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600"/>
                                        <p:tgtEl>
                                          <p:spTgt spid="55"/>
                                        </p:tgtEl>
                                      </p:cBhvr>
                                    </p:animEffect>
                                  </p:childTnLst>
                                </p:cTn>
                              </p:par>
                              <p:par>
                                <p:cTn id="8" presetID="10" presetClass="entr" presetSubtype="0" fill="hold" grpId="0" nodeType="withEffect">
                                  <p:stCondLst>
                                    <p:cond delay="4100"/>
                                  </p:stCondLst>
                                  <p:childTnLst>
                                    <p:set>
                                      <p:cBhvr>
                                        <p:cTn id="9" dur="1" fill="hold">
                                          <p:stCondLst>
                                            <p:cond delay="0"/>
                                          </p:stCondLst>
                                        </p:cTn>
                                        <p:tgtEl>
                                          <p:spTgt spid="56"/>
                                        </p:tgtEl>
                                        <p:attrNameLst>
                                          <p:attrName>style.visibility</p:attrName>
                                        </p:attrNameLst>
                                      </p:cBhvr>
                                      <p:to>
                                        <p:strVal val="visible"/>
                                      </p:to>
                                    </p:set>
                                    <p:animEffect transition="in" filter="fade">
                                      <p:cBhvr>
                                        <p:cTn id="10" dur="600"/>
                                        <p:tgtEl>
                                          <p:spTgt spid="56"/>
                                        </p:tgtEl>
                                      </p:cBhvr>
                                    </p:animEffect>
                                  </p:childTnLst>
                                </p:cTn>
                              </p:par>
                              <p:par>
                                <p:cTn id="11" presetID="10" presetClass="entr" presetSubtype="0" fill="hold" grpId="0" nodeType="withEffect">
                                  <p:stCondLst>
                                    <p:cond delay="4300"/>
                                  </p:stCondLst>
                                  <p:childTnLst>
                                    <p:set>
                                      <p:cBhvr>
                                        <p:cTn id="12" dur="1" fill="hold">
                                          <p:stCondLst>
                                            <p:cond delay="0"/>
                                          </p:stCondLst>
                                        </p:cTn>
                                        <p:tgtEl>
                                          <p:spTgt spid="57"/>
                                        </p:tgtEl>
                                        <p:attrNameLst>
                                          <p:attrName>style.visibility</p:attrName>
                                        </p:attrNameLst>
                                      </p:cBhvr>
                                      <p:to>
                                        <p:strVal val="visible"/>
                                      </p:to>
                                    </p:set>
                                    <p:animEffect transition="in" filter="fade">
                                      <p:cBhvr>
                                        <p:cTn id="13" dur="600"/>
                                        <p:tgtEl>
                                          <p:spTgt spid="57"/>
                                        </p:tgtEl>
                                      </p:cBhvr>
                                    </p:animEffect>
                                  </p:childTnLst>
                                </p:cTn>
                              </p:par>
                              <p:par>
                                <p:cTn id="14" presetID="10" presetClass="entr" presetSubtype="0" fill="hold" grpId="0" nodeType="withEffect">
                                  <p:stCondLst>
                                    <p:cond delay="4500"/>
                                  </p:stCondLst>
                                  <p:childTnLst>
                                    <p:set>
                                      <p:cBhvr>
                                        <p:cTn id="15" dur="1" fill="hold">
                                          <p:stCondLst>
                                            <p:cond delay="0"/>
                                          </p:stCondLst>
                                        </p:cTn>
                                        <p:tgtEl>
                                          <p:spTgt spid="58"/>
                                        </p:tgtEl>
                                        <p:attrNameLst>
                                          <p:attrName>style.visibility</p:attrName>
                                        </p:attrNameLst>
                                      </p:cBhvr>
                                      <p:to>
                                        <p:strVal val="visible"/>
                                      </p:to>
                                    </p:set>
                                    <p:animEffect transition="in" filter="fade">
                                      <p:cBhvr>
                                        <p:cTn id="16" dur="6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animBg="1"/>
      <p:bldP spid="57" grpId="0" animBg="1"/>
      <p:bldP spid="58" grpId="0" animBg="1"/>
    </p:bldLst>
  </p:timing>
  <p:extLst mod="1">
    <p:ext uri="{DCECCB84-F9BA-43D5-87BE-67443E8EF086}">
      <p15:sldGuideLst xmlns:p15="http://schemas.microsoft.com/office/powerpoint/2012/main">
        <p15:guide id="0" orient="horz" pos="2160">
          <p15:clr>
            <a:srgbClr val="FBAE40"/>
          </p15:clr>
        </p15:guide>
        <p15:guide id="1" pos="662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p:txBody>
      </p:sp>
      <p:sp>
        <p:nvSpPr>
          <p:cNvPr id="4" name="Date Placeholder 3"/>
          <p:cNvSpPr>
            <a:spLocks noGrp="1"/>
          </p:cNvSpPr>
          <p:nvPr>
            <p:ph type="dt" sz="half" idx="10"/>
          </p:nvPr>
        </p:nvSpPr>
        <p:spPr/>
        <p:txBody>
          <a:bodyPr/>
          <a:lstStyle/>
          <a:p>
            <a:fld id="{E6D07F2C-AC21-4ACE-892A-915B0ABA3720}" type="datetimeFigureOut">
              <a:rPr lang="zh-CN" altLang="en-US" smtClean="0"/>
              <a:t>2018/8/21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3AF67FB-3691-47BE-889F-42FBABC20E0F}" type="slidenum">
              <a:rPr lang="zh-CN" altLang="en-US" smtClean="0"/>
              <a:t>‹#›</a:t>
            </a:fld>
            <a:endParaRPr lang="zh-CN" altLang="en-US"/>
          </a:p>
        </p:txBody>
      </p:sp>
    </p:spTree>
    <p:extLst>
      <p:ext uri="{BB962C8B-B14F-4D97-AF65-F5344CB8AC3E}">
        <p14:creationId xmlns:p14="http://schemas.microsoft.com/office/powerpoint/2010/main" val="3940652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2786743"/>
            <a:ext cx="10515600" cy="1070339"/>
          </a:xfrm>
        </p:spPr>
        <p:txBody>
          <a:bodyPr anchor="b"/>
          <a:lstStyle>
            <a:lvl1pPr>
              <a:defRPr sz="4800">
                <a:solidFill>
                  <a:schemeClr val="accent1">
                    <a:lumMod val="75000"/>
                  </a:schemeClr>
                </a:solidFill>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1" y="3884069"/>
            <a:ext cx="10515600" cy="611731"/>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E6D07F2C-AC21-4ACE-892A-915B0ABA3720}" type="datetimeFigureOut">
              <a:rPr lang="zh-CN" altLang="en-US" smtClean="0"/>
              <a:t>2018/8/21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3AF67FB-3691-47BE-889F-42FBABC20E0F}" type="slidenum">
              <a:rPr lang="zh-CN" altLang="en-US" smtClean="0"/>
              <a:t>‹#›</a:t>
            </a:fld>
            <a:endParaRPr lang="zh-CN" altLang="en-US"/>
          </a:p>
        </p:txBody>
      </p:sp>
    </p:spTree>
    <p:extLst>
      <p:ext uri="{BB962C8B-B14F-4D97-AF65-F5344CB8AC3E}">
        <p14:creationId xmlns:p14="http://schemas.microsoft.com/office/powerpoint/2010/main" val="3770936190"/>
      </p:ext>
    </p:extLst>
  </p:cSld>
  <p:clrMapOvr>
    <a:masterClrMapping/>
  </p:clrMapOvr>
  <p:extLst mod="1">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E6D07F2C-AC21-4ACE-892A-915B0ABA3720}" type="datetimeFigureOut">
              <a:rPr lang="zh-CN" altLang="en-US" smtClean="0"/>
              <a:t>2018/8/21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3AF67FB-3691-47BE-889F-42FBABC20E0F}" type="slidenum">
              <a:rPr lang="zh-CN" altLang="en-US" smtClean="0"/>
              <a:t>‹#›</a:t>
            </a:fld>
            <a:endParaRPr lang="zh-CN" altLang="en-US"/>
          </a:p>
        </p:txBody>
      </p:sp>
    </p:spTree>
    <p:extLst>
      <p:ext uri="{BB962C8B-B14F-4D97-AF65-F5344CB8AC3E}">
        <p14:creationId xmlns:p14="http://schemas.microsoft.com/office/powerpoint/2010/main" val="1242320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lvl1pPr>
              <a:defRPr>
                <a:solidFill>
                  <a:schemeClr val="tx1"/>
                </a:solidFill>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172201"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E6D07F2C-AC21-4ACE-892A-915B0ABA3720}" type="datetimeFigureOut">
              <a:rPr lang="zh-CN" altLang="en-US" smtClean="0"/>
              <a:t>2018/8/21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83AF67FB-3691-47BE-889F-42FBABC20E0F}" type="slidenum">
              <a:rPr lang="zh-CN" altLang="en-US" smtClean="0"/>
              <a:t>‹#›</a:t>
            </a:fld>
            <a:endParaRPr lang="zh-CN" altLang="en-US"/>
          </a:p>
        </p:txBody>
      </p:sp>
    </p:spTree>
    <p:extLst>
      <p:ext uri="{BB962C8B-B14F-4D97-AF65-F5344CB8AC3E}">
        <p14:creationId xmlns:p14="http://schemas.microsoft.com/office/powerpoint/2010/main" val="3079623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E6D07F2C-AC21-4ACE-892A-915B0ABA3720}" type="datetimeFigureOut">
              <a:rPr lang="zh-CN" altLang="en-US" smtClean="0"/>
              <a:t>2018/8/21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83AF67FB-3691-47BE-889F-42FBABC20E0F}" type="slidenum">
              <a:rPr lang="zh-CN" altLang="en-US" smtClean="0"/>
              <a:t>‹#›</a:t>
            </a:fld>
            <a:endParaRPr lang="zh-CN" altLang="en-US"/>
          </a:p>
        </p:txBody>
      </p:sp>
    </p:spTree>
    <p:extLst>
      <p:ext uri="{BB962C8B-B14F-4D97-AF65-F5344CB8AC3E}">
        <p14:creationId xmlns:p14="http://schemas.microsoft.com/office/powerpoint/2010/main" val="3862522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2" cstate="print">
            <a:extLst>
              <a:ext uri="{28A0092B-C50C-407E-A947-70E740481C1C}">
                <a14:useLocalDpi xmlns:a14="http://schemas.microsoft.com/office/drawing/2010/main" val="0"/>
              </a:ext>
            </a:extLst>
          </a:blip>
          <a:srcRect b="21052"/>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E6D07F2C-AC21-4ACE-892A-915B0ABA3720}" type="datetimeFigureOut">
              <a:rPr lang="zh-CN" altLang="en-US" smtClean="0"/>
              <a:t>2018/8/21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83AF67FB-3691-47BE-889F-42FBABC20E0F}" type="slidenum">
              <a:rPr lang="zh-CN" altLang="en-US" smtClean="0"/>
              <a:t>‹#›</a:t>
            </a:fld>
            <a:endParaRPr lang="zh-CN" altLang="en-US"/>
          </a:p>
        </p:txBody>
      </p:sp>
    </p:spTree>
    <p:extLst>
      <p:ext uri="{BB962C8B-B14F-4D97-AF65-F5344CB8AC3E}">
        <p14:creationId xmlns:p14="http://schemas.microsoft.com/office/powerpoint/2010/main" val="263533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E6D07F2C-AC21-4ACE-892A-915B0ABA3720}" type="datetimeFigureOut">
              <a:rPr lang="zh-CN" altLang="en-US" smtClean="0"/>
              <a:t>2018/8/21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3AF67FB-3691-47BE-889F-42FBABC20E0F}" type="slidenum">
              <a:rPr lang="zh-CN" altLang="en-US" smtClean="0"/>
              <a:t>‹#›</a:t>
            </a:fld>
            <a:endParaRPr lang="zh-CN" altLang="en-US"/>
          </a:p>
        </p:txBody>
      </p:sp>
    </p:spTree>
    <p:extLst>
      <p:ext uri="{BB962C8B-B14F-4D97-AF65-F5344CB8AC3E}">
        <p14:creationId xmlns:p14="http://schemas.microsoft.com/office/powerpoint/2010/main" val="1073305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E6D07F2C-AC21-4ACE-892A-915B0ABA3720}" type="datetimeFigureOut">
              <a:rPr lang="zh-CN" altLang="en-US" smtClean="0"/>
              <a:t>2018/8/21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3AF67FB-3691-47BE-889F-42FBABC20E0F}" type="slidenum">
              <a:rPr lang="zh-CN" altLang="en-US" smtClean="0"/>
              <a:t>‹#›</a:t>
            </a:fld>
            <a:endParaRPr lang="zh-CN" altLang="en-US"/>
          </a:p>
        </p:txBody>
      </p:sp>
    </p:spTree>
    <p:extLst>
      <p:ext uri="{BB962C8B-B14F-4D97-AF65-F5344CB8AC3E}">
        <p14:creationId xmlns:p14="http://schemas.microsoft.com/office/powerpoint/2010/main" val="3288331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E6D07F2C-AC21-4ACE-892A-915B0ABA3720}" type="datetimeFigureOut">
              <a:rPr lang="zh-CN" altLang="en-US" smtClean="0"/>
              <a:t>2018/8/21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3AF67FB-3691-47BE-889F-42FBABC20E0F}" type="slidenum">
              <a:rPr lang="zh-CN" altLang="en-US" smtClean="0"/>
              <a:t>‹#›</a:t>
            </a:fld>
            <a:endParaRPr lang="zh-CN" altLang="en-US"/>
          </a:p>
        </p:txBody>
      </p:sp>
    </p:spTree>
    <p:extLst>
      <p:ext uri="{BB962C8B-B14F-4D97-AF65-F5344CB8AC3E}">
        <p14:creationId xmlns:p14="http://schemas.microsoft.com/office/powerpoint/2010/main" val="2155912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E6D07F2C-AC21-4ACE-892A-915B0ABA3720}" type="datetimeFigureOut">
              <a:rPr lang="zh-CN" altLang="en-US" smtClean="0"/>
              <a:t>2018/8/21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3AF67FB-3691-47BE-889F-42FBABC20E0F}" type="slidenum">
              <a:rPr lang="zh-CN" altLang="en-US" smtClean="0"/>
              <a:t>‹#›</a:t>
            </a:fld>
            <a:endParaRPr lang="zh-CN" altLang="en-US"/>
          </a:p>
        </p:txBody>
      </p:sp>
    </p:spTree>
    <p:extLst>
      <p:ext uri="{BB962C8B-B14F-4D97-AF65-F5344CB8AC3E}">
        <p14:creationId xmlns:p14="http://schemas.microsoft.com/office/powerpoint/2010/main" val="4204531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13" cstate="print">
            <a:extLst>
              <a:ext uri="{28A0092B-C50C-407E-A947-70E740481C1C}">
                <a14:useLocalDpi xmlns:a14="http://schemas.microsoft.com/office/drawing/2010/main" val="0"/>
              </a:ext>
            </a:extLst>
          </a:blip>
          <a:srcRect b="21052"/>
          <a:stretch/>
        </p:blipFill>
        <p:spPr>
          <a:xfrm>
            <a:off x="0" y="0"/>
            <a:ext cx="12192000" cy="6858000"/>
          </a:xfrm>
          <a:prstGeom prst="rect">
            <a:avLst/>
          </a:prstGeom>
        </p:spPr>
      </p:pic>
      <p:sp>
        <p:nvSpPr>
          <p:cNvPr id="3" name="Text Placeholder 2"/>
          <p:cNvSpPr>
            <a:spLocks noGrp="1"/>
          </p:cNvSpPr>
          <p:nvPr>
            <p:ph type="body" idx="1"/>
          </p:nvPr>
        </p:nvSpPr>
        <p:spPr>
          <a:xfrm>
            <a:off x="647700" y="1116057"/>
            <a:ext cx="10787383" cy="5345069"/>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bg1">
                    <a:lumMod val="65000"/>
                  </a:schemeClr>
                </a:solidFill>
              </a:defRPr>
            </a:lvl1pPr>
          </a:lstStyle>
          <a:p>
            <a:fld id="{E6D07F2C-AC21-4ACE-892A-915B0ABA3720}" type="datetimeFigureOut">
              <a:rPr lang="zh-CN" altLang="en-US" smtClean="0"/>
              <a:t>2018/8/21</a:t>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bg1">
                    <a:lumMod val="6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bg1">
                    <a:lumMod val="65000"/>
                  </a:schemeClr>
                </a:solidFill>
              </a:defRPr>
            </a:lvl1pPr>
          </a:lstStyle>
          <a:p>
            <a:fld id="{83AF67FB-3691-47BE-889F-42FBABC20E0F}" type="slidenum">
              <a:rPr lang="zh-CN" altLang="en-US" smtClean="0"/>
              <a:t>‹#›</a:t>
            </a:fld>
            <a:endParaRPr lang="zh-CN" altLang="en-US"/>
          </a:p>
        </p:txBody>
      </p:sp>
      <p:sp>
        <p:nvSpPr>
          <p:cNvPr id="2" name="Title Placeholder 1"/>
          <p:cNvSpPr>
            <a:spLocks noGrp="1"/>
          </p:cNvSpPr>
          <p:nvPr>
            <p:ph type="title"/>
          </p:nvPr>
        </p:nvSpPr>
        <p:spPr>
          <a:xfrm>
            <a:off x="647700" y="163355"/>
            <a:ext cx="10787383" cy="676051"/>
          </a:xfrm>
          <a:prstGeom prst="rect">
            <a:avLst/>
          </a:prstGeom>
        </p:spPr>
        <p:txBody>
          <a:bodyPr vert="horz" lIns="91440" tIns="45720" rIns="91440" bIns="45720" rtlCol="0" anchor="b">
            <a:noAutofit/>
          </a:bodyPr>
          <a:lstStyle/>
          <a:p>
            <a:r>
              <a:rPr lang="zh-CN" altLang="en-US" dirty="0" smtClean="0"/>
              <a:t>单击此处编辑母版标题样式</a:t>
            </a:r>
            <a:endParaRPr lang="en-US" dirty="0"/>
          </a:p>
        </p:txBody>
      </p:sp>
      <p:sp>
        <p:nvSpPr>
          <p:cNvPr id="13" name="矩形 12"/>
          <p:cNvSpPr/>
          <p:nvPr/>
        </p:nvSpPr>
        <p:spPr>
          <a:xfrm flipV="1">
            <a:off x="0" y="963655"/>
            <a:ext cx="12192000" cy="54000"/>
          </a:xfrm>
          <a:prstGeom prst="rect">
            <a:avLst/>
          </a:prstGeom>
          <a:solidFill>
            <a:srgbClr val="C20F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282017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357188" indent="-357188" algn="l" defTabSz="914400" rtl="0" eaLnBrk="1" latinLnBrk="0" hangingPunct="1">
        <a:lnSpc>
          <a:spcPct val="90000"/>
        </a:lnSpc>
        <a:spcBef>
          <a:spcPts val="1800"/>
        </a:spcBef>
        <a:buClr>
          <a:schemeClr val="accent1"/>
        </a:buClr>
        <a:buSzPct val="80000"/>
        <a:buFont typeface="Wingdings 2" panose="05020102010507070707" pitchFamily="18" charset="2"/>
        <a:buChar char=""/>
        <a:defRPr sz="2400" kern="1200">
          <a:solidFill>
            <a:schemeClr val="tx1"/>
          </a:solidFill>
          <a:latin typeface="+mn-lt"/>
          <a:ea typeface="+mn-ea"/>
          <a:cs typeface="+mn-cs"/>
        </a:defRPr>
      </a:lvl1pPr>
      <a:lvl2pPr marL="357188" indent="-357188" algn="l" defTabSz="914400" rtl="0" eaLnBrk="1" latinLnBrk="0" hangingPunct="1">
        <a:lnSpc>
          <a:spcPct val="130000"/>
        </a:lnSpc>
        <a:spcBef>
          <a:spcPts val="0"/>
        </a:spcBef>
        <a:buFont typeface="Calibri" panose="020F0502020204030204" pitchFamily="34" charset="0"/>
        <a:buChar char=" "/>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err="1" smtClean="0"/>
              <a:t>Dijkstra</a:t>
            </a:r>
            <a:r>
              <a:rPr lang="zh-CN" altLang="en-US" dirty="0" smtClean="0"/>
              <a:t>算法演示文稿</a:t>
            </a:r>
            <a:endParaRPr lang="zh-CN" altLang="en-US" dirty="0"/>
          </a:p>
        </p:txBody>
      </p:sp>
      <p:sp>
        <p:nvSpPr>
          <p:cNvPr id="3" name="副标题 2"/>
          <p:cNvSpPr>
            <a:spLocks noGrp="1"/>
          </p:cNvSpPr>
          <p:nvPr>
            <p:ph type="subTitle" idx="1"/>
          </p:nvPr>
        </p:nvSpPr>
        <p:spPr/>
        <p:txBody>
          <a:bodyPr/>
          <a:lstStyle/>
          <a:p>
            <a:r>
              <a:rPr lang="en-US" altLang="zh-CN" dirty="0" smtClean="0"/>
              <a:t> </a:t>
            </a:r>
            <a:endParaRPr lang="zh-CN" altLang="en-US" dirty="0"/>
          </a:p>
        </p:txBody>
      </p:sp>
    </p:spTree>
    <p:extLst>
      <p:ext uri="{BB962C8B-B14F-4D97-AF65-F5344CB8AC3E}">
        <p14:creationId xmlns:p14="http://schemas.microsoft.com/office/powerpoint/2010/main" val="262994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Dijkstra</a:t>
            </a:r>
            <a:r>
              <a:rPr lang="zh-CN" altLang="en-US" dirty="0" smtClean="0"/>
              <a:t>算法</a:t>
            </a:r>
            <a:endParaRPr lang="zh-CN" altLang="en-US" dirty="0"/>
          </a:p>
        </p:txBody>
      </p:sp>
      <p:sp>
        <p:nvSpPr>
          <p:cNvPr id="3" name="内容占位符 2"/>
          <p:cNvSpPr>
            <a:spLocks noGrp="1"/>
          </p:cNvSpPr>
          <p:nvPr>
            <p:ph idx="1"/>
          </p:nvPr>
        </p:nvSpPr>
        <p:spPr/>
        <p:txBody>
          <a:bodyPr/>
          <a:lstStyle/>
          <a:p>
            <a:r>
              <a:rPr lang="en-US" altLang="zh-CN" dirty="0" err="1" smtClean="0"/>
              <a:t>Folyed-Warshall</a:t>
            </a:r>
            <a:r>
              <a:rPr lang="zh-CN" altLang="en-US" dirty="0" smtClean="0"/>
              <a:t>算法的核心思想是动态规划</a:t>
            </a:r>
            <a:endParaRPr lang="en-US" altLang="zh-CN" dirty="0" smtClean="0"/>
          </a:p>
          <a:p>
            <a:r>
              <a:rPr lang="en-US" altLang="zh-CN" dirty="0" err="1" smtClean="0"/>
              <a:t>Dijkstar</a:t>
            </a:r>
            <a:r>
              <a:rPr lang="zh-CN" altLang="en-US" dirty="0" smtClean="0"/>
              <a:t>的核心思想是广度优先搜索，建立最短路径树</a:t>
            </a:r>
            <a:endParaRPr lang="en-US" altLang="zh-CN" dirty="0" smtClean="0"/>
          </a:p>
          <a:p>
            <a:endParaRPr lang="zh-CN" altLang="en-US" dirty="0"/>
          </a:p>
        </p:txBody>
      </p:sp>
      <p:grpSp>
        <p:nvGrpSpPr>
          <p:cNvPr id="47" name="组合 46"/>
          <p:cNvGrpSpPr/>
          <p:nvPr/>
        </p:nvGrpSpPr>
        <p:grpSpPr>
          <a:xfrm>
            <a:off x="950976" y="2959608"/>
            <a:ext cx="4774692" cy="2145231"/>
            <a:chOff x="950976" y="2959608"/>
            <a:chExt cx="4774692" cy="2145231"/>
          </a:xfrm>
        </p:grpSpPr>
        <p:sp>
          <p:nvSpPr>
            <p:cNvPr id="4" name="椭圆 3"/>
            <p:cNvSpPr/>
            <p:nvPr/>
          </p:nvSpPr>
          <p:spPr>
            <a:xfrm>
              <a:off x="950976" y="3703320"/>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mtClean="0"/>
                <a:t>1</a:t>
              </a:r>
              <a:endParaRPr lang="zh-CN" altLang="en-US" dirty="0"/>
            </a:p>
          </p:txBody>
        </p:sp>
        <p:sp>
          <p:nvSpPr>
            <p:cNvPr id="5" name="椭圆 4"/>
            <p:cNvSpPr/>
            <p:nvPr/>
          </p:nvSpPr>
          <p:spPr>
            <a:xfrm>
              <a:off x="2164080" y="2959608"/>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2</a:t>
              </a:r>
              <a:endParaRPr lang="zh-CN" altLang="en-US" dirty="0"/>
            </a:p>
          </p:txBody>
        </p:sp>
        <p:sp>
          <p:nvSpPr>
            <p:cNvPr id="7" name="椭圆 6"/>
            <p:cNvSpPr/>
            <p:nvPr/>
          </p:nvSpPr>
          <p:spPr>
            <a:xfrm>
              <a:off x="2164080" y="4556760"/>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3</a:t>
              </a:r>
              <a:endParaRPr lang="zh-CN" altLang="en-US" dirty="0"/>
            </a:p>
          </p:txBody>
        </p:sp>
        <p:sp>
          <p:nvSpPr>
            <p:cNvPr id="8" name="椭圆 7"/>
            <p:cNvSpPr/>
            <p:nvPr/>
          </p:nvSpPr>
          <p:spPr>
            <a:xfrm>
              <a:off x="3931920" y="2959608"/>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4</a:t>
              </a:r>
              <a:endParaRPr lang="zh-CN" altLang="en-US" dirty="0"/>
            </a:p>
          </p:txBody>
        </p:sp>
        <p:sp>
          <p:nvSpPr>
            <p:cNvPr id="9" name="椭圆 8"/>
            <p:cNvSpPr/>
            <p:nvPr/>
          </p:nvSpPr>
          <p:spPr>
            <a:xfrm>
              <a:off x="3931920" y="4556760"/>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5</a:t>
              </a:r>
              <a:endParaRPr lang="zh-CN" altLang="en-US" dirty="0"/>
            </a:p>
          </p:txBody>
        </p:sp>
        <p:sp>
          <p:nvSpPr>
            <p:cNvPr id="10" name="椭圆 9"/>
            <p:cNvSpPr/>
            <p:nvPr/>
          </p:nvSpPr>
          <p:spPr>
            <a:xfrm>
              <a:off x="5222748" y="3703320"/>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6</a:t>
              </a:r>
              <a:endParaRPr lang="zh-CN" altLang="en-US" dirty="0"/>
            </a:p>
          </p:txBody>
        </p:sp>
        <p:cxnSp>
          <p:nvCxnSpPr>
            <p:cNvPr id="12" name="直接箭头连接符 11"/>
            <p:cNvCxnSpPr>
              <a:stCxn id="4" idx="7"/>
              <a:endCxn id="5" idx="3"/>
            </p:cNvCxnSpPr>
            <p:nvPr/>
          </p:nvCxnSpPr>
          <p:spPr>
            <a:xfrm flipV="1">
              <a:off x="1380245" y="3396682"/>
              <a:ext cx="857486" cy="3816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p:cNvCxnSpPr>
              <a:stCxn id="4" idx="5"/>
              <a:endCxn id="7" idx="1"/>
            </p:cNvCxnSpPr>
            <p:nvPr/>
          </p:nvCxnSpPr>
          <p:spPr>
            <a:xfrm>
              <a:off x="1380245" y="4140394"/>
              <a:ext cx="857486" cy="4913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接箭头连接符 15"/>
            <p:cNvCxnSpPr>
              <a:stCxn id="5" idx="6"/>
              <a:endCxn id="8" idx="2"/>
            </p:cNvCxnSpPr>
            <p:nvPr/>
          </p:nvCxnSpPr>
          <p:spPr>
            <a:xfrm>
              <a:off x="2667000" y="3215640"/>
              <a:ext cx="12649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8" idx="4"/>
              <a:endCxn id="9" idx="0"/>
            </p:cNvCxnSpPr>
            <p:nvPr/>
          </p:nvCxnSpPr>
          <p:spPr>
            <a:xfrm>
              <a:off x="4183380" y="3471672"/>
              <a:ext cx="0" cy="10850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7" idx="6"/>
              <a:endCxn id="9" idx="2"/>
            </p:cNvCxnSpPr>
            <p:nvPr/>
          </p:nvCxnSpPr>
          <p:spPr>
            <a:xfrm>
              <a:off x="2667000" y="4812792"/>
              <a:ext cx="12649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8" idx="3"/>
              <a:endCxn id="7" idx="7"/>
            </p:cNvCxnSpPr>
            <p:nvPr/>
          </p:nvCxnSpPr>
          <p:spPr>
            <a:xfrm flipH="1">
              <a:off x="2593349" y="3396682"/>
              <a:ext cx="1412222" cy="12350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5" idx="4"/>
              <a:endCxn id="7" idx="0"/>
            </p:cNvCxnSpPr>
            <p:nvPr/>
          </p:nvCxnSpPr>
          <p:spPr>
            <a:xfrm>
              <a:off x="2415540" y="3471672"/>
              <a:ext cx="0" cy="10850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8" idx="6"/>
              <a:endCxn id="10" idx="1"/>
            </p:cNvCxnSpPr>
            <p:nvPr/>
          </p:nvCxnSpPr>
          <p:spPr>
            <a:xfrm>
              <a:off x="4434840" y="3215640"/>
              <a:ext cx="861559" cy="5626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9" idx="7"/>
              <a:endCxn id="10" idx="3"/>
            </p:cNvCxnSpPr>
            <p:nvPr/>
          </p:nvCxnSpPr>
          <p:spPr>
            <a:xfrm flipV="1">
              <a:off x="4361189" y="4140394"/>
              <a:ext cx="935210" cy="4913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圆角矩形 30"/>
            <p:cNvSpPr/>
            <p:nvPr/>
          </p:nvSpPr>
          <p:spPr>
            <a:xfrm>
              <a:off x="1534141" y="3362862"/>
              <a:ext cx="427745" cy="276449"/>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1</a:t>
              </a:r>
              <a:endParaRPr lang="zh-CN" altLang="en-US" dirty="0"/>
            </a:p>
          </p:txBody>
        </p:sp>
        <p:sp>
          <p:nvSpPr>
            <p:cNvPr id="33" name="圆角矩形 32"/>
            <p:cNvSpPr/>
            <p:nvPr/>
          </p:nvSpPr>
          <p:spPr>
            <a:xfrm>
              <a:off x="3153156" y="2977335"/>
              <a:ext cx="431292" cy="335235"/>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3</a:t>
              </a:r>
              <a:endParaRPr lang="zh-CN" altLang="en-US" dirty="0"/>
            </a:p>
          </p:txBody>
        </p:sp>
        <p:sp>
          <p:nvSpPr>
            <p:cNvPr id="34" name="圆角矩形 33"/>
            <p:cNvSpPr/>
            <p:nvPr/>
          </p:nvSpPr>
          <p:spPr>
            <a:xfrm>
              <a:off x="4870205" y="3312571"/>
              <a:ext cx="426194" cy="24352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dirty="0" smtClean="0"/>
                <a:t>15</a:t>
              </a:r>
              <a:endParaRPr lang="zh-CN" altLang="en-US" sz="2400" dirty="0"/>
            </a:p>
          </p:txBody>
        </p:sp>
        <p:sp>
          <p:nvSpPr>
            <p:cNvPr id="35" name="圆角矩形 34"/>
            <p:cNvSpPr/>
            <p:nvPr/>
          </p:nvSpPr>
          <p:spPr>
            <a:xfrm>
              <a:off x="4005571" y="3813048"/>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13</a:t>
              </a:r>
              <a:endParaRPr lang="zh-CN" altLang="en-US" dirty="0"/>
            </a:p>
          </p:txBody>
        </p:sp>
        <p:sp>
          <p:nvSpPr>
            <p:cNvPr id="38" name="圆角矩形 37"/>
            <p:cNvSpPr/>
            <p:nvPr/>
          </p:nvSpPr>
          <p:spPr>
            <a:xfrm>
              <a:off x="3085062" y="3749644"/>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4</a:t>
              </a:r>
              <a:endParaRPr lang="zh-CN" altLang="en-US" dirty="0"/>
            </a:p>
          </p:txBody>
        </p:sp>
        <p:sp>
          <p:nvSpPr>
            <p:cNvPr id="39" name="圆角矩形 38"/>
            <p:cNvSpPr/>
            <p:nvPr/>
          </p:nvSpPr>
          <p:spPr>
            <a:xfrm>
              <a:off x="2164553" y="3803343"/>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9</a:t>
              </a:r>
              <a:endParaRPr lang="zh-CN" altLang="en-US" dirty="0"/>
            </a:p>
          </p:txBody>
        </p:sp>
        <p:sp>
          <p:nvSpPr>
            <p:cNvPr id="40" name="圆角矩形 39"/>
            <p:cNvSpPr/>
            <p:nvPr/>
          </p:nvSpPr>
          <p:spPr>
            <a:xfrm>
              <a:off x="1483086" y="4246783"/>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12</a:t>
              </a:r>
              <a:endParaRPr lang="zh-CN" altLang="en-US" dirty="0"/>
            </a:p>
          </p:txBody>
        </p:sp>
        <p:sp>
          <p:nvSpPr>
            <p:cNvPr id="41" name="圆角矩形 40"/>
            <p:cNvSpPr/>
            <p:nvPr/>
          </p:nvSpPr>
          <p:spPr>
            <a:xfrm>
              <a:off x="3085061" y="4702503"/>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5</a:t>
              </a:r>
              <a:endParaRPr lang="zh-CN" altLang="en-US" dirty="0"/>
            </a:p>
          </p:txBody>
        </p:sp>
        <p:sp>
          <p:nvSpPr>
            <p:cNvPr id="42" name="圆角矩形 41"/>
            <p:cNvSpPr/>
            <p:nvPr/>
          </p:nvSpPr>
          <p:spPr>
            <a:xfrm>
              <a:off x="4690103" y="4265990"/>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4</a:t>
              </a:r>
              <a:endParaRPr lang="zh-CN" altLang="en-US" dirty="0"/>
            </a:p>
          </p:txBody>
        </p:sp>
      </p:grpSp>
      <mc:AlternateContent xmlns:mc="http://schemas.openxmlformats.org/markup-compatibility/2006" xmlns:a14="http://schemas.microsoft.com/office/drawing/2010/main">
        <mc:Choice Requires="a14">
          <p:graphicFrame>
            <p:nvGraphicFramePr>
              <p:cNvPr id="46" name="表格 45"/>
              <p:cNvGraphicFramePr>
                <a:graphicFrameLocks noGrp="1"/>
              </p:cNvGraphicFramePr>
              <p:nvPr>
                <p:extLst>
                  <p:ext uri="{D42A27DB-BD31-4B8C-83A1-F6EECF244321}">
                    <p14:modId xmlns:p14="http://schemas.microsoft.com/office/powerpoint/2010/main" val="2831886892"/>
                  </p:ext>
                </p:extLst>
              </p:nvPr>
            </p:nvGraphicFramePr>
            <p:xfrm>
              <a:off x="7360922" y="2341371"/>
              <a:ext cx="3548888" cy="3042753"/>
            </p:xfrm>
            <a:graphic>
              <a:graphicData uri="http://schemas.openxmlformats.org/drawingml/2006/table">
                <a:tbl>
                  <a:tblPr firstRow="1" bandRow="1">
                    <a:tableStyleId>{5C22544A-7EE6-4342-B048-85BDC9FD1C3A}</a:tableStyleId>
                  </a:tblPr>
                  <a:tblGrid>
                    <a:gridCol w="506984">
                      <a:extLst>
                        <a:ext uri="{9D8B030D-6E8A-4147-A177-3AD203B41FA5}">
                          <a16:colId xmlns:a16="http://schemas.microsoft.com/office/drawing/2014/main" val="4061350472"/>
                        </a:ext>
                      </a:extLst>
                    </a:gridCol>
                    <a:gridCol w="506984">
                      <a:extLst>
                        <a:ext uri="{9D8B030D-6E8A-4147-A177-3AD203B41FA5}">
                          <a16:colId xmlns:a16="http://schemas.microsoft.com/office/drawing/2014/main" val="4159630365"/>
                        </a:ext>
                      </a:extLst>
                    </a:gridCol>
                    <a:gridCol w="506984">
                      <a:extLst>
                        <a:ext uri="{9D8B030D-6E8A-4147-A177-3AD203B41FA5}">
                          <a16:colId xmlns:a16="http://schemas.microsoft.com/office/drawing/2014/main" val="1065648299"/>
                        </a:ext>
                      </a:extLst>
                    </a:gridCol>
                    <a:gridCol w="506984">
                      <a:extLst>
                        <a:ext uri="{9D8B030D-6E8A-4147-A177-3AD203B41FA5}">
                          <a16:colId xmlns:a16="http://schemas.microsoft.com/office/drawing/2014/main" val="1408633650"/>
                        </a:ext>
                      </a:extLst>
                    </a:gridCol>
                    <a:gridCol w="506984">
                      <a:extLst>
                        <a:ext uri="{9D8B030D-6E8A-4147-A177-3AD203B41FA5}">
                          <a16:colId xmlns:a16="http://schemas.microsoft.com/office/drawing/2014/main" val="338113249"/>
                        </a:ext>
                      </a:extLst>
                    </a:gridCol>
                    <a:gridCol w="506984">
                      <a:extLst>
                        <a:ext uri="{9D8B030D-6E8A-4147-A177-3AD203B41FA5}">
                          <a16:colId xmlns:a16="http://schemas.microsoft.com/office/drawing/2014/main" val="1550306496"/>
                        </a:ext>
                      </a:extLst>
                    </a:gridCol>
                    <a:gridCol w="506984">
                      <a:extLst>
                        <a:ext uri="{9D8B030D-6E8A-4147-A177-3AD203B41FA5}">
                          <a16:colId xmlns:a16="http://schemas.microsoft.com/office/drawing/2014/main" val="194276565"/>
                        </a:ext>
                      </a:extLst>
                    </a:gridCol>
                  </a:tblGrid>
                  <a:tr h="434679">
                    <a:tc>
                      <a:txBody>
                        <a:bodyPr/>
                        <a:lstStyle/>
                        <a:p>
                          <a:pPr algn="ctr"/>
                          <a:r>
                            <a:rPr lang="en-US" altLang="zh-CN" sz="900" dirty="0" smtClean="0"/>
                            <a:t>graph</a:t>
                          </a:r>
                          <a:endParaRPr lang="zh-CN" altLang="en-US" sz="800" dirty="0"/>
                        </a:p>
                      </a:txBody>
                      <a:tcPr marL="107181" marR="107181" marT="53591" marB="53591"/>
                    </a:tc>
                    <a:tc>
                      <a:txBody>
                        <a:bodyPr/>
                        <a:lstStyle/>
                        <a:p>
                          <a:pPr algn="ctr"/>
                          <a:r>
                            <a:rPr lang="en-US" altLang="zh-CN" sz="2100" dirty="0" smtClean="0"/>
                            <a:t>1</a:t>
                          </a:r>
                          <a:endParaRPr lang="zh-CN" altLang="en-US" sz="2100" dirty="0"/>
                        </a:p>
                      </a:txBody>
                      <a:tcPr marL="107181" marR="107181" marT="53591" marB="53591"/>
                    </a:tc>
                    <a:tc>
                      <a:txBody>
                        <a:bodyPr/>
                        <a:lstStyle/>
                        <a:p>
                          <a:pPr algn="ctr"/>
                          <a:r>
                            <a:rPr lang="en-US" altLang="zh-CN" sz="2100" dirty="0" smtClean="0"/>
                            <a:t>2</a:t>
                          </a:r>
                          <a:endParaRPr lang="zh-CN" altLang="en-US" sz="2100" dirty="0"/>
                        </a:p>
                      </a:txBody>
                      <a:tcPr marL="107181" marR="107181" marT="53591" marB="53591"/>
                    </a:tc>
                    <a:tc>
                      <a:txBody>
                        <a:bodyPr/>
                        <a:lstStyle/>
                        <a:p>
                          <a:pPr algn="ctr"/>
                          <a:r>
                            <a:rPr lang="en-US" altLang="zh-CN" sz="2100" dirty="0" smtClean="0"/>
                            <a:t>3</a:t>
                          </a:r>
                          <a:endParaRPr lang="zh-CN" altLang="en-US" sz="2100" dirty="0"/>
                        </a:p>
                      </a:txBody>
                      <a:tcPr marL="107181" marR="107181" marT="53591" marB="53591"/>
                    </a:tc>
                    <a:tc>
                      <a:txBody>
                        <a:bodyPr/>
                        <a:lstStyle/>
                        <a:p>
                          <a:pPr algn="ctr"/>
                          <a:r>
                            <a:rPr lang="en-US" altLang="zh-CN" sz="2100" dirty="0" smtClean="0"/>
                            <a:t>4</a:t>
                          </a:r>
                          <a:endParaRPr lang="zh-CN" altLang="en-US" sz="2100" dirty="0"/>
                        </a:p>
                      </a:txBody>
                      <a:tcPr marL="107181" marR="107181" marT="53591" marB="53591"/>
                    </a:tc>
                    <a:tc>
                      <a:txBody>
                        <a:bodyPr/>
                        <a:lstStyle/>
                        <a:p>
                          <a:pPr algn="ctr"/>
                          <a:r>
                            <a:rPr lang="en-US" altLang="zh-CN" sz="2100" dirty="0" smtClean="0"/>
                            <a:t>5</a:t>
                          </a:r>
                          <a:endParaRPr lang="zh-CN" altLang="en-US" sz="2100" dirty="0"/>
                        </a:p>
                      </a:txBody>
                      <a:tcPr marL="107181" marR="107181" marT="53591" marB="53591"/>
                    </a:tc>
                    <a:tc>
                      <a:txBody>
                        <a:bodyPr/>
                        <a:lstStyle/>
                        <a:p>
                          <a:pPr algn="ctr"/>
                          <a:r>
                            <a:rPr lang="en-US" altLang="zh-CN" sz="2100" dirty="0" smtClean="0"/>
                            <a:t>6</a:t>
                          </a:r>
                          <a:endParaRPr lang="zh-CN" altLang="en-US" sz="2100" dirty="0"/>
                        </a:p>
                      </a:txBody>
                      <a:tcPr marL="107181" marR="107181" marT="53591" marB="53591"/>
                    </a:tc>
                    <a:extLst>
                      <a:ext uri="{0D108BD9-81ED-4DB2-BD59-A6C34878D82A}">
                        <a16:rowId xmlns:a16="http://schemas.microsoft.com/office/drawing/2014/main" val="2401494370"/>
                      </a:ext>
                    </a:extLst>
                  </a:tr>
                  <a:tr h="434679">
                    <a:tc>
                      <a:txBody>
                        <a:bodyPr/>
                        <a:lstStyle/>
                        <a:p>
                          <a:pPr algn="ctr"/>
                          <a:r>
                            <a:rPr lang="en-US" altLang="zh-CN" sz="2100" dirty="0" smtClean="0">
                              <a:solidFill>
                                <a:schemeClr val="bg2"/>
                              </a:solidFill>
                            </a:rPr>
                            <a:t>1</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1</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12</a:t>
                          </a:r>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extLst>
                      <a:ext uri="{0D108BD9-81ED-4DB2-BD59-A6C34878D82A}">
                        <a16:rowId xmlns:a16="http://schemas.microsoft.com/office/drawing/2014/main" val="3286671699"/>
                      </a:ext>
                    </a:extLst>
                  </a:tr>
                  <a:tr h="434679">
                    <a:tc>
                      <a:txBody>
                        <a:bodyPr/>
                        <a:lstStyle/>
                        <a:p>
                          <a:pPr algn="ctr"/>
                          <a:r>
                            <a:rPr lang="en-US" altLang="zh-CN" sz="2100" dirty="0" smtClean="0">
                              <a:solidFill>
                                <a:schemeClr val="bg2"/>
                              </a:solidFill>
                            </a:rPr>
                            <a:t>2</a:t>
                          </a:r>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9</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3</a:t>
                          </a:r>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extLst>
                      <a:ext uri="{0D108BD9-81ED-4DB2-BD59-A6C34878D82A}">
                        <a16:rowId xmlns:a16="http://schemas.microsoft.com/office/drawing/2014/main" val="2746480506"/>
                      </a:ext>
                    </a:extLst>
                  </a:tr>
                  <a:tr h="434679">
                    <a:tc>
                      <a:txBody>
                        <a:bodyPr/>
                        <a:lstStyle/>
                        <a:p>
                          <a:pPr algn="ctr"/>
                          <a:r>
                            <a:rPr lang="en-US" altLang="zh-CN" sz="2100" dirty="0" smtClean="0">
                              <a:solidFill>
                                <a:schemeClr val="bg2"/>
                              </a:solidFill>
                            </a:rPr>
                            <a:t>3</a:t>
                          </a:r>
                          <a:endParaRPr lang="zh-CN" altLang="en-US" sz="2100" dirty="0">
                            <a:solidFill>
                              <a:schemeClr val="bg2"/>
                            </a:solidFill>
                          </a:endParaRPr>
                        </a:p>
                      </a:txBody>
                      <a:tcPr marL="107181" marR="107181" marT="53591" marB="5359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5</a:t>
                          </a:r>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extLst>
                      <a:ext uri="{0D108BD9-81ED-4DB2-BD59-A6C34878D82A}">
                        <a16:rowId xmlns:a16="http://schemas.microsoft.com/office/drawing/2014/main" val="1183467348"/>
                      </a:ext>
                    </a:extLst>
                  </a:tr>
                  <a:tr h="434679">
                    <a:tc>
                      <a:txBody>
                        <a:bodyPr/>
                        <a:lstStyle/>
                        <a:p>
                          <a:pPr algn="ctr"/>
                          <a:r>
                            <a:rPr lang="en-US" altLang="zh-CN" sz="2100" dirty="0" smtClean="0">
                              <a:solidFill>
                                <a:schemeClr val="bg2"/>
                              </a:solidFill>
                            </a:rPr>
                            <a:t>4</a:t>
                          </a:r>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4</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13</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5</a:t>
                          </a:r>
                          <a:endParaRPr lang="zh-CN" altLang="en-US" sz="2100" dirty="0">
                            <a:solidFill>
                              <a:schemeClr val="bg2"/>
                            </a:solidFill>
                          </a:endParaRPr>
                        </a:p>
                      </a:txBody>
                      <a:tcPr marL="107181" marR="107181" marT="53591" marB="53591"/>
                    </a:tc>
                    <a:extLst>
                      <a:ext uri="{0D108BD9-81ED-4DB2-BD59-A6C34878D82A}">
                        <a16:rowId xmlns:a16="http://schemas.microsoft.com/office/drawing/2014/main" val="324011288"/>
                      </a:ext>
                    </a:extLst>
                  </a:tr>
                  <a:tr h="434679">
                    <a:tc>
                      <a:txBody>
                        <a:bodyPr/>
                        <a:lstStyle/>
                        <a:p>
                          <a:pPr algn="ctr"/>
                          <a:r>
                            <a:rPr lang="en-US" altLang="zh-CN" sz="2100" dirty="0" smtClean="0">
                              <a:solidFill>
                                <a:schemeClr val="bg2"/>
                              </a:solidFill>
                            </a:rPr>
                            <a:t>5</a:t>
                          </a:r>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4</a:t>
                          </a:r>
                          <a:endParaRPr lang="zh-CN" altLang="en-US" sz="2100" dirty="0">
                            <a:solidFill>
                              <a:schemeClr val="bg2"/>
                            </a:solidFill>
                          </a:endParaRPr>
                        </a:p>
                      </a:txBody>
                      <a:tcPr marL="107181" marR="107181" marT="53591" marB="53591"/>
                    </a:tc>
                    <a:extLst>
                      <a:ext uri="{0D108BD9-81ED-4DB2-BD59-A6C34878D82A}">
                        <a16:rowId xmlns:a16="http://schemas.microsoft.com/office/drawing/2014/main" val="3417095984"/>
                      </a:ext>
                    </a:extLst>
                  </a:tr>
                  <a:tr h="434679">
                    <a:tc>
                      <a:txBody>
                        <a:bodyPr/>
                        <a:lstStyle/>
                        <a:p>
                          <a:pPr algn="ctr"/>
                          <a:r>
                            <a:rPr lang="en-US" altLang="zh-CN" sz="2100" dirty="0" smtClean="0">
                              <a:solidFill>
                                <a:schemeClr val="bg2"/>
                              </a:solidFill>
                            </a:rPr>
                            <a:t>6</a:t>
                          </a:r>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extLst>
                      <a:ext uri="{0D108BD9-81ED-4DB2-BD59-A6C34878D82A}">
                        <a16:rowId xmlns:a16="http://schemas.microsoft.com/office/drawing/2014/main" val="2057619087"/>
                      </a:ext>
                    </a:extLst>
                  </a:tr>
                </a:tbl>
              </a:graphicData>
            </a:graphic>
          </p:graphicFrame>
        </mc:Choice>
        <mc:Fallback xmlns="">
          <p:graphicFrame>
            <p:nvGraphicFramePr>
              <p:cNvPr id="46" name="表格 45"/>
              <p:cNvGraphicFramePr>
                <a:graphicFrameLocks noGrp="1"/>
              </p:cNvGraphicFramePr>
              <p:nvPr>
                <p:extLst>
                  <p:ext uri="{D42A27DB-BD31-4B8C-83A1-F6EECF244321}">
                    <p14:modId xmlns:p14="http://schemas.microsoft.com/office/powerpoint/2010/main" val="2831886892"/>
                  </p:ext>
                </p:extLst>
              </p:nvPr>
            </p:nvGraphicFramePr>
            <p:xfrm>
              <a:off x="7360922" y="2341371"/>
              <a:ext cx="3548888" cy="3042753"/>
            </p:xfrm>
            <a:graphic>
              <a:graphicData uri="http://schemas.openxmlformats.org/drawingml/2006/table">
                <a:tbl>
                  <a:tblPr firstRow="1" bandRow="1">
                    <a:tableStyleId>{5C22544A-7EE6-4342-B048-85BDC9FD1C3A}</a:tableStyleId>
                  </a:tblPr>
                  <a:tblGrid>
                    <a:gridCol w="506984">
                      <a:extLst>
                        <a:ext uri="{9D8B030D-6E8A-4147-A177-3AD203B41FA5}">
                          <a16:colId xmlns:a16="http://schemas.microsoft.com/office/drawing/2014/main" val="4061350472"/>
                        </a:ext>
                      </a:extLst>
                    </a:gridCol>
                    <a:gridCol w="506984">
                      <a:extLst>
                        <a:ext uri="{9D8B030D-6E8A-4147-A177-3AD203B41FA5}">
                          <a16:colId xmlns:a16="http://schemas.microsoft.com/office/drawing/2014/main" val="4159630365"/>
                        </a:ext>
                      </a:extLst>
                    </a:gridCol>
                    <a:gridCol w="506984">
                      <a:extLst>
                        <a:ext uri="{9D8B030D-6E8A-4147-A177-3AD203B41FA5}">
                          <a16:colId xmlns:a16="http://schemas.microsoft.com/office/drawing/2014/main" val="1065648299"/>
                        </a:ext>
                      </a:extLst>
                    </a:gridCol>
                    <a:gridCol w="506984">
                      <a:extLst>
                        <a:ext uri="{9D8B030D-6E8A-4147-A177-3AD203B41FA5}">
                          <a16:colId xmlns:a16="http://schemas.microsoft.com/office/drawing/2014/main" val="1408633650"/>
                        </a:ext>
                      </a:extLst>
                    </a:gridCol>
                    <a:gridCol w="506984">
                      <a:extLst>
                        <a:ext uri="{9D8B030D-6E8A-4147-A177-3AD203B41FA5}">
                          <a16:colId xmlns:a16="http://schemas.microsoft.com/office/drawing/2014/main" val="338113249"/>
                        </a:ext>
                      </a:extLst>
                    </a:gridCol>
                    <a:gridCol w="506984">
                      <a:extLst>
                        <a:ext uri="{9D8B030D-6E8A-4147-A177-3AD203B41FA5}">
                          <a16:colId xmlns:a16="http://schemas.microsoft.com/office/drawing/2014/main" val="1550306496"/>
                        </a:ext>
                      </a:extLst>
                    </a:gridCol>
                    <a:gridCol w="506984">
                      <a:extLst>
                        <a:ext uri="{9D8B030D-6E8A-4147-A177-3AD203B41FA5}">
                          <a16:colId xmlns:a16="http://schemas.microsoft.com/office/drawing/2014/main" val="194276565"/>
                        </a:ext>
                      </a:extLst>
                    </a:gridCol>
                  </a:tblGrid>
                  <a:tr h="434679">
                    <a:tc>
                      <a:txBody>
                        <a:bodyPr/>
                        <a:lstStyle/>
                        <a:p>
                          <a:pPr algn="ctr"/>
                          <a:r>
                            <a:rPr lang="en-US" altLang="zh-CN" sz="900" dirty="0" smtClean="0"/>
                            <a:t>graph</a:t>
                          </a:r>
                          <a:endParaRPr lang="zh-CN" altLang="en-US" sz="800" dirty="0"/>
                        </a:p>
                      </a:txBody>
                      <a:tcPr marL="107181" marR="107181" marT="53591" marB="53591"/>
                    </a:tc>
                    <a:tc>
                      <a:txBody>
                        <a:bodyPr/>
                        <a:lstStyle/>
                        <a:p>
                          <a:pPr algn="ctr"/>
                          <a:r>
                            <a:rPr lang="en-US" altLang="zh-CN" sz="2100" dirty="0" smtClean="0"/>
                            <a:t>1</a:t>
                          </a:r>
                          <a:endParaRPr lang="zh-CN" altLang="en-US" sz="2100" dirty="0"/>
                        </a:p>
                      </a:txBody>
                      <a:tcPr marL="107181" marR="107181" marT="53591" marB="53591"/>
                    </a:tc>
                    <a:tc>
                      <a:txBody>
                        <a:bodyPr/>
                        <a:lstStyle/>
                        <a:p>
                          <a:pPr algn="ctr"/>
                          <a:r>
                            <a:rPr lang="en-US" altLang="zh-CN" sz="2100" dirty="0" smtClean="0"/>
                            <a:t>2</a:t>
                          </a:r>
                          <a:endParaRPr lang="zh-CN" altLang="en-US" sz="2100" dirty="0"/>
                        </a:p>
                      </a:txBody>
                      <a:tcPr marL="107181" marR="107181" marT="53591" marB="53591"/>
                    </a:tc>
                    <a:tc>
                      <a:txBody>
                        <a:bodyPr/>
                        <a:lstStyle/>
                        <a:p>
                          <a:pPr algn="ctr"/>
                          <a:r>
                            <a:rPr lang="en-US" altLang="zh-CN" sz="2100" dirty="0" smtClean="0"/>
                            <a:t>3</a:t>
                          </a:r>
                          <a:endParaRPr lang="zh-CN" altLang="en-US" sz="2100" dirty="0"/>
                        </a:p>
                      </a:txBody>
                      <a:tcPr marL="107181" marR="107181" marT="53591" marB="53591"/>
                    </a:tc>
                    <a:tc>
                      <a:txBody>
                        <a:bodyPr/>
                        <a:lstStyle/>
                        <a:p>
                          <a:pPr algn="ctr"/>
                          <a:r>
                            <a:rPr lang="en-US" altLang="zh-CN" sz="2100" dirty="0" smtClean="0"/>
                            <a:t>4</a:t>
                          </a:r>
                          <a:endParaRPr lang="zh-CN" altLang="en-US" sz="2100" dirty="0"/>
                        </a:p>
                      </a:txBody>
                      <a:tcPr marL="107181" marR="107181" marT="53591" marB="53591"/>
                    </a:tc>
                    <a:tc>
                      <a:txBody>
                        <a:bodyPr/>
                        <a:lstStyle/>
                        <a:p>
                          <a:pPr algn="ctr"/>
                          <a:r>
                            <a:rPr lang="en-US" altLang="zh-CN" sz="2100" dirty="0" smtClean="0"/>
                            <a:t>5</a:t>
                          </a:r>
                          <a:endParaRPr lang="zh-CN" altLang="en-US" sz="2100" dirty="0"/>
                        </a:p>
                      </a:txBody>
                      <a:tcPr marL="107181" marR="107181" marT="53591" marB="53591"/>
                    </a:tc>
                    <a:tc>
                      <a:txBody>
                        <a:bodyPr/>
                        <a:lstStyle/>
                        <a:p>
                          <a:pPr algn="ctr"/>
                          <a:r>
                            <a:rPr lang="en-US" altLang="zh-CN" sz="2100" dirty="0" smtClean="0"/>
                            <a:t>6</a:t>
                          </a:r>
                          <a:endParaRPr lang="zh-CN" altLang="en-US" sz="2100" dirty="0"/>
                        </a:p>
                      </a:txBody>
                      <a:tcPr marL="107181" marR="107181" marT="53591" marB="53591"/>
                    </a:tc>
                    <a:extLst>
                      <a:ext uri="{0D108BD9-81ED-4DB2-BD59-A6C34878D82A}">
                        <a16:rowId xmlns:a16="http://schemas.microsoft.com/office/drawing/2014/main" val="2401494370"/>
                      </a:ext>
                    </a:extLst>
                  </a:tr>
                  <a:tr h="434679">
                    <a:tc>
                      <a:txBody>
                        <a:bodyPr/>
                        <a:lstStyle/>
                        <a:p>
                          <a:pPr algn="ctr"/>
                          <a:r>
                            <a:rPr lang="en-US" altLang="zh-CN" sz="2100" dirty="0" smtClean="0">
                              <a:solidFill>
                                <a:schemeClr val="bg2"/>
                              </a:solidFill>
                            </a:rPr>
                            <a:t>1</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1</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12</a:t>
                          </a:r>
                          <a:endParaRPr lang="zh-CN" altLang="en-US" sz="2100" dirty="0">
                            <a:solidFill>
                              <a:schemeClr val="bg2"/>
                            </a:solidFill>
                          </a:endParaRPr>
                        </a:p>
                      </a:txBody>
                      <a:tcPr marL="107181" marR="107181" marT="53591" marB="53591"/>
                    </a:tc>
                    <a:tc>
                      <a:txBody>
                        <a:bodyPr/>
                        <a:lstStyle/>
                        <a:p>
                          <a:endParaRPr lang="zh-CN"/>
                        </a:p>
                      </a:txBody>
                      <a:tcPr marL="107181" marR="107181" marT="53591" marB="53591">
                        <a:blipFill>
                          <a:blip r:embed="rId2"/>
                          <a:stretch>
                            <a:fillRect l="-402410" t="-105556" r="-206024" b="-519444"/>
                          </a:stretch>
                        </a:blipFill>
                      </a:tcPr>
                    </a:tc>
                    <a:tc>
                      <a:txBody>
                        <a:bodyPr/>
                        <a:lstStyle/>
                        <a:p>
                          <a:endParaRPr lang="zh-CN"/>
                        </a:p>
                      </a:txBody>
                      <a:tcPr marL="107181" marR="107181" marT="53591" marB="53591">
                        <a:blipFill>
                          <a:blip r:embed="rId2"/>
                          <a:stretch>
                            <a:fillRect l="-496429" t="-105556" r="-103571" b="-519444"/>
                          </a:stretch>
                        </a:blipFill>
                      </a:tcPr>
                    </a:tc>
                    <a:tc>
                      <a:txBody>
                        <a:bodyPr/>
                        <a:lstStyle/>
                        <a:p>
                          <a:endParaRPr lang="zh-CN"/>
                        </a:p>
                      </a:txBody>
                      <a:tcPr marL="107181" marR="107181" marT="53591" marB="53591">
                        <a:blipFill>
                          <a:blip r:embed="rId2"/>
                          <a:stretch>
                            <a:fillRect l="-603614" t="-105556" r="-4819" b="-519444"/>
                          </a:stretch>
                        </a:blipFill>
                      </a:tcPr>
                    </a:tc>
                    <a:extLst>
                      <a:ext uri="{0D108BD9-81ED-4DB2-BD59-A6C34878D82A}">
                        <a16:rowId xmlns:a16="http://schemas.microsoft.com/office/drawing/2014/main" val="3286671699"/>
                      </a:ext>
                    </a:extLst>
                  </a:tr>
                  <a:tr h="434679">
                    <a:tc>
                      <a:txBody>
                        <a:bodyPr/>
                        <a:lstStyle/>
                        <a:p>
                          <a:pPr algn="ctr"/>
                          <a:r>
                            <a:rPr lang="en-US" altLang="zh-CN" sz="2100" dirty="0" smtClean="0">
                              <a:solidFill>
                                <a:schemeClr val="bg2"/>
                              </a:solidFill>
                            </a:rPr>
                            <a:t>2</a:t>
                          </a:r>
                          <a:endParaRPr lang="zh-CN" altLang="en-US" sz="2100" dirty="0">
                            <a:solidFill>
                              <a:schemeClr val="bg2"/>
                            </a:solidFill>
                          </a:endParaRPr>
                        </a:p>
                      </a:txBody>
                      <a:tcPr marL="107181" marR="107181" marT="53591" marB="53591"/>
                    </a:tc>
                    <a:tc>
                      <a:txBody>
                        <a:bodyPr/>
                        <a:lstStyle/>
                        <a:p>
                          <a:endParaRPr lang="zh-CN"/>
                        </a:p>
                      </a:txBody>
                      <a:tcPr marL="107181" marR="107181" marT="53591" marB="53591">
                        <a:blipFill>
                          <a:blip r:embed="rId2"/>
                          <a:stretch>
                            <a:fillRect l="-100000" t="-208451" r="-500000" b="-426761"/>
                          </a:stretch>
                        </a:blipFill>
                      </a:tcPr>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9</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3</a:t>
                          </a:r>
                          <a:endParaRPr lang="zh-CN" altLang="en-US" sz="2100" dirty="0">
                            <a:solidFill>
                              <a:schemeClr val="bg2"/>
                            </a:solidFill>
                          </a:endParaRPr>
                        </a:p>
                      </a:txBody>
                      <a:tcPr marL="107181" marR="107181" marT="53591" marB="53591"/>
                    </a:tc>
                    <a:tc>
                      <a:txBody>
                        <a:bodyPr/>
                        <a:lstStyle/>
                        <a:p>
                          <a:endParaRPr lang="zh-CN"/>
                        </a:p>
                      </a:txBody>
                      <a:tcPr marL="107181" marR="107181" marT="53591" marB="53591">
                        <a:blipFill>
                          <a:blip r:embed="rId2"/>
                          <a:stretch>
                            <a:fillRect l="-496429" t="-208451" r="-103571" b="-426761"/>
                          </a:stretch>
                        </a:blipFill>
                      </a:tcPr>
                    </a:tc>
                    <a:tc>
                      <a:txBody>
                        <a:bodyPr/>
                        <a:lstStyle/>
                        <a:p>
                          <a:endParaRPr lang="zh-CN"/>
                        </a:p>
                      </a:txBody>
                      <a:tcPr marL="107181" marR="107181" marT="53591" marB="53591">
                        <a:blipFill>
                          <a:blip r:embed="rId2"/>
                          <a:stretch>
                            <a:fillRect l="-603614" t="-208451" r="-4819" b="-426761"/>
                          </a:stretch>
                        </a:blipFill>
                      </a:tcPr>
                    </a:tc>
                    <a:extLst>
                      <a:ext uri="{0D108BD9-81ED-4DB2-BD59-A6C34878D82A}">
                        <a16:rowId xmlns:a16="http://schemas.microsoft.com/office/drawing/2014/main" val="2746480506"/>
                      </a:ext>
                    </a:extLst>
                  </a:tr>
                  <a:tr h="434679">
                    <a:tc>
                      <a:txBody>
                        <a:bodyPr/>
                        <a:lstStyle/>
                        <a:p>
                          <a:pPr algn="ctr"/>
                          <a:r>
                            <a:rPr lang="en-US" altLang="zh-CN" sz="2100" dirty="0" smtClean="0">
                              <a:solidFill>
                                <a:schemeClr val="bg2"/>
                              </a:solidFill>
                            </a:rPr>
                            <a:t>3</a:t>
                          </a:r>
                          <a:endParaRPr lang="zh-CN" altLang="en-US" sz="2100" dirty="0">
                            <a:solidFill>
                              <a:schemeClr val="bg2"/>
                            </a:solidFill>
                          </a:endParaRPr>
                        </a:p>
                      </a:txBody>
                      <a:tcPr marL="107181" marR="107181" marT="53591" marB="53591"/>
                    </a:tc>
                    <a:tc>
                      <a:txBody>
                        <a:bodyPr/>
                        <a:lstStyle/>
                        <a:p>
                          <a:endParaRPr lang="zh-CN"/>
                        </a:p>
                      </a:txBody>
                      <a:tcPr marL="107181" marR="107181" marT="53591" marB="53591">
                        <a:blipFill>
                          <a:blip r:embed="rId2"/>
                          <a:stretch>
                            <a:fillRect l="-100000" t="-304167" r="-500000" b="-320833"/>
                          </a:stretch>
                        </a:blipFill>
                      </a:tcPr>
                    </a:tc>
                    <a:tc>
                      <a:txBody>
                        <a:bodyPr/>
                        <a:lstStyle/>
                        <a:p>
                          <a:endParaRPr lang="zh-CN"/>
                        </a:p>
                      </a:txBody>
                      <a:tcPr marL="107181" marR="107181" marT="53591" marB="53591">
                        <a:blipFill>
                          <a:blip r:embed="rId2"/>
                          <a:stretch>
                            <a:fillRect l="-202410" t="-304167" r="-406024" b="-320833"/>
                          </a:stretch>
                        </a:blipFill>
                      </a:tcPr>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endParaRPr lang="zh-CN"/>
                        </a:p>
                      </a:txBody>
                      <a:tcPr marL="107181" marR="107181" marT="53591" marB="53591">
                        <a:blipFill>
                          <a:blip r:embed="rId2"/>
                          <a:stretch>
                            <a:fillRect l="-402410" t="-304167" r="-206024" b="-320833"/>
                          </a:stretch>
                        </a:blipFill>
                      </a:tcPr>
                    </a:tc>
                    <a:tc>
                      <a:txBody>
                        <a:bodyPr/>
                        <a:lstStyle/>
                        <a:p>
                          <a:pPr algn="ctr"/>
                          <a:r>
                            <a:rPr lang="en-US" altLang="zh-CN" sz="2100" dirty="0" smtClean="0">
                              <a:solidFill>
                                <a:schemeClr val="bg2"/>
                              </a:solidFill>
                            </a:rPr>
                            <a:t>5</a:t>
                          </a:r>
                          <a:endParaRPr lang="zh-CN" altLang="en-US" sz="2100" dirty="0">
                            <a:solidFill>
                              <a:schemeClr val="bg2"/>
                            </a:solidFill>
                          </a:endParaRPr>
                        </a:p>
                      </a:txBody>
                      <a:tcPr marL="107181" marR="107181" marT="53591" marB="53591"/>
                    </a:tc>
                    <a:tc>
                      <a:txBody>
                        <a:bodyPr/>
                        <a:lstStyle/>
                        <a:p>
                          <a:endParaRPr lang="zh-CN"/>
                        </a:p>
                      </a:txBody>
                      <a:tcPr marL="107181" marR="107181" marT="53591" marB="53591">
                        <a:blipFill>
                          <a:blip r:embed="rId2"/>
                          <a:stretch>
                            <a:fillRect l="-603614" t="-304167" r="-4819" b="-320833"/>
                          </a:stretch>
                        </a:blipFill>
                      </a:tcPr>
                    </a:tc>
                    <a:extLst>
                      <a:ext uri="{0D108BD9-81ED-4DB2-BD59-A6C34878D82A}">
                        <a16:rowId xmlns:a16="http://schemas.microsoft.com/office/drawing/2014/main" val="1183467348"/>
                      </a:ext>
                    </a:extLst>
                  </a:tr>
                  <a:tr h="434679">
                    <a:tc>
                      <a:txBody>
                        <a:bodyPr/>
                        <a:lstStyle/>
                        <a:p>
                          <a:pPr algn="ctr"/>
                          <a:r>
                            <a:rPr lang="en-US" altLang="zh-CN" sz="2100" dirty="0" smtClean="0">
                              <a:solidFill>
                                <a:schemeClr val="bg2"/>
                              </a:solidFill>
                            </a:rPr>
                            <a:t>4</a:t>
                          </a:r>
                          <a:endParaRPr lang="zh-CN" altLang="en-US" sz="2100" dirty="0">
                            <a:solidFill>
                              <a:schemeClr val="bg2"/>
                            </a:solidFill>
                          </a:endParaRPr>
                        </a:p>
                      </a:txBody>
                      <a:tcPr marL="107181" marR="107181" marT="53591" marB="53591"/>
                    </a:tc>
                    <a:tc>
                      <a:txBody>
                        <a:bodyPr/>
                        <a:lstStyle/>
                        <a:p>
                          <a:endParaRPr lang="zh-CN"/>
                        </a:p>
                      </a:txBody>
                      <a:tcPr marL="107181" marR="107181" marT="53591" marB="53591">
                        <a:blipFill>
                          <a:blip r:embed="rId2"/>
                          <a:stretch>
                            <a:fillRect l="-100000" t="-409859" r="-500000" b="-225352"/>
                          </a:stretch>
                        </a:blipFill>
                      </a:tcPr>
                    </a:tc>
                    <a:tc>
                      <a:txBody>
                        <a:bodyPr/>
                        <a:lstStyle/>
                        <a:p>
                          <a:endParaRPr lang="zh-CN"/>
                        </a:p>
                      </a:txBody>
                      <a:tcPr marL="107181" marR="107181" marT="53591" marB="53591">
                        <a:blipFill>
                          <a:blip r:embed="rId2"/>
                          <a:stretch>
                            <a:fillRect l="-202410" t="-409859" r="-406024" b="-225352"/>
                          </a:stretch>
                        </a:blipFill>
                      </a:tcPr>
                    </a:tc>
                    <a:tc>
                      <a:txBody>
                        <a:bodyPr/>
                        <a:lstStyle/>
                        <a:p>
                          <a:pPr algn="ctr"/>
                          <a:r>
                            <a:rPr lang="en-US" altLang="zh-CN" sz="2100" dirty="0" smtClean="0">
                              <a:solidFill>
                                <a:schemeClr val="bg2"/>
                              </a:solidFill>
                            </a:rPr>
                            <a:t>4</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13</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5</a:t>
                          </a:r>
                          <a:endParaRPr lang="zh-CN" altLang="en-US" sz="2100" dirty="0">
                            <a:solidFill>
                              <a:schemeClr val="bg2"/>
                            </a:solidFill>
                          </a:endParaRPr>
                        </a:p>
                      </a:txBody>
                      <a:tcPr marL="107181" marR="107181" marT="53591" marB="53591"/>
                    </a:tc>
                    <a:extLst>
                      <a:ext uri="{0D108BD9-81ED-4DB2-BD59-A6C34878D82A}">
                        <a16:rowId xmlns:a16="http://schemas.microsoft.com/office/drawing/2014/main" val="324011288"/>
                      </a:ext>
                    </a:extLst>
                  </a:tr>
                  <a:tr h="434679">
                    <a:tc>
                      <a:txBody>
                        <a:bodyPr/>
                        <a:lstStyle/>
                        <a:p>
                          <a:pPr algn="ctr"/>
                          <a:r>
                            <a:rPr lang="en-US" altLang="zh-CN" sz="2100" dirty="0" smtClean="0">
                              <a:solidFill>
                                <a:schemeClr val="bg2"/>
                              </a:solidFill>
                            </a:rPr>
                            <a:t>5</a:t>
                          </a:r>
                          <a:endParaRPr lang="zh-CN" altLang="en-US" sz="2100" dirty="0">
                            <a:solidFill>
                              <a:schemeClr val="bg2"/>
                            </a:solidFill>
                          </a:endParaRPr>
                        </a:p>
                      </a:txBody>
                      <a:tcPr marL="107181" marR="107181" marT="53591" marB="53591"/>
                    </a:tc>
                    <a:tc>
                      <a:txBody>
                        <a:bodyPr/>
                        <a:lstStyle/>
                        <a:p>
                          <a:endParaRPr lang="zh-CN"/>
                        </a:p>
                      </a:txBody>
                      <a:tcPr marL="107181" marR="107181" marT="53591" marB="53591">
                        <a:blipFill>
                          <a:blip r:embed="rId2"/>
                          <a:stretch>
                            <a:fillRect l="-100000" t="-502778" r="-500000" b="-122222"/>
                          </a:stretch>
                        </a:blipFill>
                      </a:tcPr>
                    </a:tc>
                    <a:tc>
                      <a:txBody>
                        <a:bodyPr/>
                        <a:lstStyle/>
                        <a:p>
                          <a:endParaRPr lang="zh-CN"/>
                        </a:p>
                      </a:txBody>
                      <a:tcPr marL="107181" marR="107181" marT="53591" marB="53591">
                        <a:blipFill>
                          <a:blip r:embed="rId2"/>
                          <a:stretch>
                            <a:fillRect l="-202410" t="-502778" r="-406024" b="-122222"/>
                          </a:stretch>
                        </a:blipFill>
                      </a:tcPr>
                    </a:tc>
                    <a:tc>
                      <a:txBody>
                        <a:bodyPr/>
                        <a:lstStyle/>
                        <a:p>
                          <a:endParaRPr lang="zh-CN"/>
                        </a:p>
                      </a:txBody>
                      <a:tcPr marL="107181" marR="107181" marT="53591" marB="53591">
                        <a:blipFill>
                          <a:blip r:embed="rId2"/>
                          <a:stretch>
                            <a:fillRect l="-302410" t="-502778" r="-306024" b="-122222"/>
                          </a:stretch>
                        </a:blipFill>
                      </a:tcPr>
                    </a:tc>
                    <a:tc>
                      <a:txBody>
                        <a:bodyPr/>
                        <a:lstStyle/>
                        <a:p>
                          <a:endParaRPr lang="zh-CN"/>
                        </a:p>
                      </a:txBody>
                      <a:tcPr marL="107181" marR="107181" marT="53591" marB="53591">
                        <a:blipFill>
                          <a:blip r:embed="rId2"/>
                          <a:stretch>
                            <a:fillRect l="-402410" t="-502778" r="-206024" b="-122222"/>
                          </a:stretch>
                        </a:blipFill>
                      </a:tcPr>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4</a:t>
                          </a:r>
                          <a:endParaRPr lang="zh-CN" altLang="en-US" sz="2100" dirty="0">
                            <a:solidFill>
                              <a:schemeClr val="bg2"/>
                            </a:solidFill>
                          </a:endParaRPr>
                        </a:p>
                      </a:txBody>
                      <a:tcPr marL="107181" marR="107181" marT="53591" marB="53591"/>
                    </a:tc>
                    <a:extLst>
                      <a:ext uri="{0D108BD9-81ED-4DB2-BD59-A6C34878D82A}">
                        <a16:rowId xmlns:a16="http://schemas.microsoft.com/office/drawing/2014/main" val="3417095984"/>
                      </a:ext>
                    </a:extLst>
                  </a:tr>
                  <a:tr h="434679">
                    <a:tc>
                      <a:txBody>
                        <a:bodyPr/>
                        <a:lstStyle/>
                        <a:p>
                          <a:pPr algn="ctr"/>
                          <a:r>
                            <a:rPr lang="en-US" altLang="zh-CN" sz="2100" dirty="0" smtClean="0">
                              <a:solidFill>
                                <a:schemeClr val="bg2"/>
                              </a:solidFill>
                            </a:rPr>
                            <a:t>6</a:t>
                          </a:r>
                          <a:endParaRPr lang="zh-CN" altLang="en-US" sz="2100" dirty="0">
                            <a:solidFill>
                              <a:schemeClr val="bg2"/>
                            </a:solidFill>
                          </a:endParaRPr>
                        </a:p>
                      </a:txBody>
                      <a:tcPr marL="107181" marR="107181" marT="53591" marB="53591"/>
                    </a:tc>
                    <a:tc>
                      <a:txBody>
                        <a:bodyPr/>
                        <a:lstStyle/>
                        <a:p>
                          <a:endParaRPr lang="zh-CN"/>
                        </a:p>
                      </a:txBody>
                      <a:tcPr marL="107181" marR="107181" marT="53591" marB="53591">
                        <a:blipFill>
                          <a:blip r:embed="rId2"/>
                          <a:stretch>
                            <a:fillRect l="-100000" t="-611268" r="-500000" b="-23944"/>
                          </a:stretch>
                        </a:blipFill>
                      </a:tcPr>
                    </a:tc>
                    <a:tc>
                      <a:txBody>
                        <a:bodyPr/>
                        <a:lstStyle/>
                        <a:p>
                          <a:endParaRPr lang="zh-CN"/>
                        </a:p>
                      </a:txBody>
                      <a:tcPr marL="107181" marR="107181" marT="53591" marB="53591">
                        <a:blipFill>
                          <a:blip r:embed="rId2"/>
                          <a:stretch>
                            <a:fillRect l="-202410" t="-611268" r="-406024" b="-23944"/>
                          </a:stretch>
                        </a:blipFill>
                      </a:tcPr>
                    </a:tc>
                    <a:tc>
                      <a:txBody>
                        <a:bodyPr/>
                        <a:lstStyle/>
                        <a:p>
                          <a:endParaRPr lang="zh-CN"/>
                        </a:p>
                      </a:txBody>
                      <a:tcPr marL="107181" marR="107181" marT="53591" marB="53591">
                        <a:blipFill>
                          <a:blip r:embed="rId2"/>
                          <a:stretch>
                            <a:fillRect l="-302410" t="-611268" r="-306024" b="-23944"/>
                          </a:stretch>
                        </a:blipFill>
                      </a:tcPr>
                    </a:tc>
                    <a:tc>
                      <a:txBody>
                        <a:bodyPr/>
                        <a:lstStyle/>
                        <a:p>
                          <a:endParaRPr lang="zh-CN"/>
                        </a:p>
                      </a:txBody>
                      <a:tcPr marL="107181" marR="107181" marT="53591" marB="53591">
                        <a:blipFill>
                          <a:blip r:embed="rId2"/>
                          <a:stretch>
                            <a:fillRect l="-402410" t="-611268" r="-206024" b="-23944"/>
                          </a:stretch>
                        </a:blipFill>
                      </a:tcPr>
                    </a:tc>
                    <a:tc>
                      <a:txBody>
                        <a:bodyPr/>
                        <a:lstStyle/>
                        <a:p>
                          <a:endParaRPr lang="zh-CN"/>
                        </a:p>
                      </a:txBody>
                      <a:tcPr marL="107181" marR="107181" marT="53591" marB="53591">
                        <a:blipFill>
                          <a:blip r:embed="rId2"/>
                          <a:stretch>
                            <a:fillRect l="-496429" t="-611268" r="-103571" b="-23944"/>
                          </a:stretch>
                        </a:blipFill>
                      </a:tcPr>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extLst>
                      <a:ext uri="{0D108BD9-81ED-4DB2-BD59-A6C34878D82A}">
                        <a16:rowId xmlns:a16="http://schemas.microsoft.com/office/drawing/2014/main" val="2057619087"/>
                      </a:ext>
                    </a:extLst>
                  </a:tr>
                </a:tbl>
              </a:graphicData>
            </a:graphic>
          </p:graphicFrame>
        </mc:Fallback>
      </mc:AlternateContent>
    </p:spTree>
    <p:extLst>
      <p:ext uri="{BB962C8B-B14F-4D97-AF65-F5344CB8AC3E}">
        <p14:creationId xmlns:p14="http://schemas.microsoft.com/office/powerpoint/2010/main" val="4519283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4" name="表格 3"/>
              <p:cNvGraphicFramePr>
                <a:graphicFrameLocks noGrp="1"/>
              </p:cNvGraphicFramePr>
              <p:nvPr>
                <p:extLst>
                  <p:ext uri="{D42A27DB-BD31-4B8C-83A1-F6EECF244321}">
                    <p14:modId xmlns:p14="http://schemas.microsoft.com/office/powerpoint/2010/main" val="2172396094"/>
                  </p:ext>
                </p:extLst>
              </p:nvPr>
            </p:nvGraphicFramePr>
            <p:xfrm>
              <a:off x="7377545" y="670016"/>
              <a:ext cx="2455470" cy="736600"/>
            </p:xfrm>
            <a:graphic>
              <a:graphicData uri="http://schemas.openxmlformats.org/drawingml/2006/table">
                <a:tbl>
                  <a:tblPr firstRow="1" bandRow="1">
                    <a:tableStyleId>{5C22544A-7EE6-4342-B048-85BDC9FD1C3A}</a:tableStyleId>
                  </a:tblPr>
                  <a:tblGrid>
                    <a:gridCol w="409245">
                      <a:extLst>
                        <a:ext uri="{9D8B030D-6E8A-4147-A177-3AD203B41FA5}">
                          <a16:colId xmlns:a16="http://schemas.microsoft.com/office/drawing/2014/main" val="3458930630"/>
                        </a:ext>
                      </a:extLst>
                    </a:gridCol>
                    <a:gridCol w="409245">
                      <a:extLst>
                        <a:ext uri="{9D8B030D-6E8A-4147-A177-3AD203B41FA5}">
                          <a16:colId xmlns:a16="http://schemas.microsoft.com/office/drawing/2014/main" val="3751536738"/>
                        </a:ext>
                      </a:extLst>
                    </a:gridCol>
                    <a:gridCol w="409245">
                      <a:extLst>
                        <a:ext uri="{9D8B030D-6E8A-4147-A177-3AD203B41FA5}">
                          <a16:colId xmlns:a16="http://schemas.microsoft.com/office/drawing/2014/main" val="202188960"/>
                        </a:ext>
                      </a:extLst>
                    </a:gridCol>
                    <a:gridCol w="409245">
                      <a:extLst>
                        <a:ext uri="{9D8B030D-6E8A-4147-A177-3AD203B41FA5}">
                          <a16:colId xmlns:a16="http://schemas.microsoft.com/office/drawing/2014/main" val="4142623678"/>
                        </a:ext>
                      </a:extLst>
                    </a:gridCol>
                    <a:gridCol w="409245">
                      <a:extLst>
                        <a:ext uri="{9D8B030D-6E8A-4147-A177-3AD203B41FA5}">
                          <a16:colId xmlns:a16="http://schemas.microsoft.com/office/drawing/2014/main" val="57359619"/>
                        </a:ext>
                      </a:extLst>
                    </a:gridCol>
                    <a:gridCol w="409245">
                      <a:extLst>
                        <a:ext uri="{9D8B030D-6E8A-4147-A177-3AD203B41FA5}">
                          <a16:colId xmlns:a16="http://schemas.microsoft.com/office/drawing/2014/main" val="2568759967"/>
                        </a:ext>
                      </a:extLst>
                    </a:gridCol>
                  </a:tblGrid>
                  <a:tr h="333304">
                    <a:tc>
                      <a:txBody>
                        <a:bodyPr/>
                        <a:lstStyle/>
                        <a:p>
                          <a:pPr algn="ctr"/>
                          <a:r>
                            <a:rPr lang="en-US" altLang="zh-CN" dirty="0" smtClean="0"/>
                            <a:t>1</a:t>
                          </a:r>
                          <a:endParaRPr lang="zh-CN" altLang="en-US" dirty="0"/>
                        </a:p>
                      </a:txBody>
                      <a:tcPr/>
                    </a:tc>
                    <a:tc>
                      <a:txBody>
                        <a:bodyPr/>
                        <a:lstStyle/>
                        <a:p>
                          <a:pPr algn="ctr"/>
                          <a:r>
                            <a:rPr lang="en-US" altLang="zh-CN" dirty="0" smtClean="0"/>
                            <a:t>2</a:t>
                          </a:r>
                          <a:endParaRPr lang="zh-CN" altLang="en-US" dirty="0"/>
                        </a:p>
                      </a:txBody>
                      <a:tcPr/>
                    </a:tc>
                    <a:tc>
                      <a:txBody>
                        <a:bodyPr/>
                        <a:lstStyle/>
                        <a:p>
                          <a:pPr algn="ctr"/>
                          <a:r>
                            <a:rPr lang="en-US" altLang="zh-CN" dirty="0" smtClean="0"/>
                            <a:t>3</a:t>
                          </a:r>
                          <a:endParaRPr lang="zh-CN" altLang="en-US" dirty="0"/>
                        </a:p>
                      </a:txBody>
                      <a:tcPr/>
                    </a:tc>
                    <a:tc>
                      <a:txBody>
                        <a:bodyPr/>
                        <a:lstStyle/>
                        <a:p>
                          <a:pPr algn="ctr"/>
                          <a:r>
                            <a:rPr lang="en-US" altLang="zh-CN" dirty="0" smtClean="0"/>
                            <a:t>4</a:t>
                          </a:r>
                          <a:endParaRPr lang="zh-CN" altLang="en-US" dirty="0"/>
                        </a:p>
                      </a:txBody>
                      <a:tcPr/>
                    </a:tc>
                    <a:tc>
                      <a:txBody>
                        <a:bodyPr/>
                        <a:lstStyle/>
                        <a:p>
                          <a:pPr algn="ctr"/>
                          <a:r>
                            <a:rPr lang="en-US" altLang="zh-CN" dirty="0" smtClean="0"/>
                            <a:t>5</a:t>
                          </a:r>
                          <a:endParaRPr lang="zh-CN" altLang="en-US" dirty="0"/>
                        </a:p>
                      </a:txBody>
                      <a:tcPr/>
                    </a:tc>
                    <a:tc>
                      <a:txBody>
                        <a:bodyPr/>
                        <a:lstStyle/>
                        <a:p>
                          <a:pPr algn="ctr"/>
                          <a:r>
                            <a:rPr lang="en-US" altLang="zh-CN" dirty="0" smtClean="0"/>
                            <a:t>6</a:t>
                          </a:r>
                          <a:endParaRPr lang="zh-CN" altLang="en-US" dirty="0"/>
                        </a:p>
                      </a:txBody>
                      <a:tcPr/>
                    </a:tc>
                    <a:extLst>
                      <a:ext uri="{0D108BD9-81ED-4DB2-BD59-A6C34878D82A}">
                        <a16:rowId xmlns:a16="http://schemas.microsoft.com/office/drawing/2014/main" val="1749628763"/>
                      </a:ext>
                    </a:extLst>
                  </a:tr>
                  <a:tr h="370840">
                    <a:tc>
                      <a:txBody>
                        <a:bodyPr/>
                        <a:lstStyle/>
                        <a:p>
                          <a:pPr algn="ctr"/>
                          <a:r>
                            <a:rPr lang="en-US" altLang="zh-CN" dirty="0" smtClean="0">
                              <a:solidFill>
                                <a:schemeClr val="bg2"/>
                              </a:solidFill>
                            </a:rPr>
                            <a:t>0</a:t>
                          </a:r>
                          <a:endParaRPr lang="zh-CN" altLang="en-US" dirty="0">
                            <a:solidFill>
                              <a:schemeClr val="bg2"/>
                            </a:solidFill>
                          </a:endParaRPr>
                        </a:p>
                      </a:txBody>
                      <a:tcPr/>
                    </a:tc>
                    <a:tc>
                      <a:txBody>
                        <a:bodyPr/>
                        <a:lstStyle/>
                        <a:p>
                          <a:pPr algn="ctr"/>
                          <a:r>
                            <a:rPr lang="en-US" altLang="zh-CN" dirty="0" smtClean="0">
                              <a:solidFill>
                                <a:schemeClr val="bg2"/>
                              </a:solidFill>
                            </a:rPr>
                            <a:t>1</a:t>
                          </a:r>
                          <a:endParaRPr lang="zh-CN" altLang="en-US" dirty="0">
                            <a:solidFill>
                              <a:schemeClr val="bg2"/>
                            </a:solidFill>
                          </a:endParaRPr>
                        </a:p>
                      </a:txBody>
                      <a:tcPr/>
                    </a:tc>
                    <a:tc>
                      <a:txBody>
                        <a:bodyPr/>
                        <a:lstStyle/>
                        <a:p>
                          <a:pPr algn="ctr"/>
                          <a:r>
                            <a:rPr lang="en-US" altLang="zh-CN" sz="1600" dirty="0" smtClean="0">
                              <a:solidFill>
                                <a:schemeClr val="bg2"/>
                              </a:solidFill>
                            </a:rPr>
                            <a:t>12</a:t>
                          </a:r>
                          <a:endParaRPr lang="zh-CN" altLang="en-US" dirty="0">
                            <a:solidFill>
                              <a:schemeClr val="bg2"/>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CN" altLang="en-US" sz="1800" i="1" smtClean="0">
                                    <a:solidFill>
                                      <a:schemeClr val="bg2"/>
                                    </a:solidFill>
                                    <a:latin typeface="Cambria Math" panose="02040503050406030204" pitchFamily="18" charset="0"/>
                                  </a:rPr>
                                  <m:t>∞</m:t>
                                </m:r>
                              </m:oMath>
                            </m:oMathPara>
                          </a14:m>
                          <a:endParaRPr lang="zh-CN" altLang="en-US" sz="1800" dirty="0">
                            <a:solidFill>
                              <a:schemeClr val="bg2"/>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zh-CN" altLang="en-US" sz="1800" i="1" smtClean="0">
                                    <a:solidFill>
                                      <a:schemeClr val="bg2"/>
                                    </a:solidFill>
                                    <a:latin typeface="Cambria Math" panose="02040503050406030204" pitchFamily="18" charset="0"/>
                                  </a:rPr>
                                  <m:t>∞</m:t>
                                </m:r>
                              </m:oMath>
                            </m:oMathPara>
                          </a14:m>
                          <a:endParaRPr lang="zh-CN" altLang="en-US" dirty="0"/>
                        </a:p>
                      </a:txBody>
                      <a:tcPr/>
                    </a:tc>
                    <a:tc>
                      <a:txBody>
                        <a:bodyPr/>
                        <a:lstStyle/>
                        <a:p>
                          <a:pPr algn="ctr"/>
                          <a14:m>
                            <m:oMathPara xmlns:m="http://schemas.openxmlformats.org/officeDocument/2006/math">
                              <m:oMathParaPr>
                                <m:jc m:val="centerGroup"/>
                              </m:oMathParaPr>
                              <m:oMath xmlns:m="http://schemas.openxmlformats.org/officeDocument/2006/math">
                                <m:r>
                                  <a:rPr lang="zh-CN" altLang="en-US" sz="1800" i="1" smtClean="0">
                                    <a:solidFill>
                                      <a:schemeClr val="bg2"/>
                                    </a:solidFill>
                                    <a:latin typeface="Cambria Math" panose="02040503050406030204" pitchFamily="18" charset="0"/>
                                  </a:rPr>
                                  <m:t>∞</m:t>
                                </m:r>
                              </m:oMath>
                            </m:oMathPara>
                          </a14:m>
                          <a:endParaRPr lang="zh-CN" altLang="en-US" dirty="0"/>
                        </a:p>
                      </a:txBody>
                      <a:tcPr/>
                    </a:tc>
                    <a:extLst>
                      <a:ext uri="{0D108BD9-81ED-4DB2-BD59-A6C34878D82A}">
                        <a16:rowId xmlns:a16="http://schemas.microsoft.com/office/drawing/2014/main" val="2308643076"/>
                      </a:ext>
                    </a:extLst>
                  </a:tr>
                </a:tbl>
              </a:graphicData>
            </a:graphic>
          </p:graphicFrame>
        </mc:Choice>
        <mc:Fallback>
          <p:graphicFrame>
            <p:nvGraphicFramePr>
              <p:cNvPr id="4" name="表格 3"/>
              <p:cNvGraphicFramePr>
                <a:graphicFrameLocks noGrp="1"/>
              </p:cNvGraphicFramePr>
              <p:nvPr>
                <p:extLst>
                  <p:ext uri="{D42A27DB-BD31-4B8C-83A1-F6EECF244321}">
                    <p14:modId xmlns:p14="http://schemas.microsoft.com/office/powerpoint/2010/main" val="2172396094"/>
                  </p:ext>
                </p:extLst>
              </p:nvPr>
            </p:nvGraphicFramePr>
            <p:xfrm>
              <a:off x="7377545" y="670016"/>
              <a:ext cx="2455470" cy="736600"/>
            </p:xfrm>
            <a:graphic>
              <a:graphicData uri="http://schemas.openxmlformats.org/drawingml/2006/table">
                <a:tbl>
                  <a:tblPr firstRow="1" bandRow="1">
                    <a:tableStyleId>{5C22544A-7EE6-4342-B048-85BDC9FD1C3A}</a:tableStyleId>
                  </a:tblPr>
                  <a:tblGrid>
                    <a:gridCol w="409245">
                      <a:extLst>
                        <a:ext uri="{9D8B030D-6E8A-4147-A177-3AD203B41FA5}">
                          <a16:colId xmlns:a16="http://schemas.microsoft.com/office/drawing/2014/main" val="3458930630"/>
                        </a:ext>
                      </a:extLst>
                    </a:gridCol>
                    <a:gridCol w="409245">
                      <a:extLst>
                        <a:ext uri="{9D8B030D-6E8A-4147-A177-3AD203B41FA5}">
                          <a16:colId xmlns:a16="http://schemas.microsoft.com/office/drawing/2014/main" val="3751536738"/>
                        </a:ext>
                      </a:extLst>
                    </a:gridCol>
                    <a:gridCol w="409245">
                      <a:extLst>
                        <a:ext uri="{9D8B030D-6E8A-4147-A177-3AD203B41FA5}">
                          <a16:colId xmlns:a16="http://schemas.microsoft.com/office/drawing/2014/main" val="202188960"/>
                        </a:ext>
                      </a:extLst>
                    </a:gridCol>
                    <a:gridCol w="409245">
                      <a:extLst>
                        <a:ext uri="{9D8B030D-6E8A-4147-A177-3AD203B41FA5}">
                          <a16:colId xmlns:a16="http://schemas.microsoft.com/office/drawing/2014/main" val="4142623678"/>
                        </a:ext>
                      </a:extLst>
                    </a:gridCol>
                    <a:gridCol w="409245">
                      <a:extLst>
                        <a:ext uri="{9D8B030D-6E8A-4147-A177-3AD203B41FA5}">
                          <a16:colId xmlns:a16="http://schemas.microsoft.com/office/drawing/2014/main" val="57359619"/>
                        </a:ext>
                      </a:extLst>
                    </a:gridCol>
                    <a:gridCol w="409245">
                      <a:extLst>
                        <a:ext uri="{9D8B030D-6E8A-4147-A177-3AD203B41FA5}">
                          <a16:colId xmlns:a16="http://schemas.microsoft.com/office/drawing/2014/main" val="2568759967"/>
                        </a:ext>
                      </a:extLst>
                    </a:gridCol>
                  </a:tblGrid>
                  <a:tr h="365760">
                    <a:tc>
                      <a:txBody>
                        <a:bodyPr/>
                        <a:lstStyle/>
                        <a:p>
                          <a:pPr algn="ctr"/>
                          <a:r>
                            <a:rPr lang="en-US" altLang="zh-CN" dirty="0" smtClean="0"/>
                            <a:t>1</a:t>
                          </a:r>
                          <a:endParaRPr lang="zh-CN" altLang="en-US" dirty="0"/>
                        </a:p>
                      </a:txBody>
                      <a:tcPr/>
                    </a:tc>
                    <a:tc>
                      <a:txBody>
                        <a:bodyPr/>
                        <a:lstStyle/>
                        <a:p>
                          <a:pPr algn="ctr"/>
                          <a:r>
                            <a:rPr lang="en-US" altLang="zh-CN" dirty="0" smtClean="0"/>
                            <a:t>2</a:t>
                          </a:r>
                          <a:endParaRPr lang="zh-CN" altLang="en-US" dirty="0"/>
                        </a:p>
                      </a:txBody>
                      <a:tcPr/>
                    </a:tc>
                    <a:tc>
                      <a:txBody>
                        <a:bodyPr/>
                        <a:lstStyle/>
                        <a:p>
                          <a:pPr algn="ctr"/>
                          <a:r>
                            <a:rPr lang="en-US" altLang="zh-CN" dirty="0" smtClean="0"/>
                            <a:t>3</a:t>
                          </a:r>
                          <a:endParaRPr lang="zh-CN" altLang="en-US" dirty="0"/>
                        </a:p>
                      </a:txBody>
                      <a:tcPr/>
                    </a:tc>
                    <a:tc>
                      <a:txBody>
                        <a:bodyPr/>
                        <a:lstStyle/>
                        <a:p>
                          <a:pPr algn="ctr"/>
                          <a:r>
                            <a:rPr lang="en-US" altLang="zh-CN" dirty="0" smtClean="0"/>
                            <a:t>4</a:t>
                          </a:r>
                          <a:endParaRPr lang="zh-CN" altLang="en-US" dirty="0"/>
                        </a:p>
                      </a:txBody>
                      <a:tcPr/>
                    </a:tc>
                    <a:tc>
                      <a:txBody>
                        <a:bodyPr/>
                        <a:lstStyle/>
                        <a:p>
                          <a:pPr algn="ctr"/>
                          <a:r>
                            <a:rPr lang="en-US" altLang="zh-CN" dirty="0" smtClean="0"/>
                            <a:t>5</a:t>
                          </a:r>
                          <a:endParaRPr lang="zh-CN" altLang="en-US" dirty="0"/>
                        </a:p>
                      </a:txBody>
                      <a:tcPr/>
                    </a:tc>
                    <a:tc>
                      <a:txBody>
                        <a:bodyPr/>
                        <a:lstStyle/>
                        <a:p>
                          <a:pPr algn="ctr"/>
                          <a:r>
                            <a:rPr lang="en-US" altLang="zh-CN" dirty="0" smtClean="0"/>
                            <a:t>6</a:t>
                          </a:r>
                          <a:endParaRPr lang="zh-CN" altLang="en-US" dirty="0"/>
                        </a:p>
                      </a:txBody>
                      <a:tcPr/>
                    </a:tc>
                    <a:extLst>
                      <a:ext uri="{0D108BD9-81ED-4DB2-BD59-A6C34878D82A}">
                        <a16:rowId xmlns:a16="http://schemas.microsoft.com/office/drawing/2014/main" val="1749628763"/>
                      </a:ext>
                    </a:extLst>
                  </a:tr>
                  <a:tr h="370840">
                    <a:tc>
                      <a:txBody>
                        <a:bodyPr/>
                        <a:lstStyle/>
                        <a:p>
                          <a:pPr algn="ctr"/>
                          <a:r>
                            <a:rPr lang="en-US" altLang="zh-CN" dirty="0" smtClean="0">
                              <a:solidFill>
                                <a:schemeClr val="bg2"/>
                              </a:solidFill>
                            </a:rPr>
                            <a:t>0</a:t>
                          </a:r>
                          <a:endParaRPr lang="zh-CN" altLang="en-US" dirty="0">
                            <a:solidFill>
                              <a:schemeClr val="bg2"/>
                            </a:solidFill>
                          </a:endParaRPr>
                        </a:p>
                      </a:txBody>
                      <a:tcPr/>
                    </a:tc>
                    <a:tc>
                      <a:txBody>
                        <a:bodyPr/>
                        <a:lstStyle/>
                        <a:p>
                          <a:pPr algn="ctr"/>
                          <a:r>
                            <a:rPr lang="en-US" altLang="zh-CN" dirty="0" smtClean="0">
                              <a:solidFill>
                                <a:schemeClr val="bg2"/>
                              </a:solidFill>
                            </a:rPr>
                            <a:t>1</a:t>
                          </a:r>
                          <a:endParaRPr lang="zh-CN" altLang="en-US" dirty="0">
                            <a:solidFill>
                              <a:schemeClr val="bg2"/>
                            </a:solidFill>
                          </a:endParaRPr>
                        </a:p>
                      </a:txBody>
                      <a:tcPr/>
                    </a:tc>
                    <a:tc>
                      <a:txBody>
                        <a:bodyPr/>
                        <a:lstStyle/>
                        <a:p>
                          <a:pPr algn="ctr"/>
                          <a:r>
                            <a:rPr lang="en-US" altLang="zh-CN" sz="1600" dirty="0" smtClean="0">
                              <a:solidFill>
                                <a:schemeClr val="bg2"/>
                              </a:solidFill>
                            </a:rPr>
                            <a:t>12</a:t>
                          </a:r>
                          <a:endParaRPr lang="zh-CN" altLang="en-US" dirty="0">
                            <a:solidFill>
                              <a:schemeClr val="bg2"/>
                            </a:solidFill>
                          </a:endParaRPr>
                        </a:p>
                      </a:txBody>
                      <a:tcPr/>
                    </a:tc>
                    <a:tc>
                      <a:txBody>
                        <a:bodyPr/>
                        <a:lstStyle/>
                        <a:p>
                          <a:endParaRPr lang="zh-CN"/>
                        </a:p>
                      </a:txBody>
                      <a:tcPr>
                        <a:blipFill>
                          <a:blip r:embed="rId2"/>
                          <a:stretch>
                            <a:fillRect l="-302985" t="-108197" r="-207463" b="-24590"/>
                          </a:stretch>
                        </a:blipFill>
                      </a:tcPr>
                    </a:tc>
                    <a:tc>
                      <a:txBody>
                        <a:bodyPr/>
                        <a:lstStyle/>
                        <a:p>
                          <a:endParaRPr lang="zh-CN"/>
                        </a:p>
                      </a:txBody>
                      <a:tcPr>
                        <a:blipFill>
                          <a:blip r:embed="rId2"/>
                          <a:stretch>
                            <a:fillRect l="-397059" t="-108197" r="-104412" b="-24590"/>
                          </a:stretch>
                        </a:blipFill>
                      </a:tcPr>
                    </a:tc>
                    <a:tc>
                      <a:txBody>
                        <a:bodyPr/>
                        <a:lstStyle/>
                        <a:p>
                          <a:endParaRPr lang="zh-CN"/>
                        </a:p>
                      </a:txBody>
                      <a:tcPr>
                        <a:blipFill>
                          <a:blip r:embed="rId2"/>
                          <a:stretch>
                            <a:fillRect l="-504478" t="-108197" r="-5970" b="-24590"/>
                          </a:stretch>
                        </a:blipFill>
                      </a:tcPr>
                    </a:tc>
                    <a:extLst>
                      <a:ext uri="{0D108BD9-81ED-4DB2-BD59-A6C34878D82A}">
                        <a16:rowId xmlns:a16="http://schemas.microsoft.com/office/drawing/2014/main" val="2308643076"/>
                      </a:ext>
                    </a:extLst>
                  </a:tr>
                </a:tbl>
              </a:graphicData>
            </a:graphic>
          </p:graphicFrame>
        </mc:Fallback>
      </mc:AlternateContent>
      <p:sp>
        <p:nvSpPr>
          <p:cNvPr id="5" name="圆角矩形 4"/>
          <p:cNvSpPr/>
          <p:nvPr/>
        </p:nvSpPr>
        <p:spPr>
          <a:xfrm>
            <a:off x="6266579" y="1013424"/>
            <a:ext cx="1110966" cy="393192"/>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distance</a:t>
            </a:r>
            <a:endParaRPr lang="zh-CN" altLang="en-US" dirty="0"/>
          </a:p>
        </p:txBody>
      </p:sp>
      <mc:AlternateContent xmlns:mc="http://schemas.openxmlformats.org/markup-compatibility/2006">
        <mc:Choice xmlns:a14="http://schemas.microsoft.com/office/drawing/2010/main" Requires="a14">
          <p:graphicFrame>
            <p:nvGraphicFramePr>
              <p:cNvPr id="6" name="表格 5"/>
              <p:cNvGraphicFramePr>
                <a:graphicFrameLocks noGrp="1"/>
              </p:cNvGraphicFramePr>
              <p:nvPr>
                <p:extLst>
                  <p:ext uri="{D42A27DB-BD31-4B8C-83A1-F6EECF244321}">
                    <p14:modId xmlns:p14="http://schemas.microsoft.com/office/powerpoint/2010/main" val="815368246"/>
                  </p:ext>
                </p:extLst>
              </p:nvPr>
            </p:nvGraphicFramePr>
            <p:xfrm>
              <a:off x="426435" y="433893"/>
              <a:ext cx="3548888" cy="3035296"/>
            </p:xfrm>
            <a:graphic>
              <a:graphicData uri="http://schemas.openxmlformats.org/drawingml/2006/table">
                <a:tbl>
                  <a:tblPr firstRow="1" bandRow="1">
                    <a:tableStyleId>{5C22544A-7EE6-4342-B048-85BDC9FD1C3A}</a:tableStyleId>
                  </a:tblPr>
                  <a:tblGrid>
                    <a:gridCol w="506984">
                      <a:extLst>
                        <a:ext uri="{9D8B030D-6E8A-4147-A177-3AD203B41FA5}">
                          <a16:colId xmlns:a16="http://schemas.microsoft.com/office/drawing/2014/main" val="4061350472"/>
                        </a:ext>
                      </a:extLst>
                    </a:gridCol>
                    <a:gridCol w="506984">
                      <a:extLst>
                        <a:ext uri="{9D8B030D-6E8A-4147-A177-3AD203B41FA5}">
                          <a16:colId xmlns:a16="http://schemas.microsoft.com/office/drawing/2014/main" val="4159630365"/>
                        </a:ext>
                      </a:extLst>
                    </a:gridCol>
                    <a:gridCol w="506984">
                      <a:extLst>
                        <a:ext uri="{9D8B030D-6E8A-4147-A177-3AD203B41FA5}">
                          <a16:colId xmlns:a16="http://schemas.microsoft.com/office/drawing/2014/main" val="1065648299"/>
                        </a:ext>
                      </a:extLst>
                    </a:gridCol>
                    <a:gridCol w="506984">
                      <a:extLst>
                        <a:ext uri="{9D8B030D-6E8A-4147-A177-3AD203B41FA5}">
                          <a16:colId xmlns:a16="http://schemas.microsoft.com/office/drawing/2014/main" val="1408633650"/>
                        </a:ext>
                      </a:extLst>
                    </a:gridCol>
                    <a:gridCol w="506984">
                      <a:extLst>
                        <a:ext uri="{9D8B030D-6E8A-4147-A177-3AD203B41FA5}">
                          <a16:colId xmlns:a16="http://schemas.microsoft.com/office/drawing/2014/main" val="338113249"/>
                        </a:ext>
                      </a:extLst>
                    </a:gridCol>
                    <a:gridCol w="506984">
                      <a:extLst>
                        <a:ext uri="{9D8B030D-6E8A-4147-A177-3AD203B41FA5}">
                          <a16:colId xmlns:a16="http://schemas.microsoft.com/office/drawing/2014/main" val="1550306496"/>
                        </a:ext>
                      </a:extLst>
                    </a:gridCol>
                    <a:gridCol w="506984">
                      <a:extLst>
                        <a:ext uri="{9D8B030D-6E8A-4147-A177-3AD203B41FA5}">
                          <a16:colId xmlns:a16="http://schemas.microsoft.com/office/drawing/2014/main" val="194276565"/>
                        </a:ext>
                      </a:extLst>
                    </a:gridCol>
                  </a:tblGrid>
                  <a:tr h="389466">
                    <a:tc>
                      <a:txBody>
                        <a:bodyPr/>
                        <a:lstStyle/>
                        <a:p>
                          <a:pPr algn="ctr"/>
                          <a:r>
                            <a:rPr lang="en-US" altLang="zh-CN" sz="900" dirty="0" smtClean="0"/>
                            <a:t>graph</a:t>
                          </a:r>
                          <a:endParaRPr lang="zh-CN" altLang="en-US" sz="800" dirty="0"/>
                        </a:p>
                      </a:txBody>
                      <a:tcPr marL="107181" marR="107181" marT="53591" marB="53591"/>
                    </a:tc>
                    <a:tc>
                      <a:txBody>
                        <a:bodyPr/>
                        <a:lstStyle/>
                        <a:p>
                          <a:pPr algn="ctr"/>
                          <a:r>
                            <a:rPr lang="en-US" altLang="zh-CN" sz="2100" dirty="0" smtClean="0"/>
                            <a:t>1</a:t>
                          </a:r>
                          <a:endParaRPr lang="zh-CN" altLang="en-US" sz="2100" dirty="0"/>
                        </a:p>
                      </a:txBody>
                      <a:tcPr marL="107181" marR="107181" marT="53591" marB="53591"/>
                    </a:tc>
                    <a:tc>
                      <a:txBody>
                        <a:bodyPr/>
                        <a:lstStyle/>
                        <a:p>
                          <a:pPr algn="ctr"/>
                          <a:r>
                            <a:rPr lang="en-US" altLang="zh-CN" sz="2100" dirty="0" smtClean="0"/>
                            <a:t>2</a:t>
                          </a:r>
                          <a:endParaRPr lang="zh-CN" altLang="en-US" sz="2100" dirty="0"/>
                        </a:p>
                      </a:txBody>
                      <a:tcPr marL="107181" marR="107181" marT="53591" marB="53591"/>
                    </a:tc>
                    <a:tc>
                      <a:txBody>
                        <a:bodyPr/>
                        <a:lstStyle/>
                        <a:p>
                          <a:pPr algn="ctr"/>
                          <a:r>
                            <a:rPr lang="en-US" altLang="zh-CN" sz="2100" dirty="0" smtClean="0"/>
                            <a:t>3</a:t>
                          </a:r>
                          <a:endParaRPr lang="zh-CN" altLang="en-US" sz="2100" dirty="0"/>
                        </a:p>
                      </a:txBody>
                      <a:tcPr marL="107181" marR="107181" marT="53591" marB="53591"/>
                    </a:tc>
                    <a:tc>
                      <a:txBody>
                        <a:bodyPr/>
                        <a:lstStyle/>
                        <a:p>
                          <a:pPr algn="ctr"/>
                          <a:r>
                            <a:rPr lang="en-US" altLang="zh-CN" sz="2100" dirty="0" smtClean="0"/>
                            <a:t>4</a:t>
                          </a:r>
                          <a:endParaRPr lang="zh-CN" altLang="en-US" sz="2100" dirty="0"/>
                        </a:p>
                      </a:txBody>
                      <a:tcPr marL="107181" marR="107181" marT="53591" marB="53591"/>
                    </a:tc>
                    <a:tc>
                      <a:txBody>
                        <a:bodyPr/>
                        <a:lstStyle/>
                        <a:p>
                          <a:pPr algn="ctr"/>
                          <a:r>
                            <a:rPr lang="en-US" altLang="zh-CN" sz="2100" dirty="0" smtClean="0"/>
                            <a:t>5</a:t>
                          </a:r>
                          <a:endParaRPr lang="zh-CN" altLang="en-US" sz="2100" dirty="0"/>
                        </a:p>
                      </a:txBody>
                      <a:tcPr marL="107181" marR="107181" marT="53591" marB="53591"/>
                    </a:tc>
                    <a:tc>
                      <a:txBody>
                        <a:bodyPr/>
                        <a:lstStyle/>
                        <a:p>
                          <a:pPr algn="ctr"/>
                          <a:r>
                            <a:rPr lang="en-US" altLang="zh-CN" sz="2100" dirty="0" smtClean="0"/>
                            <a:t>6</a:t>
                          </a:r>
                          <a:endParaRPr lang="zh-CN" altLang="en-US" sz="2100" dirty="0"/>
                        </a:p>
                      </a:txBody>
                      <a:tcPr marL="107181" marR="107181" marT="53591" marB="53591"/>
                    </a:tc>
                    <a:extLst>
                      <a:ext uri="{0D108BD9-81ED-4DB2-BD59-A6C34878D82A}">
                        <a16:rowId xmlns:a16="http://schemas.microsoft.com/office/drawing/2014/main" val="2401494370"/>
                      </a:ext>
                    </a:extLst>
                  </a:tr>
                  <a:tr h="434679">
                    <a:tc>
                      <a:txBody>
                        <a:bodyPr/>
                        <a:lstStyle/>
                        <a:p>
                          <a:pPr algn="ctr"/>
                          <a:r>
                            <a:rPr lang="en-US" altLang="zh-CN" sz="2100" dirty="0" smtClean="0">
                              <a:solidFill>
                                <a:schemeClr val="bg2"/>
                              </a:solidFill>
                            </a:rPr>
                            <a:t>1</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1</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12</a:t>
                          </a:r>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extLst>
                      <a:ext uri="{0D108BD9-81ED-4DB2-BD59-A6C34878D82A}">
                        <a16:rowId xmlns:a16="http://schemas.microsoft.com/office/drawing/2014/main" val="3286671699"/>
                      </a:ext>
                    </a:extLst>
                  </a:tr>
                  <a:tr h="434679">
                    <a:tc>
                      <a:txBody>
                        <a:bodyPr/>
                        <a:lstStyle/>
                        <a:p>
                          <a:pPr algn="ctr"/>
                          <a:r>
                            <a:rPr lang="en-US" altLang="zh-CN" sz="2100" dirty="0" smtClean="0">
                              <a:solidFill>
                                <a:schemeClr val="bg2"/>
                              </a:solidFill>
                            </a:rPr>
                            <a:t>2</a:t>
                          </a:r>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9</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3</a:t>
                          </a:r>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extLst>
                      <a:ext uri="{0D108BD9-81ED-4DB2-BD59-A6C34878D82A}">
                        <a16:rowId xmlns:a16="http://schemas.microsoft.com/office/drawing/2014/main" val="2746480506"/>
                      </a:ext>
                    </a:extLst>
                  </a:tr>
                  <a:tr h="434679">
                    <a:tc>
                      <a:txBody>
                        <a:bodyPr/>
                        <a:lstStyle/>
                        <a:p>
                          <a:pPr algn="ctr"/>
                          <a:r>
                            <a:rPr lang="en-US" altLang="zh-CN" sz="2100" dirty="0" smtClean="0">
                              <a:solidFill>
                                <a:schemeClr val="bg2"/>
                              </a:solidFill>
                            </a:rPr>
                            <a:t>3</a:t>
                          </a:r>
                          <a:endParaRPr lang="zh-CN" altLang="en-US" sz="2100" dirty="0">
                            <a:solidFill>
                              <a:schemeClr val="bg2"/>
                            </a:solidFill>
                          </a:endParaRPr>
                        </a:p>
                      </a:txBody>
                      <a:tcPr marL="107181" marR="107181" marT="53591" marB="5359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5</a:t>
                          </a:r>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extLst>
                      <a:ext uri="{0D108BD9-81ED-4DB2-BD59-A6C34878D82A}">
                        <a16:rowId xmlns:a16="http://schemas.microsoft.com/office/drawing/2014/main" val="1183467348"/>
                      </a:ext>
                    </a:extLst>
                  </a:tr>
                  <a:tr h="434679">
                    <a:tc>
                      <a:txBody>
                        <a:bodyPr/>
                        <a:lstStyle/>
                        <a:p>
                          <a:pPr algn="ctr"/>
                          <a:r>
                            <a:rPr lang="en-US" altLang="zh-CN" sz="2100" dirty="0" smtClean="0">
                              <a:solidFill>
                                <a:schemeClr val="bg2"/>
                              </a:solidFill>
                            </a:rPr>
                            <a:t>4</a:t>
                          </a:r>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4</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13</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5</a:t>
                          </a:r>
                          <a:endParaRPr lang="zh-CN" altLang="en-US" sz="2100" dirty="0">
                            <a:solidFill>
                              <a:schemeClr val="bg2"/>
                            </a:solidFill>
                          </a:endParaRPr>
                        </a:p>
                      </a:txBody>
                      <a:tcPr marL="107181" marR="107181" marT="53591" marB="53591"/>
                    </a:tc>
                    <a:extLst>
                      <a:ext uri="{0D108BD9-81ED-4DB2-BD59-A6C34878D82A}">
                        <a16:rowId xmlns:a16="http://schemas.microsoft.com/office/drawing/2014/main" val="324011288"/>
                      </a:ext>
                    </a:extLst>
                  </a:tr>
                  <a:tr h="434679">
                    <a:tc>
                      <a:txBody>
                        <a:bodyPr/>
                        <a:lstStyle/>
                        <a:p>
                          <a:pPr algn="ctr"/>
                          <a:r>
                            <a:rPr lang="en-US" altLang="zh-CN" sz="2100" dirty="0" smtClean="0">
                              <a:solidFill>
                                <a:schemeClr val="bg2"/>
                              </a:solidFill>
                            </a:rPr>
                            <a:t>5</a:t>
                          </a:r>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4</a:t>
                          </a:r>
                          <a:endParaRPr lang="zh-CN" altLang="en-US" sz="2100" dirty="0">
                            <a:solidFill>
                              <a:schemeClr val="bg2"/>
                            </a:solidFill>
                          </a:endParaRPr>
                        </a:p>
                      </a:txBody>
                      <a:tcPr marL="107181" marR="107181" marT="53591" marB="53591"/>
                    </a:tc>
                    <a:extLst>
                      <a:ext uri="{0D108BD9-81ED-4DB2-BD59-A6C34878D82A}">
                        <a16:rowId xmlns:a16="http://schemas.microsoft.com/office/drawing/2014/main" val="3417095984"/>
                      </a:ext>
                    </a:extLst>
                  </a:tr>
                  <a:tr h="434679">
                    <a:tc>
                      <a:txBody>
                        <a:bodyPr/>
                        <a:lstStyle/>
                        <a:p>
                          <a:pPr algn="ctr"/>
                          <a:r>
                            <a:rPr lang="en-US" altLang="zh-CN" sz="2100" dirty="0" smtClean="0">
                              <a:solidFill>
                                <a:schemeClr val="bg2"/>
                              </a:solidFill>
                            </a:rPr>
                            <a:t>6</a:t>
                          </a:r>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14:m>
                            <m:oMathPara xmlns:m="http://schemas.openxmlformats.org/officeDocument/2006/math">
                              <m:oMathParaPr>
                                <m:jc m:val="centerGroup"/>
                              </m:oMathParaPr>
                              <m:oMath xmlns:m="http://schemas.openxmlformats.org/officeDocument/2006/math">
                                <m:r>
                                  <a:rPr lang="zh-CN" altLang="en-US" sz="2100" i="1" smtClean="0">
                                    <a:solidFill>
                                      <a:schemeClr val="bg2"/>
                                    </a:solidFill>
                                    <a:latin typeface="Cambria Math" panose="02040503050406030204" pitchFamily="18" charset="0"/>
                                  </a:rPr>
                                  <m:t>∞</m:t>
                                </m:r>
                              </m:oMath>
                            </m:oMathPara>
                          </a14:m>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extLst>
                      <a:ext uri="{0D108BD9-81ED-4DB2-BD59-A6C34878D82A}">
                        <a16:rowId xmlns:a16="http://schemas.microsoft.com/office/drawing/2014/main" val="2057619087"/>
                      </a:ext>
                    </a:extLst>
                  </a:tr>
                </a:tbl>
              </a:graphicData>
            </a:graphic>
          </p:graphicFrame>
        </mc:Choice>
        <mc:Fallback>
          <p:graphicFrame>
            <p:nvGraphicFramePr>
              <p:cNvPr id="6" name="表格 5"/>
              <p:cNvGraphicFramePr>
                <a:graphicFrameLocks noGrp="1"/>
              </p:cNvGraphicFramePr>
              <p:nvPr>
                <p:extLst>
                  <p:ext uri="{D42A27DB-BD31-4B8C-83A1-F6EECF244321}">
                    <p14:modId xmlns:p14="http://schemas.microsoft.com/office/powerpoint/2010/main" val="815368246"/>
                  </p:ext>
                </p:extLst>
              </p:nvPr>
            </p:nvGraphicFramePr>
            <p:xfrm>
              <a:off x="426435" y="433893"/>
              <a:ext cx="3548888" cy="3035296"/>
            </p:xfrm>
            <a:graphic>
              <a:graphicData uri="http://schemas.openxmlformats.org/drawingml/2006/table">
                <a:tbl>
                  <a:tblPr firstRow="1" bandRow="1">
                    <a:tableStyleId>{5C22544A-7EE6-4342-B048-85BDC9FD1C3A}</a:tableStyleId>
                  </a:tblPr>
                  <a:tblGrid>
                    <a:gridCol w="506984">
                      <a:extLst>
                        <a:ext uri="{9D8B030D-6E8A-4147-A177-3AD203B41FA5}">
                          <a16:colId xmlns:a16="http://schemas.microsoft.com/office/drawing/2014/main" val="4061350472"/>
                        </a:ext>
                      </a:extLst>
                    </a:gridCol>
                    <a:gridCol w="506984">
                      <a:extLst>
                        <a:ext uri="{9D8B030D-6E8A-4147-A177-3AD203B41FA5}">
                          <a16:colId xmlns:a16="http://schemas.microsoft.com/office/drawing/2014/main" val="4159630365"/>
                        </a:ext>
                      </a:extLst>
                    </a:gridCol>
                    <a:gridCol w="506984">
                      <a:extLst>
                        <a:ext uri="{9D8B030D-6E8A-4147-A177-3AD203B41FA5}">
                          <a16:colId xmlns:a16="http://schemas.microsoft.com/office/drawing/2014/main" val="1065648299"/>
                        </a:ext>
                      </a:extLst>
                    </a:gridCol>
                    <a:gridCol w="506984">
                      <a:extLst>
                        <a:ext uri="{9D8B030D-6E8A-4147-A177-3AD203B41FA5}">
                          <a16:colId xmlns:a16="http://schemas.microsoft.com/office/drawing/2014/main" val="1408633650"/>
                        </a:ext>
                      </a:extLst>
                    </a:gridCol>
                    <a:gridCol w="506984">
                      <a:extLst>
                        <a:ext uri="{9D8B030D-6E8A-4147-A177-3AD203B41FA5}">
                          <a16:colId xmlns:a16="http://schemas.microsoft.com/office/drawing/2014/main" val="338113249"/>
                        </a:ext>
                      </a:extLst>
                    </a:gridCol>
                    <a:gridCol w="506984">
                      <a:extLst>
                        <a:ext uri="{9D8B030D-6E8A-4147-A177-3AD203B41FA5}">
                          <a16:colId xmlns:a16="http://schemas.microsoft.com/office/drawing/2014/main" val="1550306496"/>
                        </a:ext>
                      </a:extLst>
                    </a:gridCol>
                    <a:gridCol w="506984">
                      <a:extLst>
                        <a:ext uri="{9D8B030D-6E8A-4147-A177-3AD203B41FA5}">
                          <a16:colId xmlns:a16="http://schemas.microsoft.com/office/drawing/2014/main" val="194276565"/>
                        </a:ext>
                      </a:extLst>
                    </a:gridCol>
                  </a:tblGrid>
                  <a:tr h="427222">
                    <a:tc>
                      <a:txBody>
                        <a:bodyPr/>
                        <a:lstStyle/>
                        <a:p>
                          <a:pPr algn="ctr"/>
                          <a:r>
                            <a:rPr lang="en-US" altLang="zh-CN" sz="900" dirty="0" smtClean="0"/>
                            <a:t>graph</a:t>
                          </a:r>
                          <a:endParaRPr lang="zh-CN" altLang="en-US" sz="800" dirty="0"/>
                        </a:p>
                      </a:txBody>
                      <a:tcPr marL="107181" marR="107181" marT="53591" marB="53591"/>
                    </a:tc>
                    <a:tc>
                      <a:txBody>
                        <a:bodyPr/>
                        <a:lstStyle/>
                        <a:p>
                          <a:pPr algn="ctr"/>
                          <a:r>
                            <a:rPr lang="en-US" altLang="zh-CN" sz="2100" dirty="0" smtClean="0"/>
                            <a:t>1</a:t>
                          </a:r>
                          <a:endParaRPr lang="zh-CN" altLang="en-US" sz="2100" dirty="0"/>
                        </a:p>
                      </a:txBody>
                      <a:tcPr marL="107181" marR="107181" marT="53591" marB="53591"/>
                    </a:tc>
                    <a:tc>
                      <a:txBody>
                        <a:bodyPr/>
                        <a:lstStyle/>
                        <a:p>
                          <a:pPr algn="ctr"/>
                          <a:r>
                            <a:rPr lang="en-US" altLang="zh-CN" sz="2100" dirty="0" smtClean="0"/>
                            <a:t>2</a:t>
                          </a:r>
                          <a:endParaRPr lang="zh-CN" altLang="en-US" sz="2100" dirty="0"/>
                        </a:p>
                      </a:txBody>
                      <a:tcPr marL="107181" marR="107181" marT="53591" marB="53591"/>
                    </a:tc>
                    <a:tc>
                      <a:txBody>
                        <a:bodyPr/>
                        <a:lstStyle/>
                        <a:p>
                          <a:pPr algn="ctr"/>
                          <a:r>
                            <a:rPr lang="en-US" altLang="zh-CN" sz="2100" dirty="0" smtClean="0"/>
                            <a:t>3</a:t>
                          </a:r>
                          <a:endParaRPr lang="zh-CN" altLang="en-US" sz="2100" dirty="0"/>
                        </a:p>
                      </a:txBody>
                      <a:tcPr marL="107181" marR="107181" marT="53591" marB="53591"/>
                    </a:tc>
                    <a:tc>
                      <a:txBody>
                        <a:bodyPr/>
                        <a:lstStyle/>
                        <a:p>
                          <a:pPr algn="ctr"/>
                          <a:r>
                            <a:rPr lang="en-US" altLang="zh-CN" sz="2100" dirty="0" smtClean="0"/>
                            <a:t>4</a:t>
                          </a:r>
                          <a:endParaRPr lang="zh-CN" altLang="en-US" sz="2100" dirty="0"/>
                        </a:p>
                      </a:txBody>
                      <a:tcPr marL="107181" marR="107181" marT="53591" marB="53591"/>
                    </a:tc>
                    <a:tc>
                      <a:txBody>
                        <a:bodyPr/>
                        <a:lstStyle/>
                        <a:p>
                          <a:pPr algn="ctr"/>
                          <a:r>
                            <a:rPr lang="en-US" altLang="zh-CN" sz="2100" dirty="0" smtClean="0"/>
                            <a:t>5</a:t>
                          </a:r>
                          <a:endParaRPr lang="zh-CN" altLang="en-US" sz="2100" dirty="0"/>
                        </a:p>
                      </a:txBody>
                      <a:tcPr marL="107181" marR="107181" marT="53591" marB="53591"/>
                    </a:tc>
                    <a:tc>
                      <a:txBody>
                        <a:bodyPr/>
                        <a:lstStyle/>
                        <a:p>
                          <a:pPr algn="ctr"/>
                          <a:r>
                            <a:rPr lang="en-US" altLang="zh-CN" sz="2100" dirty="0" smtClean="0"/>
                            <a:t>6</a:t>
                          </a:r>
                          <a:endParaRPr lang="zh-CN" altLang="en-US" sz="2100" dirty="0"/>
                        </a:p>
                      </a:txBody>
                      <a:tcPr marL="107181" marR="107181" marT="53591" marB="53591"/>
                    </a:tc>
                    <a:extLst>
                      <a:ext uri="{0D108BD9-81ED-4DB2-BD59-A6C34878D82A}">
                        <a16:rowId xmlns:a16="http://schemas.microsoft.com/office/drawing/2014/main" val="2401494370"/>
                      </a:ext>
                    </a:extLst>
                  </a:tr>
                  <a:tr h="434679">
                    <a:tc>
                      <a:txBody>
                        <a:bodyPr/>
                        <a:lstStyle/>
                        <a:p>
                          <a:pPr algn="ctr"/>
                          <a:r>
                            <a:rPr lang="en-US" altLang="zh-CN" sz="2100" dirty="0" smtClean="0">
                              <a:solidFill>
                                <a:schemeClr val="bg2"/>
                              </a:solidFill>
                            </a:rPr>
                            <a:t>1</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1</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12</a:t>
                          </a:r>
                          <a:endParaRPr lang="zh-CN" altLang="en-US" sz="2100" dirty="0">
                            <a:solidFill>
                              <a:schemeClr val="bg2"/>
                            </a:solidFill>
                          </a:endParaRPr>
                        </a:p>
                      </a:txBody>
                      <a:tcPr marL="107181" marR="107181" marT="53591" marB="53591"/>
                    </a:tc>
                    <a:tc>
                      <a:txBody>
                        <a:bodyPr/>
                        <a:lstStyle/>
                        <a:p>
                          <a:endParaRPr lang="zh-CN"/>
                        </a:p>
                      </a:txBody>
                      <a:tcPr marL="107181" marR="107181" marT="53591" marB="53591">
                        <a:blipFill>
                          <a:blip r:embed="rId3"/>
                          <a:stretch>
                            <a:fillRect l="-403614" t="-104167" r="-206024" b="-519444"/>
                          </a:stretch>
                        </a:blipFill>
                      </a:tcPr>
                    </a:tc>
                    <a:tc>
                      <a:txBody>
                        <a:bodyPr/>
                        <a:lstStyle/>
                        <a:p>
                          <a:endParaRPr lang="zh-CN"/>
                        </a:p>
                      </a:txBody>
                      <a:tcPr marL="107181" marR="107181" marT="53591" marB="53591">
                        <a:blipFill>
                          <a:blip r:embed="rId3"/>
                          <a:stretch>
                            <a:fillRect l="-497619" t="-104167" r="-103571" b="-519444"/>
                          </a:stretch>
                        </a:blipFill>
                      </a:tcPr>
                    </a:tc>
                    <a:tc>
                      <a:txBody>
                        <a:bodyPr/>
                        <a:lstStyle/>
                        <a:p>
                          <a:endParaRPr lang="zh-CN"/>
                        </a:p>
                      </a:txBody>
                      <a:tcPr marL="107181" marR="107181" marT="53591" marB="53591">
                        <a:blipFill>
                          <a:blip r:embed="rId3"/>
                          <a:stretch>
                            <a:fillRect l="-604819" t="-104167" r="-4819" b="-519444"/>
                          </a:stretch>
                        </a:blipFill>
                      </a:tcPr>
                    </a:tc>
                    <a:extLst>
                      <a:ext uri="{0D108BD9-81ED-4DB2-BD59-A6C34878D82A}">
                        <a16:rowId xmlns:a16="http://schemas.microsoft.com/office/drawing/2014/main" val="3286671699"/>
                      </a:ext>
                    </a:extLst>
                  </a:tr>
                  <a:tr h="434679">
                    <a:tc>
                      <a:txBody>
                        <a:bodyPr/>
                        <a:lstStyle/>
                        <a:p>
                          <a:pPr algn="ctr"/>
                          <a:r>
                            <a:rPr lang="en-US" altLang="zh-CN" sz="2100" dirty="0" smtClean="0">
                              <a:solidFill>
                                <a:schemeClr val="bg2"/>
                              </a:solidFill>
                            </a:rPr>
                            <a:t>2</a:t>
                          </a:r>
                          <a:endParaRPr lang="zh-CN" altLang="en-US" sz="2100" dirty="0">
                            <a:solidFill>
                              <a:schemeClr val="bg2"/>
                            </a:solidFill>
                          </a:endParaRPr>
                        </a:p>
                      </a:txBody>
                      <a:tcPr marL="107181" marR="107181" marT="53591" marB="53591"/>
                    </a:tc>
                    <a:tc>
                      <a:txBody>
                        <a:bodyPr/>
                        <a:lstStyle/>
                        <a:p>
                          <a:endParaRPr lang="zh-CN"/>
                        </a:p>
                      </a:txBody>
                      <a:tcPr marL="107181" marR="107181" marT="53591" marB="53591">
                        <a:blipFill>
                          <a:blip r:embed="rId3"/>
                          <a:stretch>
                            <a:fillRect l="-100000" t="-207042" r="-501190" b="-426761"/>
                          </a:stretch>
                        </a:blipFill>
                      </a:tcPr>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9</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3</a:t>
                          </a:r>
                          <a:endParaRPr lang="zh-CN" altLang="en-US" sz="2100" dirty="0">
                            <a:solidFill>
                              <a:schemeClr val="bg2"/>
                            </a:solidFill>
                          </a:endParaRPr>
                        </a:p>
                      </a:txBody>
                      <a:tcPr marL="107181" marR="107181" marT="53591" marB="53591"/>
                    </a:tc>
                    <a:tc>
                      <a:txBody>
                        <a:bodyPr/>
                        <a:lstStyle/>
                        <a:p>
                          <a:endParaRPr lang="zh-CN"/>
                        </a:p>
                      </a:txBody>
                      <a:tcPr marL="107181" marR="107181" marT="53591" marB="53591">
                        <a:blipFill>
                          <a:blip r:embed="rId3"/>
                          <a:stretch>
                            <a:fillRect l="-497619" t="-207042" r="-103571" b="-426761"/>
                          </a:stretch>
                        </a:blipFill>
                      </a:tcPr>
                    </a:tc>
                    <a:tc>
                      <a:txBody>
                        <a:bodyPr/>
                        <a:lstStyle/>
                        <a:p>
                          <a:endParaRPr lang="zh-CN"/>
                        </a:p>
                      </a:txBody>
                      <a:tcPr marL="107181" marR="107181" marT="53591" marB="53591">
                        <a:blipFill>
                          <a:blip r:embed="rId3"/>
                          <a:stretch>
                            <a:fillRect l="-604819" t="-207042" r="-4819" b="-426761"/>
                          </a:stretch>
                        </a:blipFill>
                      </a:tcPr>
                    </a:tc>
                    <a:extLst>
                      <a:ext uri="{0D108BD9-81ED-4DB2-BD59-A6C34878D82A}">
                        <a16:rowId xmlns:a16="http://schemas.microsoft.com/office/drawing/2014/main" val="2746480506"/>
                      </a:ext>
                    </a:extLst>
                  </a:tr>
                  <a:tr h="434679">
                    <a:tc>
                      <a:txBody>
                        <a:bodyPr/>
                        <a:lstStyle/>
                        <a:p>
                          <a:pPr algn="ctr"/>
                          <a:r>
                            <a:rPr lang="en-US" altLang="zh-CN" sz="2100" dirty="0" smtClean="0">
                              <a:solidFill>
                                <a:schemeClr val="bg2"/>
                              </a:solidFill>
                            </a:rPr>
                            <a:t>3</a:t>
                          </a:r>
                          <a:endParaRPr lang="zh-CN" altLang="en-US" sz="2100" dirty="0">
                            <a:solidFill>
                              <a:schemeClr val="bg2"/>
                            </a:solidFill>
                          </a:endParaRPr>
                        </a:p>
                      </a:txBody>
                      <a:tcPr marL="107181" marR="107181" marT="53591" marB="53591"/>
                    </a:tc>
                    <a:tc>
                      <a:txBody>
                        <a:bodyPr/>
                        <a:lstStyle/>
                        <a:p>
                          <a:endParaRPr lang="zh-CN"/>
                        </a:p>
                      </a:txBody>
                      <a:tcPr marL="107181" marR="107181" marT="53591" marB="53591">
                        <a:blipFill>
                          <a:blip r:embed="rId3"/>
                          <a:stretch>
                            <a:fillRect l="-100000" t="-302778" r="-501190" b="-320833"/>
                          </a:stretch>
                        </a:blipFill>
                      </a:tcPr>
                    </a:tc>
                    <a:tc>
                      <a:txBody>
                        <a:bodyPr/>
                        <a:lstStyle/>
                        <a:p>
                          <a:endParaRPr lang="zh-CN"/>
                        </a:p>
                      </a:txBody>
                      <a:tcPr marL="107181" marR="107181" marT="53591" marB="53591">
                        <a:blipFill>
                          <a:blip r:embed="rId3"/>
                          <a:stretch>
                            <a:fillRect l="-202410" t="-302778" r="-407229" b="-320833"/>
                          </a:stretch>
                        </a:blipFill>
                      </a:tcPr>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endParaRPr lang="zh-CN"/>
                        </a:p>
                      </a:txBody>
                      <a:tcPr marL="107181" marR="107181" marT="53591" marB="53591">
                        <a:blipFill>
                          <a:blip r:embed="rId3"/>
                          <a:stretch>
                            <a:fillRect l="-403614" t="-302778" r="-206024" b="-320833"/>
                          </a:stretch>
                        </a:blipFill>
                      </a:tcPr>
                    </a:tc>
                    <a:tc>
                      <a:txBody>
                        <a:bodyPr/>
                        <a:lstStyle/>
                        <a:p>
                          <a:pPr algn="ctr"/>
                          <a:r>
                            <a:rPr lang="en-US" altLang="zh-CN" sz="2100" dirty="0" smtClean="0">
                              <a:solidFill>
                                <a:schemeClr val="bg2"/>
                              </a:solidFill>
                            </a:rPr>
                            <a:t>5</a:t>
                          </a:r>
                          <a:endParaRPr lang="zh-CN" altLang="en-US" sz="2100" dirty="0">
                            <a:solidFill>
                              <a:schemeClr val="bg2"/>
                            </a:solidFill>
                          </a:endParaRPr>
                        </a:p>
                      </a:txBody>
                      <a:tcPr marL="107181" marR="107181" marT="53591" marB="53591"/>
                    </a:tc>
                    <a:tc>
                      <a:txBody>
                        <a:bodyPr/>
                        <a:lstStyle/>
                        <a:p>
                          <a:endParaRPr lang="zh-CN"/>
                        </a:p>
                      </a:txBody>
                      <a:tcPr marL="107181" marR="107181" marT="53591" marB="53591">
                        <a:blipFill>
                          <a:blip r:embed="rId3"/>
                          <a:stretch>
                            <a:fillRect l="-604819" t="-302778" r="-4819" b="-320833"/>
                          </a:stretch>
                        </a:blipFill>
                      </a:tcPr>
                    </a:tc>
                    <a:extLst>
                      <a:ext uri="{0D108BD9-81ED-4DB2-BD59-A6C34878D82A}">
                        <a16:rowId xmlns:a16="http://schemas.microsoft.com/office/drawing/2014/main" val="1183467348"/>
                      </a:ext>
                    </a:extLst>
                  </a:tr>
                  <a:tr h="434679">
                    <a:tc>
                      <a:txBody>
                        <a:bodyPr/>
                        <a:lstStyle/>
                        <a:p>
                          <a:pPr algn="ctr"/>
                          <a:r>
                            <a:rPr lang="en-US" altLang="zh-CN" sz="2100" dirty="0" smtClean="0">
                              <a:solidFill>
                                <a:schemeClr val="bg2"/>
                              </a:solidFill>
                            </a:rPr>
                            <a:t>4</a:t>
                          </a:r>
                          <a:endParaRPr lang="zh-CN" altLang="en-US" sz="2100" dirty="0">
                            <a:solidFill>
                              <a:schemeClr val="bg2"/>
                            </a:solidFill>
                          </a:endParaRPr>
                        </a:p>
                      </a:txBody>
                      <a:tcPr marL="107181" marR="107181" marT="53591" marB="53591"/>
                    </a:tc>
                    <a:tc>
                      <a:txBody>
                        <a:bodyPr/>
                        <a:lstStyle/>
                        <a:p>
                          <a:endParaRPr lang="zh-CN"/>
                        </a:p>
                      </a:txBody>
                      <a:tcPr marL="107181" marR="107181" marT="53591" marB="53591">
                        <a:blipFill>
                          <a:blip r:embed="rId3"/>
                          <a:stretch>
                            <a:fillRect l="-100000" t="-408451" r="-501190" b="-225352"/>
                          </a:stretch>
                        </a:blipFill>
                      </a:tcPr>
                    </a:tc>
                    <a:tc>
                      <a:txBody>
                        <a:bodyPr/>
                        <a:lstStyle/>
                        <a:p>
                          <a:endParaRPr lang="zh-CN"/>
                        </a:p>
                      </a:txBody>
                      <a:tcPr marL="107181" marR="107181" marT="53591" marB="53591">
                        <a:blipFill>
                          <a:blip r:embed="rId3"/>
                          <a:stretch>
                            <a:fillRect l="-202410" t="-408451" r="-407229" b="-225352"/>
                          </a:stretch>
                        </a:blipFill>
                      </a:tcPr>
                    </a:tc>
                    <a:tc>
                      <a:txBody>
                        <a:bodyPr/>
                        <a:lstStyle/>
                        <a:p>
                          <a:pPr algn="ctr"/>
                          <a:r>
                            <a:rPr lang="en-US" altLang="zh-CN" sz="2100" dirty="0" smtClean="0">
                              <a:solidFill>
                                <a:schemeClr val="bg2"/>
                              </a:solidFill>
                            </a:rPr>
                            <a:t>4</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13</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5</a:t>
                          </a:r>
                          <a:endParaRPr lang="zh-CN" altLang="en-US" sz="2100" dirty="0">
                            <a:solidFill>
                              <a:schemeClr val="bg2"/>
                            </a:solidFill>
                          </a:endParaRPr>
                        </a:p>
                      </a:txBody>
                      <a:tcPr marL="107181" marR="107181" marT="53591" marB="53591"/>
                    </a:tc>
                    <a:extLst>
                      <a:ext uri="{0D108BD9-81ED-4DB2-BD59-A6C34878D82A}">
                        <a16:rowId xmlns:a16="http://schemas.microsoft.com/office/drawing/2014/main" val="324011288"/>
                      </a:ext>
                    </a:extLst>
                  </a:tr>
                  <a:tr h="434679">
                    <a:tc>
                      <a:txBody>
                        <a:bodyPr/>
                        <a:lstStyle/>
                        <a:p>
                          <a:pPr algn="ctr"/>
                          <a:r>
                            <a:rPr lang="en-US" altLang="zh-CN" sz="2100" dirty="0" smtClean="0">
                              <a:solidFill>
                                <a:schemeClr val="bg2"/>
                              </a:solidFill>
                            </a:rPr>
                            <a:t>5</a:t>
                          </a:r>
                          <a:endParaRPr lang="zh-CN" altLang="en-US" sz="2100" dirty="0">
                            <a:solidFill>
                              <a:schemeClr val="bg2"/>
                            </a:solidFill>
                          </a:endParaRPr>
                        </a:p>
                      </a:txBody>
                      <a:tcPr marL="107181" marR="107181" marT="53591" marB="53591"/>
                    </a:tc>
                    <a:tc>
                      <a:txBody>
                        <a:bodyPr/>
                        <a:lstStyle/>
                        <a:p>
                          <a:endParaRPr lang="zh-CN"/>
                        </a:p>
                      </a:txBody>
                      <a:tcPr marL="107181" marR="107181" marT="53591" marB="53591">
                        <a:blipFill>
                          <a:blip r:embed="rId3"/>
                          <a:stretch>
                            <a:fillRect l="-100000" t="-501389" r="-501190" b="-122222"/>
                          </a:stretch>
                        </a:blipFill>
                      </a:tcPr>
                    </a:tc>
                    <a:tc>
                      <a:txBody>
                        <a:bodyPr/>
                        <a:lstStyle/>
                        <a:p>
                          <a:endParaRPr lang="zh-CN"/>
                        </a:p>
                      </a:txBody>
                      <a:tcPr marL="107181" marR="107181" marT="53591" marB="53591">
                        <a:blipFill>
                          <a:blip r:embed="rId3"/>
                          <a:stretch>
                            <a:fillRect l="-202410" t="-501389" r="-407229" b="-122222"/>
                          </a:stretch>
                        </a:blipFill>
                      </a:tcPr>
                    </a:tc>
                    <a:tc>
                      <a:txBody>
                        <a:bodyPr/>
                        <a:lstStyle/>
                        <a:p>
                          <a:endParaRPr lang="zh-CN"/>
                        </a:p>
                      </a:txBody>
                      <a:tcPr marL="107181" marR="107181" marT="53591" marB="53591">
                        <a:blipFill>
                          <a:blip r:embed="rId3"/>
                          <a:stretch>
                            <a:fillRect l="-298810" t="-501389" r="-302381" b="-122222"/>
                          </a:stretch>
                        </a:blipFill>
                      </a:tcPr>
                    </a:tc>
                    <a:tc>
                      <a:txBody>
                        <a:bodyPr/>
                        <a:lstStyle/>
                        <a:p>
                          <a:endParaRPr lang="zh-CN"/>
                        </a:p>
                      </a:txBody>
                      <a:tcPr marL="107181" marR="107181" marT="53591" marB="53591">
                        <a:blipFill>
                          <a:blip r:embed="rId3"/>
                          <a:stretch>
                            <a:fillRect l="-403614" t="-501389" r="-206024" b="-122222"/>
                          </a:stretch>
                        </a:blipFill>
                      </a:tcPr>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tc>
                      <a:txBody>
                        <a:bodyPr/>
                        <a:lstStyle/>
                        <a:p>
                          <a:pPr algn="ctr"/>
                          <a:r>
                            <a:rPr lang="en-US" altLang="zh-CN" sz="2100" dirty="0" smtClean="0">
                              <a:solidFill>
                                <a:schemeClr val="bg2"/>
                              </a:solidFill>
                            </a:rPr>
                            <a:t>4</a:t>
                          </a:r>
                          <a:endParaRPr lang="zh-CN" altLang="en-US" sz="2100" dirty="0">
                            <a:solidFill>
                              <a:schemeClr val="bg2"/>
                            </a:solidFill>
                          </a:endParaRPr>
                        </a:p>
                      </a:txBody>
                      <a:tcPr marL="107181" marR="107181" marT="53591" marB="53591"/>
                    </a:tc>
                    <a:extLst>
                      <a:ext uri="{0D108BD9-81ED-4DB2-BD59-A6C34878D82A}">
                        <a16:rowId xmlns:a16="http://schemas.microsoft.com/office/drawing/2014/main" val="3417095984"/>
                      </a:ext>
                    </a:extLst>
                  </a:tr>
                  <a:tr h="434679">
                    <a:tc>
                      <a:txBody>
                        <a:bodyPr/>
                        <a:lstStyle/>
                        <a:p>
                          <a:pPr algn="ctr"/>
                          <a:r>
                            <a:rPr lang="en-US" altLang="zh-CN" sz="2100" dirty="0" smtClean="0">
                              <a:solidFill>
                                <a:schemeClr val="bg2"/>
                              </a:solidFill>
                            </a:rPr>
                            <a:t>6</a:t>
                          </a:r>
                          <a:endParaRPr lang="zh-CN" altLang="en-US" sz="2100" dirty="0">
                            <a:solidFill>
                              <a:schemeClr val="bg2"/>
                            </a:solidFill>
                          </a:endParaRPr>
                        </a:p>
                      </a:txBody>
                      <a:tcPr marL="107181" marR="107181" marT="53591" marB="53591"/>
                    </a:tc>
                    <a:tc>
                      <a:txBody>
                        <a:bodyPr/>
                        <a:lstStyle/>
                        <a:p>
                          <a:endParaRPr lang="zh-CN"/>
                        </a:p>
                      </a:txBody>
                      <a:tcPr marL="107181" marR="107181" marT="53591" marB="53591">
                        <a:blipFill>
                          <a:blip r:embed="rId3"/>
                          <a:stretch>
                            <a:fillRect l="-100000" t="-609859" r="-501190" b="-23944"/>
                          </a:stretch>
                        </a:blipFill>
                      </a:tcPr>
                    </a:tc>
                    <a:tc>
                      <a:txBody>
                        <a:bodyPr/>
                        <a:lstStyle/>
                        <a:p>
                          <a:endParaRPr lang="zh-CN"/>
                        </a:p>
                      </a:txBody>
                      <a:tcPr marL="107181" marR="107181" marT="53591" marB="53591">
                        <a:blipFill>
                          <a:blip r:embed="rId3"/>
                          <a:stretch>
                            <a:fillRect l="-202410" t="-609859" r="-407229" b="-23944"/>
                          </a:stretch>
                        </a:blipFill>
                      </a:tcPr>
                    </a:tc>
                    <a:tc>
                      <a:txBody>
                        <a:bodyPr/>
                        <a:lstStyle/>
                        <a:p>
                          <a:endParaRPr lang="zh-CN"/>
                        </a:p>
                      </a:txBody>
                      <a:tcPr marL="107181" marR="107181" marT="53591" marB="53591">
                        <a:blipFill>
                          <a:blip r:embed="rId3"/>
                          <a:stretch>
                            <a:fillRect l="-298810" t="-609859" r="-302381" b="-23944"/>
                          </a:stretch>
                        </a:blipFill>
                      </a:tcPr>
                    </a:tc>
                    <a:tc>
                      <a:txBody>
                        <a:bodyPr/>
                        <a:lstStyle/>
                        <a:p>
                          <a:endParaRPr lang="zh-CN"/>
                        </a:p>
                      </a:txBody>
                      <a:tcPr marL="107181" marR="107181" marT="53591" marB="53591">
                        <a:blipFill>
                          <a:blip r:embed="rId3"/>
                          <a:stretch>
                            <a:fillRect l="-403614" t="-609859" r="-206024" b="-23944"/>
                          </a:stretch>
                        </a:blipFill>
                      </a:tcPr>
                    </a:tc>
                    <a:tc>
                      <a:txBody>
                        <a:bodyPr/>
                        <a:lstStyle/>
                        <a:p>
                          <a:endParaRPr lang="zh-CN"/>
                        </a:p>
                      </a:txBody>
                      <a:tcPr marL="107181" marR="107181" marT="53591" marB="53591">
                        <a:blipFill>
                          <a:blip r:embed="rId3"/>
                          <a:stretch>
                            <a:fillRect l="-497619" t="-609859" r="-103571" b="-23944"/>
                          </a:stretch>
                        </a:blipFill>
                      </a:tcPr>
                    </a:tc>
                    <a:tc>
                      <a:txBody>
                        <a:bodyPr/>
                        <a:lstStyle/>
                        <a:p>
                          <a:pPr algn="ctr"/>
                          <a:r>
                            <a:rPr lang="en-US" altLang="zh-CN" sz="2100" dirty="0" smtClean="0">
                              <a:solidFill>
                                <a:schemeClr val="bg2"/>
                              </a:solidFill>
                            </a:rPr>
                            <a:t>0</a:t>
                          </a:r>
                          <a:endParaRPr lang="zh-CN" altLang="en-US" sz="2100" dirty="0">
                            <a:solidFill>
                              <a:schemeClr val="bg2"/>
                            </a:solidFill>
                          </a:endParaRPr>
                        </a:p>
                      </a:txBody>
                      <a:tcPr marL="107181" marR="107181" marT="53591" marB="53591"/>
                    </a:tc>
                    <a:extLst>
                      <a:ext uri="{0D108BD9-81ED-4DB2-BD59-A6C34878D82A}">
                        <a16:rowId xmlns:a16="http://schemas.microsoft.com/office/drawing/2014/main" val="2057619087"/>
                      </a:ext>
                    </a:extLst>
                  </a:tr>
                </a:tbl>
              </a:graphicData>
            </a:graphic>
          </p:graphicFrame>
        </mc:Fallback>
      </mc:AlternateContent>
      <p:grpSp>
        <p:nvGrpSpPr>
          <p:cNvPr id="7" name="组合 6"/>
          <p:cNvGrpSpPr/>
          <p:nvPr/>
        </p:nvGrpSpPr>
        <p:grpSpPr>
          <a:xfrm>
            <a:off x="201168" y="3941271"/>
            <a:ext cx="4774692" cy="2145231"/>
            <a:chOff x="950976" y="2959608"/>
            <a:chExt cx="4774692" cy="2145231"/>
          </a:xfrm>
        </p:grpSpPr>
        <p:sp>
          <p:nvSpPr>
            <p:cNvPr id="8" name="椭圆 7"/>
            <p:cNvSpPr/>
            <p:nvPr/>
          </p:nvSpPr>
          <p:spPr>
            <a:xfrm>
              <a:off x="950976" y="3703320"/>
              <a:ext cx="502920" cy="512064"/>
            </a:xfrm>
            <a:prstGeom prst="ellipse">
              <a:avLst/>
            </a:prstGeom>
            <a:solidFill>
              <a:schemeClr val="accent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1</a:t>
              </a:r>
              <a:endParaRPr lang="zh-CN" altLang="en-US" dirty="0"/>
            </a:p>
          </p:txBody>
        </p:sp>
        <p:sp>
          <p:nvSpPr>
            <p:cNvPr id="9" name="椭圆 8"/>
            <p:cNvSpPr/>
            <p:nvPr/>
          </p:nvSpPr>
          <p:spPr>
            <a:xfrm>
              <a:off x="2164080" y="2959608"/>
              <a:ext cx="502920" cy="512064"/>
            </a:xfrm>
            <a:prstGeom prst="ellipse">
              <a:avLst/>
            </a:prstGeom>
            <a:solidFill>
              <a:schemeClr val="accent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2</a:t>
              </a:r>
              <a:endParaRPr lang="zh-CN" altLang="en-US" dirty="0"/>
            </a:p>
          </p:txBody>
        </p:sp>
        <p:sp>
          <p:nvSpPr>
            <p:cNvPr id="10" name="椭圆 9"/>
            <p:cNvSpPr/>
            <p:nvPr/>
          </p:nvSpPr>
          <p:spPr>
            <a:xfrm>
              <a:off x="2164080" y="4556760"/>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3</a:t>
              </a:r>
              <a:endParaRPr lang="zh-CN" altLang="en-US" dirty="0"/>
            </a:p>
          </p:txBody>
        </p:sp>
        <p:sp>
          <p:nvSpPr>
            <p:cNvPr id="11" name="椭圆 10"/>
            <p:cNvSpPr/>
            <p:nvPr/>
          </p:nvSpPr>
          <p:spPr>
            <a:xfrm>
              <a:off x="3931920" y="2959608"/>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4</a:t>
              </a:r>
              <a:endParaRPr lang="zh-CN" altLang="en-US" dirty="0"/>
            </a:p>
          </p:txBody>
        </p:sp>
        <p:sp>
          <p:nvSpPr>
            <p:cNvPr id="12" name="椭圆 11"/>
            <p:cNvSpPr/>
            <p:nvPr/>
          </p:nvSpPr>
          <p:spPr>
            <a:xfrm>
              <a:off x="3931920" y="4556760"/>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5</a:t>
              </a:r>
              <a:endParaRPr lang="zh-CN" altLang="en-US" dirty="0"/>
            </a:p>
          </p:txBody>
        </p:sp>
        <p:sp>
          <p:nvSpPr>
            <p:cNvPr id="13" name="椭圆 12"/>
            <p:cNvSpPr/>
            <p:nvPr/>
          </p:nvSpPr>
          <p:spPr>
            <a:xfrm>
              <a:off x="5222748" y="3703320"/>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6</a:t>
              </a:r>
              <a:endParaRPr lang="zh-CN" altLang="en-US" dirty="0"/>
            </a:p>
          </p:txBody>
        </p:sp>
        <p:cxnSp>
          <p:nvCxnSpPr>
            <p:cNvPr id="14" name="直接箭头连接符 13"/>
            <p:cNvCxnSpPr>
              <a:stCxn id="8" idx="7"/>
              <a:endCxn id="9" idx="3"/>
            </p:cNvCxnSpPr>
            <p:nvPr/>
          </p:nvCxnSpPr>
          <p:spPr>
            <a:xfrm flipV="1">
              <a:off x="1380245" y="3396682"/>
              <a:ext cx="857486" cy="3816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直接箭头连接符 14"/>
            <p:cNvCxnSpPr>
              <a:stCxn id="8" idx="5"/>
              <a:endCxn id="10" idx="1"/>
            </p:cNvCxnSpPr>
            <p:nvPr/>
          </p:nvCxnSpPr>
          <p:spPr>
            <a:xfrm>
              <a:off x="1380245" y="4140394"/>
              <a:ext cx="857486" cy="4913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接箭头连接符 15"/>
            <p:cNvCxnSpPr>
              <a:stCxn id="9" idx="6"/>
              <a:endCxn id="11" idx="2"/>
            </p:cNvCxnSpPr>
            <p:nvPr/>
          </p:nvCxnSpPr>
          <p:spPr>
            <a:xfrm>
              <a:off x="2667000" y="3215640"/>
              <a:ext cx="12649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a:stCxn id="11" idx="4"/>
              <a:endCxn id="12" idx="0"/>
            </p:cNvCxnSpPr>
            <p:nvPr/>
          </p:nvCxnSpPr>
          <p:spPr>
            <a:xfrm>
              <a:off x="4183380" y="3471672"/>
              <a:ext cx="0" cy="10850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10" idx="6"/>
              <a:endCxn id="12" idx="2"/>
            </p:cNvCxnSpPr>
            <p:nvPr/>
          </p:nvCxnSpPr>
          <p:spPr>
            <a:xfrm>
              <a:off x="2667000" y="4812792"/>
              <a:ext cx="12649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11" idx="3"/>
              <a:endCxn id="10" idx="7"/>
            </p:cNvCxnSpPr>
            <p:nvPr/>
          </p:nvCxnSpPr>
          <p:spPr>
            <a:xfrm flipH="1">
              <a:off x="2593349" y="3396682"/>
              <a:ext cx="1412222" cy="12350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9" idx="4"/>
              <a:endCxn id="10" idx="0"/>
            </p:cNvCxnSpPr>
            <p:nvPr/>
          </p:nvCxnSpPr>
          <p:spPr>
            <a:xfrm>
              <a:off x="2415540" y="3471672"/>
              <a:ext cx="0" cy="10850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11" idx="6"/>
              <a:endCxn id="13" idx="1"/>
            </p:cNvCxnSpPr>
            <p:nvPr/>
          </p:nvCxnSpPr>
          <p:spPr>
            <a:xfrm>
              <a:off x="4434840" y="3215640"/>
              <a:ext cx="861559" cy="5626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12" idx="7"/>
              <a:endCxn id="13" idx="3"/>
            </p:cNvCxnSpPr>
            <p:nvPr/>
          </p:nvCxnSpPr>
          <p:spPr>
            <a:xfrm flipV="1">
              <a:off x="4361189" y="4140394"/>
              <a:ext cx="935210" cy="4913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圆角矩形 22"/>
            <p:cNvSpPr/>
            <p:nvPr/>
          </p:nvSpPr>
          <p:spPr>
            <a:xfrm>
              <a:off x="1534141" y="3362862"/>
              <a:ext cx="427745" cy="276449"/>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1</a:t>
              </a:r>
              <a:endParaRPr lang="zh-CN" altLang="en-US" dirty="0"/>
            </a:p>
          </p:txBody>
        </p:sp>
        <p:sp>
          <p:nvSpPr>
            <p:cNvPr id="24" name="圆角矩形 23"/>
            <p:cNvSpPr/>
            <p:nvPr/>
          </p:nvSpPr>
          <p:spPr>
            <a:xfrm>
              <a:off x="3153156" y="2977335"/>
              <a:ext cx="431292" cy="335235"/>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3</a:t>
              </a:r>
              <a:endParaRPr lang="zh-CN" altLang="en-US" dirty="0"/>
            </a:p>
          </p:txBody>
        </p:sp>
        <p:sp>
          <p:nvSpPr>
            <p:cNvPr id="25" name="圆角矩形 24"/>
            <p:cNvSpPr/>
            <p:nvPr/>
          </p:nvSpPr>
          <p:spPr>
            <a:xfrm>
              <a:off x="4870205" y="3312571"/>
              <a:ext cx="426194" cy="24352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dirty="0" smtClean="0"/>
                <a:t>15</a:t>
              </a:r>
              <a:endParaRPr lang="zh-CN" altLang="en-US" sz="2400" dirty="0"/>
            </a:p>
          </p:txBody>
        </p:sp>
        <p:sp>
          <p:nvSpPr>
            <p:cNvPr id="26" name="圆角矩形 25"/>
            <p:cNvSpPr/>
            <p:nvPr/>
          </p:nvSpPr>
          <p:spPr>
            <a:xfrm>
              <a:off x="4005571" y="3813048"/>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13</a:t>
              </a:r>
              <a:endParaRPr lang="zh-CN" altLang="en-US" dirty="0"/>
            </a:p>
          </p:txBody>
        </p:sp>
        <p:sp>
          <p:nvSpPr>
            <p:cNvPr id="27" name="圆角矩形 26"/>
            <p:cNvSpPr/>
            <p:nvPr/>
          </p:nvSpPr>
          <p:spPr>
            <a:xfrm>
              <a:off x="3085062" y="3749644"/>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4</a:t>
              </a:r>
              <a:endParaRPr lang="zh-CN" altLang="en-US" dirty="0"/>
            </a:p>
          </p:txBody>
        </p:sp>
        <p:sp>
          <p:nvSpPr>
            <p:cNvPr id="28" name="圆角矩形 27"/>
            <p:cNvSpPr/>
            <p:nvPr/>
          </p:nvSpPr>
          <p:spPr>
            <a:xfrm>
              <a:off x="2164553" y="3803343"/>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9</a:t>
              </a:r>
              <a:endParaRPr lang="zh-CN" altLang="en-US" dirty="0"/>
            </a:p>
          </p:txBody>
        </p:sp>
        <p:sp>
          <p:nvSpPr>
            <p:cNvPr id="29" name="圆角矩形 28"/>
            <p:cNvSpPr/>
            <p:nvPr/>
          </p:nvSpPr>
          <p:spPr>
            <a:xfrm>
              <a:off x="1483086" y="4246783"/>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12</a:t>
              </a:r>
              <a:endParaRPr lang="zh-CN" altLang="en-US" dirty="0"/>
            </a:p>
          </p:txBody>
        </p:sp>
        <p:sp>
          <p:nvSpPr>
            <p:cNvPr id="30" name="圆角矩形 29"/>
            <p:cNvSpPr/>
            <p:nvPr/>
          </p:nvSpPr>
          <p:spPr>
            <a:xfrm>
              <a:off x="3085061" y="4702503"/>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5</a:t>
              </a:r>
              <a:endParaRPr lang="zh-CN" altLang="en-US" dirty="0"/>
            </a:p>
          </p:txBody>
        </p:sp>
        <p:sp>
          <p:nvSpPr>
            <p:cNvPr id="31" name="圆角矩形 30"/>
            <p:cNvSpPr/>
            <p:nvPr/>
          </p:nvSpPr>
          <p:spPr>
            <a:xfrm>
              <a:off x="4690103" y="4265990"/>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4</a:t>
              </a:r>
              <a:endParaRPr lang="zh-CN" altLang="en-US" dirty="0"/>
            </a:p>
          </p:txBody>
        </p:sp>
      </p:grpSp>
      <p:sp>
        <p:nvSpPr>
          <p:cNvPr id="35" name="文本框 34"/>
          <p:cNvSpPr txBox="1"/>
          <p:nvPr/>
        </p:nvSpPr>
        <p:spPr>
          <a:xfrm>
            <a:off x="4975860" y="2315027"/>
            <a:ext cx="7443063" cy="2308324"/>
          </a:xfrm>
          <a:prstGeom prst="rect">
            <a:avLst/>
          </a:prstGeom>
          <a:noFill/>
        </p:spPr>
        <p:txBody>
          <a:bodyPr wrap="none" rtlCol="0">
            <a:spAutoFit/>
          </a:bodyPr>
          <a:lstStyle/>
          <a:p>
            <a:r>
              <a:rPr lang="zh-CN" altLang="en-US" dirty="0" smtClean="0"/>
              <a:t>将</a:t>
            </a:r>
            <a:r>
              <a:rPr lang="en-US" altLang="zh-CN" dirty="0" smtClean="0"/>
              <a:t>distance</a:t>
            </a:r>
            <a:r>
              <a:rPr lang="zh-CN" altLang="en-US" dirty="0" smtClean="0"/>
              <a:t>数组中值称为最短路径的“估计值”</a:t>
            </a:r>
            <a:endParaRPr lang="en-US" altLang="zh-CN" dirty="0" smtClean="0"/>
          </a:p>
          <a:p>
            <a:r>
              <a:rPr lang="zh-CN" altLang="en-US" dirty="0" smtClean="0"/>
              <a:t>为了求</a:t>
            </a:r>
            <a:r>
              <a:rPr lang="en-US" altLang="zh-CN" dirty="0" smtClean="0"/>
              <a:t>1</a:t>
            </a:r>
            <a:r>
              <a:rPr lang="zh-CN" altLang="en-US" dirty="0" smtClean="0"/>
              <a:t>号节点到其他节点的最短路径，我们先找一个与</a:t>
            </a:r>
            <a:r>
              <a:rPr lang="en-US" altLang="zh-CN" dirty="0" smtClean="0"/>
              <a:t>1</a:t>
            </a:r>
            <a:r>
              <a:rPr lang="zh-CN" altLang="en-US" dirty="0" smtClean="0"/>
              <a:t>号节点</a:t>
            </a:r>
            <a:endParaRPr lang="en-US" altLang="zh-CN" dirty="0" smtClean="0"/>
          </a:p>
          <a:p>
            <a:r>
              <a:rPr lang="zh-CN" altLang="en-US" dirty="0" smtClean="0"/>
              <a:t>距离最近的节点，由</a:t>
            </a:r>
            <a:r>
              <a:rPr lang="en-US" altLang="zh-CN" dirty="0" smtClean="0"/>
              <a:t>distance</a:t>
            </a:r>
            <a:r>
              <a:rPr lang="zh-CN" altLang="en-US" dirty="0" smtClean="0"/>
              <a:t>数组可知，最短为</a:t>
            </a:r>
            <a:r>
              <a:rPr lang="en-US" altLang="zh-CN" dirty="0" smtClean="0"/>
              <a:t>2</a:t>
            </a:r>
            <a:r>
              <a:rPr lang="zh-CN" altLang="en-US" dirty="0" smtClean="0"/>
              <a:t>号节点，距离为</a:t>
            </a:r>
            <a:r>
              <a:rPr lang="en-US" altLang="zh-CN" dirty="0" smtClean="0"/>
              <a:t>1</a:t>
            </a:r>
          </a:p>
          <a:p>
            <a:endParaRPr lang="en-US" altLang="zh-CN" dirty="0"/>
          </a:p>
          <a:p>
            <a:r>
              <a:rPr lang="zh-CN" altLang="en-US" dirty="0" smtClean="0"/>
              <a:t>此时，</a:t>
            </a:r>
            <a:r>
              <a:rPr lang="en-US" altLang="zh-CN" dirty="0" smtClean="0"/>
              <a:t>distance[2]</a:t>
            </a:r>
            <a:r>
              <a:rPr lang="zh-CN" altLang="en-US" dirty="0" smtClean="0"/>
              <a:t>的值就变成了“确定值”，即</a:t>
            </a:r>
            <a:r>
              <a:rPr lang="en-US" altLang="zh-CN" dirty="0" smtClean="0"/>
              <a:t>1</a:t>
            </a:r>
            <a:r>
              <a:rPr lang="zh-CN" altLang="en-US" dirty="0" smtClean="0"/>
              <a:t>号节点到</a:t>
            </a:r>
            <a:r>
              <a:rPr lang="en-US" altLang="zh-CN" dirty="0" smtClean="0"/>
              <a:t>2</a:t>
            </a:r>
            <a:r>
              <a:rPr lang="zh-CN" altLang="en-US" dirty="0" smtClean="0"/>
              <a:t>号节点的最短</a:t>
            </a:r>
            <a:endParaRPr lang="en-US" altLang="zh-CN" dirty="0" smtClean="0"/>
          </a:p>
          <a:p>
            <a:r>
              <a:rPr lang="zh-CN" altLang="en-US" dirty="0" smtClean="0"/>
              <a:t>路径就为</a:t>
            </a:r>
            <a:r>
              <a:rPr lang="en-US" altLang="zh-CN" dirty="0" smtClean="0"/>
              <a:t>1</a:t>
            </a:r>
            <a:r>
              <a:rPr lang="zh-CN" altLang="en-US" dirty="0" smtClean="0"/>
              <a:t>，因为该图的权值不含负值</a:t>
            </a:r>
            <a:endParaRPr lang="en-US" altLang="zh-CN" dirty="0" smtClean="0"/>
          </a:p>
          <a:p>
            <a:endParaRPr lang="en-US" altLang="zh-CN" dirty="0"/>
          </a:p>
          <a:p>
            <a:r>
              <a:rPr lang="zh-CN" altLang="en-US" dirty="0" smtClean="0"/>
              <a:t>显然这个点是可以通过广度优先搜索得到的</a:t>
            </a:r>
            <a:endParaRPr lang="en-US" altLang="zh-CN" dirty="0" smtClean="0"/>
          </a:p>
        </p:txBody>
      </p:sp>
    </p:spTree>
    <p:extLst>
      <p:ext uri="{BB962C8B-B14F-4D97-AF65-F5344CB8AC3E}">
        <p14:creationId xmlns:p14="http://schemas.microsoft.com/office/powerpoint/2010/main" val="3651424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25859" y="1405890"/>
            <a:ext cx="4774692" cy="2145231"/>
            <a:chOff x="950976" y="2959608"/>
            <a:chExt cx="4774692" cy="2145231"/>
          </a:xfrm>
        </p:grpSpPr>
        <p:sp>
          <p:nvSpPr>
            <p:cNvPr id="5" name="椭圆 4"/>
            <p:cNvSpPr/>
            <p:nvPr/>
          </p:nvSpPr>
          <p:spPr>
            <a:xfrm>
              <a:off x="950976" y="3703320"/>
              <a:ext cx="502920" cy="512064"/>
            </a:xfrm>
            <a:prstGeom prst="ellipse">
              <a:avLst/>
            </a:prstGeom>
            <a:solidFill>
              <a:schemeClr val="accent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1</a:t>
              </a:r>
              <a:endParaRPr lang="zh-CN" altLang="en-US" dirty="0"/>
            </a:p>
          </p:txBody>
        </p:sp>
        <p:sp>
          <p:nvSpPr>
            <p:cNvPr id="6" name="椭圆 5"/>
            <p:cNvSpPr/>
            <p:nvPr/>
          </p:nvSpPr>
          <p:spPr>
            <a:xfrm>
              <a:off x="2164080" y="2959608"/>
              <a:ext cx="502920" cy="512064"/>
            </a:xfrm>
            <a:prstGeom prst="ellipse">
              <a:avLst/>
            </a:prstGeom>
            <a:solidFill>
              <a:schemeClr val="accent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2</a:t>
              </a:r>
              <a:endParaRPr lang="zh-CN" altLang="en-US" dirty="0"/>
            </a:p>
          </p:txBody>
        </p:sp>
        <p:sp>
          <p:nvSpPr>
            <p:cNvPr id="7" name="椭圆 6"/>
            <p:cNvSpPr/>
            <p:nvPr/>
          </p:nvSpPr>
          <p:spPr>
            <a:xfrm>
              <a:off x="2164080" y="4556760"/>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3</a:t>
              </a:r>
              <a:endParaRPr lang="zh-CN" altLang="en-US" dirty="0"/>
            </a:p>
          </p:txBody>
        </p:sp>
        <p:sp>
          <p:nvSpPr>
            <p:cNvPr id="8" name="椭圆 7"/>
            <p:cNvSpPr/>
            <p:nvPr/>
          </p:nvSpPr>
          <p:spPr>
            <a:xfrm>
              <a:off x="3931920" y="2959608"/>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4</a:t>
              </a:r>
              <a:endParaRPr lang="zh-CN" altLang="en-US" dirty="0"/>
            </a:p>
          </p:txBody>
        </p:sp>
        <p:sp>
          <p:nvSpPr>
            <p:cNvPr id="9" name="椭圆 8"/>
            <p:cNvSpPr/>
            <p:nvPr/>
          </p:nvSpPr>
          <p:spPr>
            <a:xfrm>
              <a:off x="3931920" y="4556760"/>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5</a:t>
              </a:r>
              <a:endParaRPr lang="zh-CN" altLang="en-US" dirty="0"/>
            </a:p>
          </p:txBody>
        </p:sp>
        <p:sp>
          <p:nvSpPr>
            <p:cNvPr id="10" name="椭圆 9"/>
            <p:cNvSpPr/>
            <p:nvPr/>
          </p:nvSpPr>
          <p:spPr>
            <a:xfrm>
              <a:off x="5222748" y="3703320"/>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6</a:t>
              </a:r>
              <a:endParaRPr lang="zh-CN" altLang="en-US" dirty="0"/>
            </a:p>
          </p:txBody>
        </p:sp>
        <p:cxnSp>
          <p:nvCxnSpPr>
            <p:cNvPr id="11" name="直接箭头连接符 10"/>
            <p:cNvCxnSpPr>
              <a:stCxn id="5" idx="7"/>
              <a:endCxn id="6" idx="3"/>
            </p:cNvCxnSpPr>
            <p:nvPr/>
          </p:nvCxnSpPr>
          <p:spPr>
            <a:xfrm flipV="1">
              <a:off x="1380245" y="3396682"/>
              <a:ext cx="857486" cy="3816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5" idx="5"/>
              <a:endCxn id="7" idx="1"/>
            </p:cNvCxnSpPr>
            <p:nvPr/>
          </p:nvCxnSpPr>
          <p:spPr>
            <a:xfrm>
              <a:off x="1380245" y="4140394"/>
              <a:ext cx="857486" cy="4913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直接箭头连接符 12"/>
            <p:cNvCxnSpPr>
              <a:stCxn id="6" idx="6"/>
              <a:endCxn id="8" idx="2"/>
            </p:cNvCxnSpPr>
            <p:nvPr/>
          </p:nvCxnSpPr>
          <p:spPr>
            <a:xfrm>
              <a:off x="2667000" y="3215640"/>
              <a:ext cx="12649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8" idx="4"/>
              <a:endCxn id="9" idx="0"/>
            </p:cNvCxnSpPr>
            <p:nvPr/>
          </p:nvCxnSpPr>
          <p:spPr>
            <a:xfrm>
              <a:off x="4183380" y="3471672"/>
              <a:ext cx="0" cy="10850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直接箭头连接符 14"/>
            <p:cNvCxnSpPr>
              <a:stCxn id="7" idx="6"/>
              <a:endCxn id="9" idx="2"/>
            </p:cNvCxnSpPr>
            <p:nvPr/>
          </p:nvCxnSpPr>
          <p:spPr>
            <a:xfrm>
              <a:off x="2667000" y="4812792"/>
              <a:ext cx="12649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接箭头连接符 15"/>
            <p:cNvCxnSpPr>
              <a:stCxn id="8" idx="3"/>
              <a:endCxn id="7" idx="7"/>
            </p:cNvCxnSpPr>
            <p:nvPr/>
          </p:nvCxnSpPr>
          <p:spPr>
            <a:xfrm flipH="1">
              <a:off x="2593349" y="3396682"/>
              <a:ext cx="1412222" cy="12350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a:stCxn id="6" idx="4"/>
              <a:endCxn id="7" idx="0"/>
            </p:cNvCxnSpPr>
            <p:nvPr/>
          </p:nvCxnSpPr>
          <p:spPr>
            <a:xfrm>
              <a:off x="2415540" y="3471672"/>
              <a:ext cx="0" cy="1085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8" idx="6"/>
              <a:endCxn id="10" idx="1"/>
            </p:cNvCxnSpPr>
            <p:nvPr/>
          </p:nvCxnSpPr>
          <p:spPr>
            <a:xfrm>
              <a:off x="4434840" y="3215640"/>
              <a:ext cx="861559" cy="5626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9" idx="7"/>
              <a:endCxn id="10" idx="3"/>
            </p:cNvCxnSpPr>
            <p:nvPr/>
          </p:nvCxnSpPr>
          <p:spPr>
            <a:xfrm flipV="1">
              <a:off x="4361189" y="4140394"/>
              <a:ext cx="935210" cy="4913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圆角矩形 19"/>
            <p:cNvSpPr/>
            <p:nvPr/>
          </p:nvSpPr>
          <p:spPr>
            <a:xfrm>
              <a:off x="1534141" y="3362862"/>
              <a:ext cx="427745" cy="276449"/>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1</a:t>
              </a:r>
              <a:endParaRPr lang="zh-CN" altLang="en-US" dirty="0"/>
            </a:p>
          </p:txBody>
        </p:sp>
        <p:sp>
          <p:nvSpPr>
            <p:cNvPr id="21" name="圆角矩形 20"/>
            <p:cNvSpPr/>
            <p:nvPr/>
          </p:nvSpPr>
          <p:spPr>
            <a:xfrm>
              <a:off x="3153156" y="2977335"/>
              <a:ext cx="431292" cy="335235"/>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3</a:t>
              </a:r>
              <a:endParaRPr lang="zh-CN" altLang="en-US" dirty="0"/>
            </a:p>
          </p:txBody>
        </p:sp>
        <p:sp>
          <p:nvSpPr>
            <p:cNvPr id="22" name="圆角矩形 21"/>
            <p:cNvSpPr/>
            <p:nvPr/>
          </p:nvSpPr>
          <p:spPr>
            <a:xfrm>
              <a:off x="4870205" y="3312571"/>
              <a:ext cx="426194" cy="24352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dirty="0" smtClean="0"/>
                <a:t>15</a:t>
              </a:r>
              <a:endParaRPr lang="zh-CN" altLang="en-US" sz="2400" dirty="0"/>
            </a:p>
          </p:txBody>
        </p:sp>
        <p:sp>
          <p:nvSpPr>
            <p:cNvPr id="23" name="圆角矩形 22"/>
            <p:cNvSpPr/>
            <p:nvPr/>
          </p:nvSpPr>
          <p:spPr>
            <a:xfrm>
              <a:off x="4005571" y="3813048"/>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13</a:t>
              </a:r>
              <a:endParaRPr lang="zh-CN" altLang="en-US" dirty="0"/>
            </a:p>
          </p:txBody>
        </p:sp>
        <p:sp>
          <p:nvSpPr>
            <p:cNvPr id="24" name="圆角矩形 23"/>
            <p:cNvSpPr/>
            <p:nvPr/>
          </p:nvSpPr>
          <p:spPr>
            <a:xfrm>
              <a:off x="3085062" y="3749644"/>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4</a:t>
              </a:r>
              <a:endParaRPr lang="zh-CN" altLang="en-US" dirty="0"/>
            </a:p>
          </p:txBody>
        </p:sp>
        <p:sp>
          <p:nvSpPr>
            <p:cNvPr id="25" name="圆角矩形 24"/>
            <p:cNvSpPr/>
            <p:nvPr/>
          </p:nvSpPr>
          <p:spPr>
            <a:xfrm>
              <a:off x="2164553" y="3803343"/>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9</a:t>
              </a:r>
              <a:endParaRPr lang="zh-CN" altLang="en-US" dirty="0"/>
            </a:p>
          </p:txBody>
        </p:sp>
        <p:sp>
          <p:nvSpPr>
            <p:cNvPr id="26" name="圆角矩形 25"/>
            <p:cNvSpPr/>
            <p:nvPr/>
          </p:nvSpPr>
          <p:spPr>
            <a:xfrm>
              <a:off x="1483086" y="4246783"/>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12</a:t>
              </a:r>
              <a:endParaRPr lang="zh-CN" altLang="en-US" dirty="0"/>
            </a:p>
          </p:txBody>
        </p:sp>
        <p:sp>
          <p:nvSpPr>
            <p:cNvPr id="27" name="圆角矩形 26"/>
            <p:cNvSpPr/>
            <p:nvPr/>
          </p:nvSpPr>
          <p:spPr>
            <a:xfrm>
              <a:off x="3085061" y="4702503"/>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5</a:t>
              </a:r>
              <a:endParaRPr lang="zh-CN" altLang="en-US" dirty="0"/>
            </a:p>
          </p:txBody>
        </p:sp>
        <p:sp>
          <p:nvSpPr>
            <p:cNvPr id="28" name="圆角矩形 27"/>
            <p:cNvSpPr/>
            <p:nvPr/>
          </p:nvSpPr>
          <p:spPr>
            <a:xfrm>
              <a:off x="4690103" y="4265990"/>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4</a:t>
              </a:r>
              <a:endParaRPr lang="zh-CN" altLang="en-US" dirty="0"/>
            </a:p>
          </p:txBody>
        </p:sp>
      </p:grpSp>
      <p:sp>
        <p:nvSpPr>
          <p:cNvPr id="29" name="文本框 28"/>
          <p:cNvSpPr txBox="1"/>
          <p:nvPr/>
        </p:nvSpPr>
        <p:spPr>
          <a:xfrm>
            <a:off x="5434446" y="300713"/>
            <a:ext cx="5724644" cy="646331"/>
          </a:xfrm>
          <a:prstGeom prst="rect">
            <a:avLst/>
          </a:prstGeom>
          <a:noFill/>
        </p:spPr>
        <p:txBody>
          <a:bodyPr wrap="none" rtlCol="0">
            <a:spAutoFit/>
          </a:bodyPr>
          <a:lstStyle/>
          <a:p>
            <a:r>
              <a:rPr lang="zh-CN" altLang="en-US" dirty="0" smtClean="0"/>
              <a:t>我们将所有距离值从“估计值”变为“确定值”的节点</a:t>
            </a:r>
            <a:endParaRPr lang="en-US" altLang="zh-CN" dirty="0" smtClean="0"/>
          </a:p>
          <a:p>
            <a:r>
              <a:rPr lang="zh-CN" altLang="en-US" dirty="0" smtClean="0"/>
              <a:t>使用红色标记。</a:t>
            </a:r>
            <a:endParaRPr lang="zh-CN" altLang="en-US" dirty="0"/>
          </a:p>
        </p:txBody>
      </p:sp>
      <mc:AlternateContent xmlns:mc="http://schemas.openxmlformats.org/markup-compatibility/2006">
        <mc:Choice xmlns:a14="http://schemas.microsoft.com/office/drawing/2010/main" Requires="a14">
          <p:graphicFrame>
            <p:nvGraphicFramePr>
              <p:cNvPr id="30" name="表格 29"/>
              <p:cNvGraphicFramePr>
                <a:graphicFrameLocks noGrp="1"/>
              </p:cNvGraphicFramePr>
              <p:nvPr>
                <p:extLst>
                  <p:ext uri="{D42A27DB-BD31-4B8C-83A1-F6EECF244321}">
                    <p14:modId xmlns:p14="http://schemas.microsoft.com/office/powerpoint/2010/main" val="4252640939"/>
                  </p:ext>
                </p:extLst>
              </p:nvPr>
            </p:nvGraphicFramePr>
            <p:xfrm>
              <a:off x="1866094" y="4441916"/>
              <a:ext cx="2455470" cy="736600"/>
            </p:xfrm>
            <a:graphic>
              <a:graphicData uri="http://schemas.openxmlformats.org/drawingml/2006/table">
                <a:tbl>
                  <a:tblPr firstRow="1" bandRow="1">
                    <a:tableStyleId>{5C22544A-7EE6-4342-B048-85BDC9FD1C3A}</a:tableStyleId>
                  </a:tblPr>
                  <a:tblGrid>
                    <a:gridCol w="409245">
                      <a:extLst>
                        <a:ext uri="{9D8B030D-6E8A-4147-A177-3AD203B41FA5}">
                          <a16:colId xmlns:a16="http://schemas.microsoft.com/office/drawing/2014/main" val="3458930630"/>
                        </a:ext>
                      </a:extLst>
                    </a:gridCol>
                    <a:gridCol w="409245">
                      <a:extLst>
                        <a:ext uri="{9D8B030D-6E8A-4147-A177-3AD203B41FA5}">
                          <a16:colId xmlns:a16="http://schemas.microsoft.com/office/drawing/2014/main" val="3751536738"/>
                        </a:ext>
                      </a:extLst>
                    </a:gridCol>
                    <a:gridCol w="409245">
                      <a:extLst>
                        <a:ext uri="{9D8B030D-6E8A-4147-A177-3AD203B41FA5}">
                          <a16:colId xmlns:a16="http://schemas.microsoft.com/office/drawing/2014/main" val="202188960"/>
                        </a:ext>
                      </a:extLst>
                    </a:gridCol>
                    <a:gridCol w="409245">
                      <a:extLst>
                        <a:ext uri="{9D8B030D-6E8A-4147-A177-3AD203B41FA5}">
                          <a16:colId xmlns:a16="http://schemas.microsoft.com/office/drawing/2014/main" val="4142623678"/>
                        </a:ext>
                      </a:extLst>
                    </a:gridCol>
                    <a:gridCol w="409245">
                      <a:extLst>
                        <a:ext uri="{9D8B030D-6E8A-4147-A177-3AD203B41FA5}">
                          <a16:colId xmlns:a16="http://schemas.microsoft.com/office/drawing/2014/main" val="57359619"/>
                        </a:ext>
                      </a:extLst>
                    </a:gridCol>
                    <a:gridCol w="409245">
                      <a:extLst>
                        <a:ext uri="{9D8B030D-6E8A-4147-A177-3AD203B41FA5}">
                          <a16:colId xmlns:a16="http://schemas.microsoft.com/office/drawing/2014/main" val="2568759967"/>
                        </a:ext>
                      </a:extLst>
                    </a:gridCol>
                  </a:tblGrid>
                  <a:tr h="333304">
                    <a:tc>
                      <a:txBody>
                        <a:bodyPr/>
                        <a:lstStyle/>
                        <a:p>
                          <a:pPr algn="ctr"/>
                          <a:r>
                            <a:rPr lang="en-US" altLang="zh-CN" dirty="0" smtClean="0"/>
                            <a:t>1</a:t>
                          </a:r>
                          <a:endParaRPr lang="zh-CN" altLang="en-US" dirty="0"/>
                        </a:p>
                      </a:txBody>
                      <a:tcPr/>
                    </a:tc>
                    <a:tc>
                      <a:txBody>
                        <a:bodyPr/>
                        <a:lstStyle/>
                        <a:p>
                          <a:pPr algn="ctr"/>
                          <a:r>
                            <a:rPr lang="en-US" altLang="zh-CN" dirty="0" smtClean="0"/>
                            <a:t>2</a:t>
                          </a:r>
                          <a:endParaRPr lang="zh-CN" altLang="en-US" dirty="0"/>
                        </a:p>
                      </a:txBody>
                      <a:tcPr/>
                    </a:tc>
                    <a:tc>
                      <a:txBody>
                        <a:bodyPr/>
                        <a:lstStyle/>
                        <a:p>
                          <a:pPr algn="ctr"/>
                          <a:r>
                            <a:rPr lang="en-US" altLang="zh-CN" dirty="0" smtClean="0"/>
                            <a:t>3</a:t>
                          </a:r>
                          <a:endParaRPr lang="zh-CN" altLang="en-US" dirty="0"/>
                        </a:p>
                      </a:txBody>
                      <a:tcPr/>
                    </a:tc>
                    <a:tc>
                      <a:txBody>
                        <a:bodyPr/>
                        <a:lstStyle/>
                        <a:p>
                          <a:pPr algn="ctr"/>
                          <a:r>
                            <a:rPr lang="en-US" altLang="zh-CN" dirty="0" smtClean="0"/>
                            <a:t>4</a:t>
                          </a:r>
                          <a:endParaRPr lang="zh-CN" altLang="en-US" dirty="0"/>
                        </a:p>
                      </a:txBody>
                      <a:tcPr/>
                    </a:tc>
                    <a:tc>
                      <a:txBody>
                        <a:bodyPr/>
                        <a:lstStyle/>
                        <a:p>
                          <a:pPr algn="ctr"/>
                          <a:r>
                            <a:rPr lang="en-US" altLang="zh-CN" dirty="0" smtClean="0"/>
                            <a:t>5</a:t>
                          </a:r>
                          <a:endParaRPr lang="zh-CN" altLang="en-US" dirty="0"/>
                        </a:p>
                      </a:txBody>
                      <a:tcPr/>
                    </a:tc>
                    <a:tc>
                      <a:txBody>
                        <a:bodyPr/>
                        <a:lstStyle/>
                        <a:p>
                          <a:pPr algn="ctr"/>
                          <a:r>
                            <a:rPr lang="en-US" altLang="zh-CN" dirty="0" smtClean="0"/>
                            <a:t>6</a:t>
                          </a:r>
                          <a:endParaRPr lang="zh-CN" altLang="en-US" dirty="0"/>
                        </a:p>
                      </a:txBody>
                      <a:tcPr/>
                    </a:tc>
                    <a:extLst>
                      <a:ext uri="{0D108BD9-81ED-4DB2-BD59-A6C34878D82A}">
                        <a16:rowId xmlns:a16="http://schemas.microsoft.com/office/drawing/2014/main" val="1749628763"/>
                      </a:ext>
                    </a:extLst>
                  </a:tr>
                  <a:tr h="370840">
                    <a:tc>
                      <a:txBody>
                        <a:bodyPr/>
                        <a:lstStyle/>
                        <a:p>
                          <a:pPr algn="ctr"/>
                          <a:r>
                            <a:rPr lang="en-US" altLang="zh-CN" dirty="0" smtClean="0">
                              <a:solidFill>
                                <a:schemeClr val="bg2"/>
                              </a:solidFill>
                            </a:rPr>
                            <a:t>0</a:t>
                          </a:r>
                          <a:endParaRPr lang="zh-CN" altLang="en-US" dirty="0">
                            <a:solidFill>
                              <a:schemeClr val="bg2"/>
                            </a:solidFill>
                          </a:endParaRPr>
                        </a:p>
                      </a:txBody>
                      <a:tcPr/>
                    </a:tc>
                    <a:tc>
                      <a:txBody>
                        <a:bodyPr/>
                        <a:lstStyle/>
                        <a:p>
                          <a:pPr algn="ctr"/>
                          <a:r>
                            <a:rPr lang="en-US" altLang="zh-CN" dirty="0" smtClean="0">
                              <a:solidFill>
                                <a:schemeClr val="bg2"/>
                              </a:solidFill>
                            </a:rPr>
                            <a:t>1</a:t>
                          </a:r>
                          <a:endParaRPr lang="zh-CN" altLang="en-US" dirty="0">
                            <a:solidFill>
                              <a:schemeClr val="bg2"/>
                            </a:solidFill>
                          </a:endParaRPr>
                        </a:p>
                      </a:txBody>
                      <a:tcPr/>
                    </a:tc>
                    <a:tc>
                      <a:txBody>
                        <a:bodyPr/>
                        <a:lstStyle/>
                        <a:p>
                          <a:pPr algn="ctr"/>
                          <a:r>
                            <a:rPr lang="en-US" altLang="zh-CN" sz="1600" dirty="0" smtClean="0">
                              <a:solidFill>
                                <a:schemeClr val="bg2"/>
                              </a:solidFill>
                            </a:rPr>
                            <a:t>12</a:t>
                          </a:r>
                          <a:endParaRPr lang="zh-CN" altLang="en-US" dirty="0">
                            <a:solidFill>
                              <a:schemeClr val="bg2"/>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CN" altLang="en-US" sz="1800" i="1" smtClean="0">
                                    <a:solidFill>
                                      <a:schemeClr val="bg2"/>
                                    </a:solidFill>
                                    <a:latin typeface="Cambria Math" panose="02040503050406030204" pitchFamily="18" charset="0"/>
                                  </a:rPr>
                                  <m:t>∞</m:t>
                                </m:r>
                              </m:oMath>
                            </m:oMathPara>
                          </a14:m>
                          <a:endParaRPr lang="zh-CN" altLang="en-US" sz="1800" dirty="0">
                            <a:solidFill>
                              <a:schemeClr val="bg2"/>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zh-CN" altLang="en-US" sz="1800" i="1" smtClean="0">
                                    <a:solidFill>
                                      <a:schemeClr val="bg2"/>
                                    </a:solidFill>
                                    <a:latin typeface="Cambria Math" panose="02040503050406030204" pitchFamily="18" charset="0"/>
                                  </a:rPr>
                                  <m:t>∞</m:t>
                                </m:r>
                              </m:oMath>
                            </m:oMathPara>
                          </a14:m>
                          <a:endParaRPr lang="zh-CN" altLang="en-US" dirty="0"/>
                        </a:p>
                      </a:txBody>
                      <a:tcPr/>
                    </a:tc>
                    <a:tc>
                      <a:txBody>
                        <a:bodyPr/>
                        <a:lstStyle/>
                        <a:p>
                          <a:pPr algn="ctr"/>
                          <a14:m>
                            <m:oMathPara xmlns:m="http://schemas.openxmlformats.org/officeDocument/2006/math">
                              <m:oMathParaPr>
                                <m:jc m:val="centerGroup"/>
                              </m:oMathParaPr>
                              <m:oMath xmlns:m="http://schemas.openxmlformats.org/officeDocument/2006/math">
                                <m:r>
                                  <a:rPr lang="zh-CN" altLang="en-US" sz="1800" i="1" smtClean="0">
                                    <a:solidFill>
                                      <a:schemeClr val="bg2"/>
                                    </a:solidFill>
                                    <a:latin typeface="Cambria Math" panose="02040503050406030204" pitchFamily="18" charset="0"/>
                                  </a:rPr>
                                  <m:t>∞</m:t>
                                </m:r>
                              </m:oMath>
                            </m:oMathPara>
                          </a14:m>
                          <a:endParaRPr lang="zh-CN" altLang="en-US" dirty="0"/>
                        </a:p>
                      </a:txBody>
                      <a:tcPr/>
                    </a:tc>
                    <a:extLst>
                      <a:ext uri="{0D108BD9-81ED-4DB2-BD59-A6C34878D82A}">
                        <a16:rowId xmlns:a16="http://schemas.microsoft.com/office/drawing/2014/main" val="2308643076"/>
                      </a:ext>
                    </a:extLst>
                  </a:tr>
                </a:tbl>
              </a:graphicData>
            </a:graphic>
          </p:graphicFrame>
        </mc:Choice>
        <mc:Fallback>
          <p:graphicFrame>
            <p:nvGraphicFramePr>
              <p:cNvPr id="30" name="表格 29"/>
              <p:cNvGraphicFramePr>
                <a:graphicFrameLocks noGrp="1"/>
              </p:cNvGraphicFramePr>
              <p:nvPr>
                <p:extLst>
                  <p:ext uri="{D42A27DB-BD31-4B8C-83A1-F6EECF244321}">
                    <p14:modId xmlns:p14="http://schemas.microsoft.com/office/powerpoint/2010/main" val="4252640939"/>
                  </p:ext>
                </p:extLst>
              </p:nvPr>
            </p:nvGraphicFramePr>
            <p:xfrm>
              <a:off x="1866094" y="4441916"/>
              <a:ext cx="2455470" cy="736600"/>
            </p:xfrm>
            <a:graphic>
              <a:graphicData uri="http://schemas.openxmlformats.org/drawingml/2006/table">
                <a:tbl>
                  <a:tblPr firstRow="1" bandRow="1">
                    <a:tableStyleId>{5C22544A-7EE6-4342-B048-85BDC9FD1C3A}</a:tableStyleId>
                  </a:tblPr>
                  <a:tblGrid>
                    <a:gridCol w="409245">
                      <a:extLst>
                        <a:ext uri="{9D8B030D-6E8A-4147-A177-3AD203B41FA5}">
                          <a16:colId xmlns:a16="http://schemas.microsoft.com/office/drawing/2014/main" val="3458930630"/>
                        </a:ext>
                      </a:extLst>
                    </a:gridCol>
                    <a:gridCol w="409245">
                      <a:extLst>
                        <a:ext uri="{9D8B030D-6E8A-4147-A177-3AD203B41FA5}">
                          <a16:colId xmlns:a16="http://schemas.microsoft.com/office/drawing/2014/main" val="3751536738"/>
                        </a:ext>
                      </a:extLst>
                    </a:gridCol>
                    <a:gridCol w="409245">
                      <a:extLst>
                        <a:ext uri="{9D8B030D-6E8A-4147-A177-3AD203B41FA5}">
                          <a16:colId xmlns:a16="http://schemas.microsoft.com/office/drawing/2014/main" val="202188960"/>
                        </a:ext>
                      </a:extLst>
                    </a:gridCol>
                    <a:gridCol w="409245">
                      <a:extLst>
                        <a:ext uri="{9D8B030D-6E8A-4147-A177-3AD203B41FA5}">
                          <a16:colId xmlns:a16="http://schemas.microsoft.com/office/drawing/2014/main" val="4142623678"/>
                        </a:ext>
                      </a:extLst>
                    </a:gridCol>
                    <a:gridCol w="409245">
                      <a:extLst>
                        <a:ext uri="{9D8B030D-6E8A-4147-A177-3AD203B41FA5}">
                          <a16:colId xmlns:a16="http://schemas.microsoft.com/office/drawing/2014/main" val="57359619"/>
                        </a:ext>
                      </a:extLst>
                    </a:gridCol>
                    <a:gridCol w="409245">
                      <a:extLst>
                        <a:ext uri="{9D8B030D-6E8A-4147-A177-3AD203B41FA5}">
                          <a16:colId xmlns:a16="http://schemas.microsoft.com/office/drawing/2014/main" val="2568759967"/>
                        </a:ext>
                      </a:extLst>
                    </a:gridCol>
                  </a:tblGrid>
                  <a:tr h="365760">
                    <a:tc>
                      <a:txBody>
                        <a:bodyPr/>
                        <a:lstStyle/>
                        <a:p>
                          <a:pPr algn="ctr"/>
                          <a:r>
                            <a:rPr lang="en-US" altLang="zh-CN" dirty="0" smtClean="0"/>
                            <a:t>1</a:t>
                          </a:r>
                          <a:endParaRPr lang="zh-CN" altLang="en-US" dirty="0"/>
                        </a:p>
                      </a:txBody>
                      <a:tcPr/>
                    </a:tc>
                    <a:tc>
                      <a:txBody>
                        <a:bodyPr/>
                        <a:lstStyle/>
                        <a:p>
                          <a:pPr algn="ctr"/>
                          <a:r>
                            <a:rPr lang="en-US" altLang="zh-CN" dirty="0" smtClean="0"/>
                            <a:t>2</a:t>
                          </a:r>
                          <a:endParaRPr lang="zh-CN" altLang="en-US" dirty="0"/>
                        </a:p>
                      </a:txBody>
                      <a:tcPr/>
                    </a:tc>
                    <a:tc>
                      <a:txBody>
                        <a:bodyPr/>
                        <a:lstStyle/>
                        <a:p>
                          <a:pPr algn="ctr"/>
                          <a:r>
                            <a:rPr lang="en-US" altLang="zh-CN" dirty="0" smtClean="0"/>
                            <a:t>3</a:t>
                          </a:r>
                          <a:endParaRPr lang="zh-CN" altLang="en-US" dirty="0"/>
                        </a:p>
                      </a:txBody>
                      <a:tcPr/>
                    </a:tc>
                    <a:tc>
                      <a:txBody>
                        <a:bodyPr/>
                        <a:lstStyle/>
                        <a:p>
                          <a:pPr algn="ctr"/>
                          <a:r>
                            <a:rPr lang="en-US" altLang="zh-CN" dirty="0" smtClean="0"/>
                            <a:t>4</a:t>
                          </a:r>
                          <a:endParaRPr lang="zh-CN" altLang="en-US" dirty="0"/>
                        </a:p>
                      </a:txBody>
                      <a:tcPr/>
                    </a:tc>
                    <a:tc>
                      <a:txBody>
                        <a:bodyPr/>
                        <a:lstStyle/>
                        <a:p>
                          <a:pPr algn="ctr"/>
                          <a:r>
                            <a:rPr lang="en-US" altLang="zh-CN" dirty="0" smtClean="0"/>
                            <a:t>5</a:t>
                          </a:r>
                          <a:endParaRPr lang="zh-CN" altLang="en-US" dirty="0"/>
                        </a:p>
                      </a:txBody>
                      <a:tcPr/>
                    </a:tc>
                    <a:tc>
                      <a:txBody>
                        <a:bodyPr/>
                        <a:lstStyle/>
                        <a:p>
                          <a:pPr algn="ctr"/>
                          <a:r>
                            <a:rPr lang="en-US" altLang="zh-CN" dirty="0" smtClean="0"/>
                            <a:t>6</a:t>
                          </a:r>
                          <a:endParaRPr lang="zh-CN" altLang="en-US" dirty="0"/>
                        </a:p>
                      </a:txBody>
                      <a:tcPr/>
                    </a:tc>
                    <a:extLst>
                      <a:ext uri="{0D108BD9-81ED-4DB2-BD59-A6C34878D82A}">
                        <a16:rowId xmlns:a16="http://schemas.microsoft.com/office/drawing/2014/main" val="1749628763"/>
                      </a:ext>
                    </a:extLst>
                  </a:tr>
                  <a:tr h="370840">
                    <a:tc>
                      <a:txBody>
                        <a:bodyPr/>
                        <a:lstStyle/>
                        <a:p>
                          <a:pPr algn="ctr"/>
                          <a:r>
                            <a:rPr lang="en-US" altLang="zh-CN" dirty="0" smtClean="0">
                              <a:solidFill>
                                <a:schemeClr val="bg2"/>
                              </a:solidFill>
                            </a:rPr>
                            <a:t>0</a:t>
                          </a:r>
                          <a:endParaRPr lang="zh-CN" altLang="en-US" dirty="0">
                            <a:solidFill>
                              <a:schemeClr val="bg2"/>
                            </a:solidFill>
                          </a:endParaRPr>
                        </a:p>
                      </a:txBody>
                      <a:tcPr/>
                    </a:tc>
                    <a:tc>
                      <a:txBody>
                        <a:bodyPr/>
                        <a:lstStyle/>
                        <a:p>
                          <a:pPr algn="ctr"/>
                          <a:r>
                            <a:rPr lang="en-US" altLang="zh-CN" dirty="0" smtClean="0">
                              <a:solidFill>
                                <a:schemeClr val="bg2"/>
                              </a:solidFill>
                            </a:rPr>
                            <a:t>1</a:t>
                          </a:r>
                          <a:endParaRPr lang="zh-CN" altLang="en-US" dirty="0">
                            <a:solidFill>
                              <a:schemeClr val="bg2"/>
                            </a:solidFill>
                          </a:endParaRPr>
                        </a:p>
                      </a:txBody>
                      <a:tcPr/>
                    </a:tc>
                    <a:tc>
                      <a:txBody>
                        <a:bodyPr/>
                        <a:lstStyle/>
                        <a:p>
                          <a:pPr algn="ctr"/>
                          <a:r>
                            <a:rPr lang="en-US" altLang="zh-CN" sz="1600" dirty="0" smtClean="0">
                              <a:solidFill>
                                <a:schemeClr val="bg2"/>
                              </a:solidFill>
                            </a:rPr>
                            <a:t>12</a:t>
                          </a:r>
                          <a:endParaRPr lang="zh-CN" altLang="en-US" dirty="0">
                            <a:solidFill>
                              <a:schemeClr val="bg2"/>
                            </a:solidFill>
                          </a:endParaRPr>
                        </a:p>
                      </a:txBody>
                      <a:tcPr/>
                    </a:tc>
                    <a:tc>
                      <a:txBody>
                        <a:bodyPr/>
                        <a:lstStyle/>
                        <a:p>
                          <a:endParaRPr lang="zh-CN"/>
                        </a:p>
                      </a:txBody>
                      <a:tcPr>
                        <a:blipFill>
                          <a:blip r:embed="rId2"/>
                          <a:stretch>
                            <a:fillRect l="-302985" t="-108197" r="-207463" b="-24590"/>
                          </a:stretch>
                        </a:blipFill>
                      </a:tcPr>
                    </a:tc>
                    <a:tc>
                      <a:txBody>
                        <a:bodyPr/>
                        <a:lstStyle/>
                        <a:p>
                          <a:endParaRPr lang="zh-CN"/>
                        </a:p>
                      </a:txBody>
                      <a:tcPr>
                        <a:blipFill>
                          <a:blip r:embed="rId2"/>
                          <a:stretch>
                            <a:fillRect l="-402985" t="-108197" r="-107463" b="-24590"/>
                          </a:stretch>
                        </a:blipFill>
                      </a:tcPr>
                    </a:tc>
                    <a:tc>
                      <a:txBody>
                        <a:bodyPr/>
                        <a:lstStyle/>
                        <a:p>
                          <a:endParaRPr lang="zh-CN"/>
                        </a:p>
                      </a:txBody>
                      <a:tcPr>
                        <a:blipFill>
                          <a:blip r:embed="rId2"/>
                          <a:stretch>
                            <a:fillRect l="-502985" t="-108197" r="-7463" b="-24590"/>
                          </a:stretch>
                        </a:blipFill>
                      </a:tcPr>
                    </a:tc>
                    <a:extLst>
                      <a:ext uri="{0D108BD9-81ED-4DB2-BD59-A6C34878D82A}">
                        <a16:rowId xmlns:a16="http://schemas.microsoft.com/office/drawing/2014/main" val="2308643076"/>
                      </a:ext>
                    </a:extLst>
                  </a:tr>
                </a:tbl>
              </a:graphicData>
            </a:graphic>
          </p:graphicFrame>
        </mc:Fallback>
      </mc:AlternateContent>
      <p:sp>
        <p:nvSpPr>
          <p:cNvPr id="31" name="圆角矩形 30"/>
          <p:cNvSpPr/>
          <p:nvPr/>
        </p:nvSpPr>
        <p:spPr>
          <a:xfrm>
            <a:off x="755128" y="4785324"/>
            <a:ext cx="1110966" cy="393192"/>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distance</a:t>
            </a:r>
            <a:endParaRPr lang="zh-CN" altLang="en-US" dirty="0"/>
          </a:p>
        </p:txBody>
      </p:sp>
      <p:sp>
        <p:nvSpPr>
          <p:cNvPr id="32" name="文本框 31"/>
          <p:cNvSpPr txBox="1"/>
          <p:nvPr/>
        </p:nvSpPr>
        <p:spPr>
          <a:xfrm>
            <a:off x="5432530" y="1114449"/>
            <a:ext cx="6532558" cy="1754326"/>
          </a:xfrm>
          <a:prstGeom prst="rect">
            <a:avLst/>
          </a:prstGeom>
          <a:noFill/>
        </p:spPr>
        <p:txBody>
          <a:bodyPr wrap="none" rtlCol="0">
            <a:spAutoFit/>
          </a:bodyPr>
          <a:lstStyle/>
          <a:p>
            <a:r>
              <a:rPr lang="zh-CN" altLang="en-US" dirty="0" smtClean="0"/>
              <a:t>我们再尝试寻找下一个节点，我们的目标是寻找最短路径，</a:t>
            </a:r>
            <a:endParaRPr lang="en-US" altLang="zh-CN" dirty="0" smtClean="0"/>
          </a:p>
          <a:p>
            <a:r>
              <a:rPr lang="zh-CN" altLang="en-US" dirty="0" smtClean="0"/>
              <a:t>而现在确定的最短路径仅仅为节点</a:t>
            </a:r>
            <a:r>
              <a:rPr lang="en-US" altLang="zh-CN" dirty="0" smtClean="0"/>
              <a:t>1-</a:t>
            </a:r>
            <a:r>
              <a:rPr lang="zh-CN" altLang="en-US" dirty="0" smtClean="0"/>
              <a:t>节点</a:t>
            </a:r>
            <a:r>
              <a:rPr lang="en-US" altLang="zh-CN" dirty="0" smtClean="0"/>
              <a:t>2</a:t>
            </a:r>
          </a:p>
          <a:p>
            <a:r>
              <a:rPr lang="zh-CN" altLang="en-US" dirty="0" smtClean="0"/>
              <a:t>所以我们尝试从节点</a:t>
            </a:r>
            <a:r>
              <a:rPr lang="en-US" altLang="zh-CN" dirty="0" smtClean="0"/>
              <a:t>2</a:t>
            </a:r>
            <a:r>
              <a:rPr lang="zh-CN" altLang="en-US" dirty="0" smtClean="0"/>
              <a:t>寻找下一个可以将“估计值”更改为</a:t>
            </a:r>
            <a:endParaRPr lang="en-US" altLang="zh-CN" dirty="0" smtClean="0"/>
          </a:p>
          <a:p>
            <a:r>
              <a:rPr lang="zh-CN" altLang="en-US" dirty="0" smtClean="0"/>
              <a:t>“确定值”的节点。</a:t>
            </a:r>
            <a:endParaRPr lang="en-US" altLang="zh-CN" dirty="0" smtClean="0"/>
          </a:p>
          <a:p>
            <a:r>
              <a:rPr lang="zh-CN" altLang="en-US" dirty="0" smtClean="0"/>
              <a:t>节点</a:t>
            </a:r>
            <a:r>
              <a:rPr lang="en-US" altLang="zh-CN" dirty="0" smtClean="0"/>
              <a:t>2</a:t>
            </a:r>
            <a:r>
              <a:rPr lang="zh-CN" altLang="en-US" dirty="0" smtClean="0"/>
              <a:t>的出度有节点</a:t>
            </a:r>
            <a:r>
              <a:rPr lang="en-US" altLang="zh-CN" dirty="0" smtClean="0"/>
              <a:t>3</a:t>
            </a:r>
            <a:r>
              <a:rPr lang="zh-CN" altLang="en-US" dirty="0" smtClean="0"/>
              <a:t>和节点</a:t>
            </a:r>
            <a:r>
              <a:rPr lang="en-US" altLang="zh-CN" dirty="0" smtClean="0"/>
              <a:t>4</a:t>
            </a:r>
            <a:r>
              <a:rPr lang="zh-CN" altLang="en-US" dirty="0" smtClean="0"/>
              <a:t>，现在我们尝试计算节点</a:t>
            </a:r>
            <a:r>
              <a:rPr lang="en-US" altLang="zh-CN" dirty="0" smtClean="0"/>
              <a:t>1</a:t>
            </a:r>
            <a:r>
              <a:rPr lang="zh-CN" altLang="en-US" dirty="0" smtClean="0"/>
              <a:t>到节点</a:t>
            </a:r>
            <a:r>
              <a:rPr lang="en-US" altLang="zh-CN" dirty="0" smtClean="0"/>
              <a:t>3</a:t>
            </a:r>
          </a:p>
          <a:p>
            <a:r>
              <a:rPr lang="zh-CN" altLang="en-US" dirty="0" smtClean="0"/>
              <a:t>通过节点</a:t>
            </a:r>
            <a:r>
              <a:rPr lang="en-US" altLang="zh-CN" dirty="0" smtClean="0"/>
              <a:t>2</a:t>
            </a:r>
            <a:r>
              <a:rPr lang="zh-CN" altLang="en-US" dirty="0" smtClean="0"/>
              <a:t>的最短路径</a:t>
            </a:r>
            <a:endParaRPr lang="en-US" altLang="zh-CN" dirty="0" smtClean="0"/>
          </a:p>
        </p:txBody>
      </p:sp>
      <p:sp>
        <p:nvSpPr>
          <p:cNvPr id="37" name="矩形 36"/>
          <p:cNvSpPr/>
          <p:nvPr/>
        </p:nvSpPr>
        <p:spPr>
          <a:xfrm>
            <a:off x="2703785" y="4809716"/>
            <a:ext cx="352044" cy="2954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10</a:t>
            </a:r>
            <a:endParaRPr lang="zh-CN" altLang="en-US" sz="1200" dirty="0"/>
          </a:p>
        </p:txBody>
      </p:sp>
      <p:sp>
        <p:nvSpPr>
          <p:cNvPr id="38" name="矩形 37"/>
          <p:cNvSpPr/>
          <p:nvPr/>
        </p:nvSpPr>
        <p:spPr>
          <a:xfrm>
            <a:off x="3121246" y="4834196"/>
            <a:ext cx="352044" cy="2954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4</a:t>
            </a:r>
            <a:endParaRPr lang="zh-CN" altLang="en-US" sz="1200" dirty="0"/>
          </a:p>
        </p:txBody>
      </p:sp>
      <p:sp>
        <p:nvSpPr>
          <p:cNvPr id="39" name="矩形 38"/>
          <p:cNvSpPr/>
          <p:nvPr/>
        </p:nvSpPr>
        <p:spPr>
          <a:xfrm>
            <a:off x="5586484" y="2832354"/>
            <a:ext cx="6096000" cy="2862322"/>
          </a:xfrm>
          <a:prstGeom prst="rect">
            <a:avLst/>
          </a:prstGeom>
        </p:spPr>
        <p:txBody>
          <a:bodyPr>
            <a:spAutoFit/>
          </a:bodyPr>
          <a:lstStyle/>
          <a:p>
            <a:r>
              <a:rPr lang="en-US" altLang="zh-CN" dirty="0"/>
              <a:t>min{1,3} = </a:t>
            </a:r>
          </a:p>
          <a:p>
            <a:r>
              <a:rPr lang="en-US" altLang="zh-CN" dirty="0"/>
              <a:t>    min{</a:t>
            </a:r>
          </a:p>
          <a:p>
            <a:r>
              <a:rPr lang="en-US" altLang="zh-CN" dirty="0"/>
              <a:t>        {dis[2] + graph[2][3]},</a:t>
            </a:r>
          </a:p>
          <a:p>
            <a:r>
              <a:rPr lang="en-US" altLang="zh-CN" dirty="0"/>
              <a:t>        {dis[3]}</a:t>
            </a:r>
          </a:p>
          <a:p>
            <a:r>
              <a:rPr lang="en-US" altLang="zh-CN" dirty="0"/>
              <a:t>    } = 10</a:t>
            </a:r>
          </a:p>
          <a:p>
            <a:r>
              <a:rPr lang="en-US" altLang="zh-CN" dirty="0"/>
              <a:t>min{1,4} = </a:t>
            </a:r>
          </a:p>
          <a:p>
            <a:r>
              <a:rPr lang="en-US" altLang="zh-CN" dirty="0"/>
              <a:t>    min{</a:t>
            </a:r>
          </a:p>
          <a:p>
            <a:r>
              <a:rPr lang="en-US" altLang="zh-CN" dirty="0"/>
              <a:t>        {dis[2] + graph[2][4]},</a:t>
            </a:r>
          </a:p>
          <a:p>
            <a:r>
              <a:rPr lang="en-US" altLang="zh-CN" dirty="0"/>
              <a:t>        {dis[4]}</a:t>
            </a:r>
          </a:p>
          <a:p>
            <a:r>
              <a:rPr lang="en-US" altLang="zh-CN" dirty="0"/>
              <a:t>    } = 4</a:t>
            </a:r>
          </a:p>
        </p:txBody>
      </p:sp>
      <p:sp>
        <p:nvSpPr>
          <p:cNvPr id="40" name="矩形 39"/>
          <p:cNvSpPr/>
          <p:nvPr/>
        </p:nvSpPr>
        <p:spPr>
          <a:xfrm>
            <a:off x="5432530" y="5657671"/>
            <a:ext cx="6096000" cy="1200329"/>
          </a:xfrm>
          <a:prstGeom prst="rect">
            <a:avLst/>
          </a:prstGeom>
        </p:spPr>
        <p:txBody>
          <a:bodyPr>
            <a:spAutoFit/>
          </a:bodyPr>
          <a:lstStyle/>
          <a:p>
            <a:r>
              <a:rPr lang="zh-CN" altLang="en-US" dirty="0"/>
              <a:t>将计算节点</a:t>
            </a:r>
            <a:r>
              <a:rPr lang="en-US" altLang="zh-CN" dirty="0"/>
              <a:t>3</a:t>
            </a:r>
            <a:r>
              <a:rPr lang="zh-CN" altLang="en-US" dirty="0"/>
              <a:t>和节点</a:t>
            </a:r>
            <a:r>
              <a:rPr lang="en-US" altLang="zh-CN" dirty="0"/>
              <a:t>4dis</a:t>
            </a:r>
            <a:r>
              <a:rPr lang="zh-CN" altLang="en-US" dirty="0"/>
              <a:t>的过程称为“松弛”</a:t>
            </a:r>
            <a:endParaRPr lang="en-US" altLang="zh-CN" dirty="0"/>
          </a:p>
          <a:p>
            <a:r>
              <a:rPr lang="zh-CN" altLang="en-US" dirty="0"/>
              <a:t>为了开展下一次“松弛”，我们需要寻找一个合适的参考点，</a:t>
            </a:r>
            <a:endParaRPr lang="en-US" altLang="zh-CN" dirty="0"/>
          </a:p>
          <a:p>
            <a:r>
              <a:rPr lang="zh-CN" altLang="en-US" dirty="0"/>
              <a:t>像上一步的节点</a:t>
            </a:r>
            <a:r>
              <a:rPr lang="en-US" altLang="zh-CN" dirty="0"/>
              <a:t>2</a:t>
            </a:r>
            <a:r>
              <a:rPr lang="zh-CN" altLang="en-US" dirty="0"/>
              <a:t>一样</a:t>
            </a:r>
            <a:endParaRPr lang="zh-CN" altLang="en-US" dirty="0"/>
          </a:p>
        </p:txBody>
      </p:sp>
    </p:spTree>
    <p:extLst>
      <p:ext uri="{BB962C8B-B14F-4D97-AF65-F5344CB8AC3E}">
        <p14:creationId xmlns:p14="http://schemas.microsoft.com/office/powerpoint/2010/main" val="600993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7" grpId="0" animBg="1"/>
      <p:bldP spid="38" grpId="0" animBg="1"/>
      <p:bldP spid="39" grpId="0"/>
      <p:bldP spid="4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53122" y="1208462"/>
            <a:ext cx="4774692" cy="2145231"/>
            <a:chOff x="950976" y="2959608"/>
            <a:chExt cx="4774692" cy="2145231"/>
          </a:xfrm>
        </p:grpSpPr>
        <p:sp>
          <p:nvSpPr>
            <p:cNvPr id="5" name="椭圆 4"/>
            <p:cNvSpPr/>
            <p:nvPr/>
          </p:nvSpPr>
          <p:spPr>
            <a:xfrm>
              <a:off x="950976" y="3703320"/>
              <a:ext cx="502920" cy="512064"/>
            </a:xfrm>
            <a:prstGeom prst="ellipse">
              <a:avLst/>
            </a:prstGeom>
            <a:solidFill>
              <a:schemeClr val="accent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1</a:t>
              </a:r>
              <a:endParaRPr lang="zh-CN" altLang="en-US" dirty="0"/>
            </a:p>
          </p:txBody>
        </p:sp>
        <p:sp>
          <p:nvSpPr>
            <p:cNvPr id="6" name="椭圆 5"/>
            <p:cNvSpPr/>
            <p:nvPr/>
          </p:nvSpPr>
          <p:spPr>
            <a:xfrm>
              <a:off x="2164080" y="2959608"/>
              <a:ext cx="502920" cy="512064"/>
            </a:xfrm>
            <a:prstGeom prst="ellipse">
              <a:avLst/>
            </a:prstGeom>
            <a:solidFill>
              <a:schemeClr val="accent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2</a:t>
              </a:r>
              <a:endParaRPr lang="zh-CN" altLang="en-US" dirty="0"/>
            </a:p>
          </p:txBody>
        </p:sp>
        <p:sp>
          <p:nvSpPr>
            <p:cNvPr id="7" name="椭圆 6"/>
            <p:cNvSpPr/>
            <p:nvPr/>
          </p:nvSpPr>
          <p:spPr>
            <a:xfrm>
              <a:off x="2164080" y="4556760"/>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3</a:t>
              </a:r>
              <a:endParaRPr lang="zh-CN" altLang="en-US" dirty="0"/>
            </a:p>
          </p:txBody>
        </p:sp>
        <p:sp>
          <p:nvSpPr>
            <p:cNvPr id="8" name="椭圆 7"/>
            <p:cNvSpPr/>
            <p:nvPr/>
          </p:nvSpPr>
          <p:spPr>
            <a:xfrm>
              <a:off x="3931920" y="2959608"/>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4</a:t>
              </a:r>
              <a:endParaRPr lang="zh-CN" altLang="en-US" dirty="0"/>
            </a:p>
          </p:txBody>
        </p:sp>
        <p:sp>
          <p:nvSpPr>
            <p:cNvPr id="9" name="椭圆 8"/>
            <p:cNvSpPr/>
            <p:nvPr/>
          </p:nvSpPr>
          <p:spPr>
            <a:xfrm>
              <a:off x="3931920" y="4556760"/>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5</a:t>
              </a:r>
              <a:endParaRPr lang="zh-CN" altLang="en-US" dirty="0"/>
            </a:p>
          </p:txBody>
        </p:sp>
        <p:sp>
          <p:nvSpPr>
            <p:cNvPr id="10" name="椭圆 9"/>
            <p:cNvSpPr/>
            <p:nvPr/>
          </p:nvSpPr>
          <p:spPr>
            <a:xfrm>
              <a:off x="5222748" y="3703320"/>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6</a:t>
              </a:r>
              <a:endParaRPr lang="zh-CN" altLang="en-US" dirty="0"/>
            </a:p>
          </p:txBody>
        </p:sp>
        <p:cxnSp>
          <p:nvCxnSpPr>
            <p:cNvPr id="11" name="直接箭头连接符 10"/>
            <p:cNvCxnSpPr>
              <a:stCxn id="5" idx="7"/>
              <a:endCxn id="6" idx="3"/>
            </p:cNvCxnSpPr>
            <p:nvPr/>
          </p:nvCxnSpPr>
          <p:spPr>
            <a:xfrm flipV="1">
              <a:off x="1380245" y="3396682"/>
              <a:ext cx="857486" cy="3816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5" idx="5"/>
              <a:endCxn id="7" idx="1"/>
            </p:cNvCxnSpPr>
            <p:nvPr/>
          </p:nvCxnSpPr>
          <p:spPr>
            <a:xfrm>
              <a:off x="1380245" y="4140394"/>
              <a:ext cx="857486" cy="4913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直接箭头连接符 12"/>
            <p:cNvCxnSpPr>
              <a:stCxn id="6" idx="6"/>
              <a:endCxn id="8" idx="2"/>
            </p:cNvCxnSpPr>
            <p:nvPr/>
          </p:nvCxnSpPr>
          <p:spPr>
            <a:xfrm>
              <a:off x="2667000" y="3215640"/>
              <a:ext cx="12649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8" idx="4"/>
              <a:endCxn id="9" idx="0"/>
            </p:cNvCxnSpPr>
            <p:nvPr/>
          </p:nvCxnSpPr>
          <p:spPr>
            <a:xfrm>
              <a:off x="4183380" y="3471672"/>
              <a:ext cx="0" cy="10850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直接箭头连接符 14"/>
            <p:cNvCxnSpPr>
              <a:stCxn id="7" idx="6"/>
              <a:endCxn id="9" idx="2"/>
            </p:cNvCxnSpPr>
            <p:nvPr/>
          </p:nvCxnSpPr>
          <p:spPr>
            <a:xfrm>
              <a:off x="2667000" y="4812792"/>
              <a:ext cx="12649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接箭头连接符 15"/>
            <p:cNvCxnSpPr>
              <a:stCxn id="8" idx="3"/>
              <a:endCxn id="7" idx="7"/>
            </p:cNvCxnSpPr>
            <p:nvPr/>
          </p:nvCxnSpPr>
          <p:spPr>
            <a:xfrm flipH="1">
              <a:off x="2593349" y="3396682"/>
              <a:ext cx="1412222" cy="12350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a:stCxn id="6" idx="4"/>
              <a:endCxn id="7" idx="0"/>
            </p:cNvCxnSpPr>
            <p:nvPr/>
          </p:nvCxnSpPr>
          <p:spPr>
            <a:xfrm>
              <a:off x="2415540" y="3471672"/>
              <a:ext cx="0" cy="1085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8" idx="6"/>
              <a:endCxn id="10" idx="1"/>
            </p:cNvCxnSpPr>
            <p:nvPr/>
          </p:nvCxnSpPr>
          <p:spPr>
            <a:xfrm>
              <a:off x="4434840" y="3215640"/>
              <a:ext cx="861559" cy="5626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9" idx="7"/>
              <a:endCxn id="10" idx="3"/>
            </p:cNvCxnSpPr>
            <p:nvPr/>
          </p:nvCxnSpPr>
          <p:spPr>
            <a:xfrm flipV="1">
              <a:off x="4361189" y="4140394"/>
              <a:ext cx="935210" cy="4913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圆角矩形 19"/>
            <p:cNvSpPr/>
            <p:nvPr/>
          </p:nvSpPr>
          <p:spPr>
            <a:xfrm>
              <a:off x="1534141" y="3362862"/>
              <a:ext cx="427745" cy="276449"/>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1</a:t>
              </a:r>
              <a:endParaRPr lang="zh-CN" altLang="en-US" dirty="0"/>
            </a:p>
          </p:txBody>
        </p:sp>
        <p:sp>
          <p:nvSpPr>
            <p:cNvPr id="21" name="圆角矩形 20"/>
            <p:cNvSpPr/>
            <p:nvPr/>
          </p:nvSpPr>
          <p:spPr>
            <a:xfrm>
              <a:off x="3153156" y="2977335"/>
              <a:ext cx="431292" cy="335235"/>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3</a:t>
              </a:r>
              <a:endParaRPr lang="zh-CN" altLang="en-US" dirty="0"/>
            </a:p>
          </p:txBody>
        </p:sp>
        <p:sp>
          <p:nvSpPr>
            <p:cNvPr id="22" name="圆角矩形 21"/>
            <p:cNvSpPr/>
            <p:nvPr/>
          </p:nvSpPr>
          <p:spPr>
            <a:xfrm>
              <a:off x="4870205" y="3312571"/>
              <a:ext cx="426194" cy="24352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dirty="0" smtClean="0"/>
                <a:t>15</a:t>
              </a:r>
              <a:endParaRPr lang="zh-CN" altLang="en-US" sz="2400" dirty="0"/>
            </a:p>
          </p:txBody>
        </p:sp>
        <p:sp>
          <p:nvSpPr>
            <p:cNvPr id="23" name="圆角矩形 22"/>
            <p:cNvSpPr/>
            <p:nvPr/>
          </p:nvSpPr>
          <p:spPr>
            <a:xfrm>
              <a:off x="4005571" y="3813048"/>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13</a:t>
              </a:r>
              <a:endParaRPr lang="zh-CN" altLang="en-US" dirty="0"/>
            </a:p>
          </p:txBody>
        </p:sp>
        <p:sp>
          <p:nvSpPr>
            <p:cNvPr id="24" name="圆角矩形 23"/>
            <p:cNvSpPr/>
            <p:nvPr/>
          </p:nvSpPr>
          <p:spPr>
            <a:xfrm>
              <a:off x="3085062" y="3749644"/>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4</a:t>
              </a:r>
              <a:endParaRPr lang="zh-CN" altLang="en-US" dirty="0"/>
            </a:p>
          </p:txBody>
        </p:sp>
        <p:sp>
          <p:nvSpPr>
            <p:cNvPr id="25" name="圆角矩形 24"/>
            <p:cNvSpPr/>
            <p:nvPr/>
          </p:nvSpPr>
          <p:spPr>
            <a:xfrm>
              <a:off x="2164553" y="3803343"/>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9</a:t>
              </a:r>
              <a:endParaRPr lang="zh-CN" altLang="en-US" dirty="0"/>
            </a:p>
          </p:txBody>
        </p:sp>
        <p:sp>
          <p:nvSpPr>
            <p:cNvPr id="26" name="圆角矩形 25"/>
            <p:cNvSpPr/>
            <p:nvPr/>
          </p:nvSpPr>
          <p:spPr>
            <a:xfrm>
              <a:off x="1483086" y="4246783"/>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12</a:t>
              </a:r>
              <a:endParaRPr lang="zh-CN" altLang="en-US" dirty="0"/>
            </a:p>
          </p:txBody>
        </p:sp>
        <p:sp>
          <p:nvSpPr>
            <p:cNvPr id="27" name="圆角矩形 26"/>
            <p:cNvSpPr/>
            <p:nvPr/>
          </p:nvSpPr>
          <p:spPr>
            <a:xfrm>
              <a:off x="3085061" y="4702503"/>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5</a:t>
              </a:r>
              <a:endParaRPr lang="zh-CN" altLang="en-US" dirty="0"/>
            </a:p>
          </p:txBody>
        </p:sp>
        <p:sp>
          <p:nvSpPr>
            <p:cNvPr id="28" name="圆角矩形 27"/>
            <p:cNvSpPr/>
            <p:nvPr/>
          </p:nvSpPr>
          <p:spPr>
            <a:xfrm>
              <a:off x="4690103" y="4265990"/>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4</a:t>
              </a:r>
              <a:endParaRPr lang="zh-CN" altLang="en-US" dirty="0"/>
            </a:p>
          </p:txBody>
        </p:sp>
      </p:grpSp>
      <p:sp>
        <p:nvSpPr>
          <p:cNvPr id="29" name="文本框 28"/>
          <p:cNvSpPr txBox="1"/>
          <p:nvPr/>
        </p:nvSpPr>
        <p:spPr>
          <a:xfrm>
            <a:off x="5247409" y="1108341"/>
            <a:ext cx="6417141" cy="1477328"/>
          </a:xfrm>
          <a:prstGeom prst="rect">
            <a:avLst/>
          </a:prstGeom>
          <a:noFill/>
        </p:spPr>
        <p:txBody>
          <a:bodyPr wrap="none" rtlCol="0">
            <a:spAutoFit/>
          </a:bodyPr>
          <a:lstStyle/>
          <a:p>
            <a:r>
              <a:rPr lang="zh-CN" altLang="en-US" dirty="0" smtClean="0"/>
              <a:t>从图中来看，能够选择的“确定值”有节点</a:t>
            </a:r>
            <a:r>
              <a:rPr lang="en-US" altLang="zh-CN" dirty="0" smtClean="0"/>
              <a:t>3</a:t>
            </a:r>
            <a:r>
              <a:rPr lang="zh-CN" altLang="en-US" dirty="0" smtClean="0"/>
              <a:t>和节点</a:t>
            </a:r>
            <a:r>
              <a:rPr lang="en-US" altLang="zh-CN" dirty="0" smtClean="0"/>
              <a:t>4</a:t>
            </a:r>
            <a:r>
              <a:rPr lang="zh-CN" altLang="en-US" dirty="0" smtClean="0"/>
              <a:t>，</a:t>
            </a:r>
            <a:endParaRPr lang="en-US" altLang="zh-CN" dirty="0" smtClean="0"/>
          </a:p>
          <a:p>
            <a:r>
              <a:rPr lang="zh-CN" altLang="en-US" dirty="0" smtClean="0"/>
              <a:t>其中路径最短的是节点</a:t>
            </a:r>
            <a:r>
              <a:rPr lang="en-US" altLang="zh-CN" dirty="0" smtClean="0"/>
              <a:t>4</a:t>
            </a:r>
            <a:r>
              <a:rPr lang="zh-CN" altLang="en-US" dirty="0" smtClean="0"/>
              <a:t>，所以我们选择节点</a:t>
            </a:r>
            <a:r>
              <a:rPr lang="en-US" altLang="zh-CN" dirty="0" smtClean="0"/>
              <a:t>4</a:t>
            </a:r>
            <a:r>
              <a:rPr lang="zh-CN" altLang="en-US" dirty="0" smtClean="0"/>
              <a:t>作为起始节点。</a:t>
            </a:r>
            <a:endParaRPr lang="en-US" altLang="zh-CN" dirty="0" smtClean="0"/>
          </a:p>
          <a:p>
            <a:r>
              <a:rPr lang="zh-CN" altLang="en-US" dirty="0" smtClean="0"/>
              <a:t>并标记节点</a:t>
            </a:r>
            <a:r>
              <a:rPr lang="en-US" altLang="zh-CN" dirty="0" smtClean="0"/>
              <a:t>4</a:t>
            </a:r>
            <a:r>
              <a:rPr lang="zh-CN" altLang="en-US" dirty="0" smtClean="0"/>
              <a:t>，以节点</a:t>
            </a:r>
            <a:r>
              <a:rPr lang="en-US" altLang="zh-CN" dirty="0" smtClean="0"/>
              <a:t>4</a:t>
            </a:r>
            <a:r>
              <a:rPr lang="zh-CN" altLang="en-US" dirty="0" smtClean="0"/>
              <a:t>为起点，重复上述“松弛过程”</a:t>
            </a:r>
            <a:endParaRPr lang="en-US" altLang="zh-CN" dirty="0" smtClean="0"/>
          </a:p>
          <a:p>
            <a:endParaRPr lang="en-US" altLang="zh-CN" dirty="0"/>
          </a:p>
          <a:p>
            <a:r>
              <a:rPr lang="zh-CN" altLang="en-US" dirty="0" smtClean="0"/>
              <a:t>更新</a:t>
            </a:r>
            <a:r>
              <a:rPr lang="en-US" altLang="zh-CN" dirty="0" smtClean="0"/>
              <a:t>distance</a:t>
            </a:r>
            <a:r>
              <a:rPr lang="zh-CN" altLang="en-US" dirty="0" smtClean="0"/>
              <a:t>数组</a:t>
            </a:r>
            <a:endParaRPr lang="en-US" altLang="zh-CN" dirty="0" smtClean="0"/>
          </a:p>
        </p:txBody>
      </p:sp>
      <p:sp>
        <p:nvSpPr>
          <p:cNvPr id="30" name="椭圆 29"/>
          <p:cNvSpPr/>
          <p:nvPr/>
        </p:nvSpPr>
        <p:spPr>
          <a:xfrm>
            <a:off x="3228110" y="1191093"/>
            <a:ext cx="502920" cy="512064"/>
          </a:xfrm>
          <a:prstGeom prst="ellipse">
            <a:avLst/>
          </a:prstGeom>
          <a:solidFill>
            <a:schemeClr val="accent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solidFill>
                  <a:schemeClr val="bg2"/>
                </a:solidFill>
              </a:rPr>
              <a:t>4</a:t>
            </a:r>
            <a:endParaRPr lang="zh-CN" altLang="en-US" dirty="0">
              <a:solidFill>
                <a:schemeClr val="bg2"/>
              </a:solidFill>
            </a:endParaRPr>
          </a:p>
        </p:txBody>
      </p:sp>
      <p:cxnSp>
        <p:nvCxnSpPr>
          <p:cNvPr id="33" name="直接箭头连接符 32"/>
          <p:cNvCxnSpPr/>
          <p:nvPr/>
        </p:nvCxnSpPr>
        <p:spPr>
          <a:xfrm flipH="1">
            <a:off x="1902546" y="1629107"/>
            <a:ext cx="1412222" cy="1235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a:off x="3479570" y="1720526"/>
            <a:ext cx="0" cy="1085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3734532" y="1462656"/>
            <a:ext cx="861559" cy="5626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graphicFrame>
            <p:nvGraphicFramePr>
              <p:cNvPr id="36" name="表格 35"/>
              <p:cNvGraphicFramePr>
                <a:graphicFrameLocks noGrp="1"/>
              </p:cNvGraphicFramePr>
              <p:nvPr>
                <p:extLst>
                  <p:ext uri="{D42A27DB-BD31-4B8C-83A1-F6EECF244321}">
                    <p14:modId xmlns:p14="http://schemas.microsoft.com/office/powerpoint/2010/main" val="3262514653"/>
                  </p:ext>
                </p:extLst>
              </p:nvPr>
            </p:nvGraphicFramePr>
            <p:xfrm>
              <a:off x="1866094" y="4441916"/>
              <a:ext cx="2455470" cy="736600"/>
            </p:xfrm>
            <a:graphic>
              <a:graphicData uri="http://schemas.openxmlformats.org/drawingml/2006/table">
                <a:tbl>
                  <a:tblPr firstRow="1" bandRow="1">
                    <a:tableStyleId>{5C22544A-7EE6-4342-B048-85BDC9FD1C3A}</a:tableStyleId>
                  </a:tblPr>
                  <a:tblGrid>
                    <a:gridCol w="409245">
                      <a:extLst>
                        <a:ext uri="{9D8B030D-6E8A-4147-A177-3AD203B41FA5}">
                          <a16:colId xmlns:a16="http://schemas.microsoft.com/office/drawing/2014/main" val="3458930630"/>
                        </a:ext>
                      </a:extLst>
                    </a:gridCol>
                    <a:gridCol w="409245">
                      <a:extLst>
                        <a:ext uri="{9D8B030D-6E8A-4147-A177-3AD203B41FA5}">
                          <a16:colId xmlns:a16="http://schemas.microsoft.com/office/drawing/2014/main" val="3751536738"/>
                        </a:ext>
                      </a:extLst>
                    </a:gridCol>
                    <a:gridCol w="409245">
                      <a:extLst>
                        <a:ext uri="{9D8B030D-6E8A-4147-A177-3AD203B41FA5}">
                          <a16:colId xmlns:a16="http://schemas.microsoft.com/office/drawing/2014/main" val="202188960"/>
                        </a:ext>
                      </a:extLst>
                    </a:gridCol>
                    <a:gridCol w="409245">
                      <a:extLst>
                        <a:ext uri="{9D8B030D-6E8A-4147-A177-3AD203B41FA5}">
                          <a16:colId xmlns:a16="http://schemas.microsoft.com/office/drawing/2014/main" val="4142623678"/>
                        </a:ext>
                      </a:extLst>
                    </a:gridCol>
                    <a:gridCol w="409245">
                      <a:extLst>
                        <a:ext uri="{9D8B030D-6E8A-4147-A177-3AD203B41FA5}">
                          <a16:colId xmlns:a16="http://schemas.microsoft.com/office/drawing/2014/main" val="57359619"/>
                        </a:ext>
                      </a:extLst>
                    </a:gridCol>
                    <a:gridCol w="409245">
                      <a:extLst>
                        <a:ext uri="{9D8B030D-6E8A-4147-A177-3AD203B41FA5}">
                          <a16:colId xmlns:a16="http://schemas.microsoft.com/office/drawing/2014/main" val="2568759967"/>
                        </a:ext>
                      </a:extLst>
                    </a:gridCol>
                  </a:tblGrid>
                  <a:tr h="333304">
                    <a:tc>
                      <a:txBody>
                        <a:bodyPr/>
                        <a:lstStyle/>
                        <a:p>
                          <a:pPr algn="ctr"/>
                          <a:r>
                            <a:rPr lang="en-US" altLang="zh-CN" dirty="0" smtClean="0"/>
                            <a:t>1</a:t>
                          </a:r>
                          <a:endParaRPr lang="zh-CN" altLang="en-US" dirty="0"/>
                        </a:p>
                      </a:txBody>
                      <a:tcPr/>
                    </a:tc>
                    <a:tc>
                      <a:txBody>
                        <a:bodyPr/>
                        <a:lstStyle/>
                        <a:p>
                          <a:pPr algn="ctr"/>
                          <a:r>
                            <a:rPr lang="en-US" altLang="zh-CN" dirty="0" smtClean="0"/>
                            <a:t>2</a:t>
                          </a:r>
                          <a:endParaRPr lang="zh-CN" altLang="en-US" dirty="0"/>
                        </a:p>
                      </a:txBody>
                      <a:tcPr/>
                    </a:tc>
                    <a:tc>
                      <a:txBody>
                        <a:bodyPr/>
                        <a:lstStyle/>
                        <a:p>
                          <a:pPr algn="ctr"/>
                          <a:r>
                            <a:rPr lang="en-US" altLang="zh-CN" dirty="0" smtClean="0"/>
                            <a:t>3</a:t>
                          </a:r>
                          <a:endParaRPr lang="zh-CN" altLang="en-US" dirty="0"/>
                        </a:p>
                      </a:txBody>
                      <a:tcPr/>
                    </a:tc>
                    <a:tc>
                      <a:txBody>
                        <a:bodyPr/>
                        <a:lstStyle/>
                        <a:p>
                          <a:pPr algn="ctr"/>
                          <a:r>
                            <a:rPr lang="en-US" altLang="zh-CN" dirty="0" smtClean="0"/>
                            <a:t>4</a:t>
                          </a:r>
                          <a:endParaRPr lang="zh-CN" altLang="en-US" dirty="0"/>
                        </a:p>
                      </a:txBody>
                      <a:tcPr/>
                    </a:tc>
                    <a:tc>
                      <a:txBody>
                        <a:bodyPr/>
                        <a:lstStyle/>
                        <a:p>
                          <a:pPr algn="ctr"/>
                          <a:r>
                            <a:rPr lang="en-US" altLang="zh-CN" dirty="0" smtClean="0"/>
                            <a:t>5</a:t>
                          </a:r>
                          <a:endParaRPr lang="zh-CN" altLang="en-US" dirty="0"/>
                        </a:p>
                      </a:txBody>
                      <a:tcPr/>
                    </a:tc>
                    <a:tc>
                      <a:txBody>
                        <a:bodyPr/>
                        <a:lstStyle/>
                        <a:p>
                          <a:pPr algn="ctr"/>
                          <a:r>
                            <a:rPr lang="en-US" altLang="zh-CN" dirty="0" smtClean="0"/>
                            <a:t>6</a:t>
                          </a:r>
                          <a:endParaRPr lang="zh-CN" altLang="en-US" dirty="0"/>
                        </a:p>
                      </a:txBody>
                      <a:tcPr/>
                    </a:tc>
                    <a:extLst>
                      <a:ext uri="{0D108BD9-81ED-4DB2-BD59-A6C34878D82A}">
                        <a16:rowId xmlns:a16="http://schemas.microsoft.com/office/drawing/2014/main" val="1749628763"/>
                      </a:ext>
                    </a:extLst>
                  </a:tr>
                  <a:tr h="370840">
                    <a:tc>
                      <a:txBody>
                        <a:bodyPr/>
                        <a:lstStyle/>
                        <a:p>
                          <a:pPr algn="ctr"/>
                          <a:r>
                            <a:rPr lang="en-US" altLang="zh-CN" dirty="0" smtClean="0">
                              <a:solidFill>
                                <a:schemeClr val="bg2"/>
                              </a:solidFill>
                            </a:rPr>
                            <a:t>0</a:t>
                          </a:r>
                          <a:endParaRPr lang="zh-CN" altLang="en-US" dirty="0">
                            <a:solidFill>
                              <a:schemeClr val="bg2"/>
                            </a:solidFill>
                          </a:endParaRPr>
                        </a:p>
                      </a:txBody>
                      <a:tcPr/>
                    </a:tc>
                    <a:tc>
                      <a:txBody>
                        <a:bodyPr/>
                        <a:lstStyle/>
                        <a:p>
                          <a:pPr algn="ctr"/>
                          <a:r>
                            <a:rPr lang="en-US" altLang="zh-CN" dirty="0" smtClean="0">
                              <a:solidFill>
                                <a:schemeClr val="bg2"/>
                              </a:solidFill>
                            </a:rPr>
                            <a:t>1</a:t>
                          </a:r>
                          <a:endParaRPr lang="zh-CN" altLang="en-US" dirty="0">
                            <a:solidFill>
                              <a:schemeClr val="bg2"/>
                            </a:solidFill>
                          </a:endParaRPr>
                        </a:p>
                      </a:txBody>
                      <a:tcPr/>
                    </a:tc>
                    <a:tc>
                      <a:txBody>
                        <a:bodyPr/>
                        <a:lstStyle/>
                        <a:p>
                          <a:pPr algn="ctr"/>
                          <a:r>
                            <a:rPr lang="en-US" altLang="zh-CN" sz="1600" dirty="0" smtClean="0">
                              <a:solidFill>
                                <a:schemeClr val="bg2"/>
                              </a:solidFill>
                            </a:rPr>
                            <a:t>12</a:t>
                          </a:r>
                          <a:endParaRPr lang="zh-CN" altLang="en-US" dirty="0">
                            <a:solidFill>
                              <a:schemeClr val="bg2"/>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CN" altLang="en-US" sz="1800" i="1" smtClean="0">
                                    <a:solidFill>
                                      <a:schemeClr val="bg2"/>
                                    </a:solidFill>
                                    <a:latin typeface="Cambria Math" panose="02040503050406030204" pitchFamily="18" charset="0"/>
                                  </a:rPr>
                                  <m:t>∞</m:t>
                                </m:r>
                              </m:oMath>
                            </m:oMathPara>
                          </a14:m>
                          <a:endParaRPr lang="zh-CN" altLang="en-US" sz="1800" dirty="0">
                            <a:solidFill>
                              <a:schemeClr val="bg2"/>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zh-CN" altLang="en-US" sz="1800" i="1" smtClean="0">
                                    <a:solidFill>
                                      <a:schemeClr val="bg2"/>
                                    </a:solidFill>
                                    <a:latin typeface="Cambria Math" panose="02040503050406030204" pitchFamily="18" charset="0"/>
                                  </a:rPr>
                                  <m:t>∞</m:t>
                                </m:r>
                              </m:oMath>
                            </m:oMathPara>
                          </a14:m>
                          <a:endParaRPr lang="zh-CN" altLang="en-US" dirty="0"/>
                        </a:p>
                      </a:txBody>
                      <a:tcPr/>
                    </a:tc>
                    <a:tc>
                      <a:txBody>
                        <a:bodyPr/>
                        <a:lstStyle/>
                        <a:p>
                          <a:pPr algn="ctr"/>
                          <a14:m>
                            <m:oMathPara xmlns:m="http://schemas.openxmlformats.org/officeDocument/2006/math">
                              <m:oMathParaPr>
                                <m:jc m:val="centerGroup"/>
                              </m:oMathParaPr>
                              <m:oMath xmlns:m="http://schemas.openxmlformats.org/officeDocument/2006/math">
                                <m:r>
                                  <a:rPr lang="zh-CN" altLang="en-US" sz="1800" i="1" smtClean="0">
                                    <a:solidFill>
                                      <a:schemeClr val="bg2"/>
                                    </a:solidFill>
                                    <a:latin typeface="Cambria Math" panose="02040503050406030204" pitchFamily="18" charset="0"/>
                                  </a:rPr>
                                  <m:t>∞</m:t>
                                </m:r>
                              </m:oMath>
                            </m:oMathPara>
                          </a14:m>
                          <a:endParaRPr lang="zh-CN" altLang="en-US" dirty="0"/>
                        </a:p>
                      </a:txBody>
                      <a:tcPr/>
                    </a:tc>
                    <a:extLst>
                      <a:ext uri="{0D108BD9-81ED-4DB2-BD59-A6C34878D82A}">
                        <a16:rowId xmlns:a16="http://schemas.microsoft.com/office/drawing/2014/main" val="2308643076"/>
                      </a:ext>
                    </a:extLst>
                  </a:tr>
                </a:tbl>
              </a:graphicData>
            </a:graphic>
          </p:graphicFrame>
        </mc:Choice>
        <mc:Fallback>
          <p:graphicFrame>
            <p:nvGraphicFramePr>
              <p:cNvPr id="36" name="表格 35"/>
              <p:cNvGraphicFramePr>
                <a:graphicFrameLocks noGrp="1"/>
              </p:cNvGraphicFramePr>
              <p:nvPr>
                <p:extLst>
                  <p:ext uri="{D42A27DB-BD31-4B8C-83A1-F6EECF244321}">
                    <p14:modId xmlns:p14="http://schemas.microsoft.com/office/powerpoint/2010/main" val="3262514653"/>
                  </p:ext>
                </p:extLst>
              </p:nvPr>
            </p:nvGraphicFramePr>
            <p:xfrm>
              <a:off x="1866094" y="4441916"/>
              <a:ext cx="2455470" cy="736600"/>
            </p:xfrm>
            <a:graphic>
              <a:graphicData uri="http://schemas.openxmlformats.org/drawingml/2006/table">
                <a:tbl>
                  <a:tblPr firstRow="1" bandRow="1">
                    <a:tableStyleId>{5C22544A-7EE6-4342-B048-85BDC9FD1C3A}</a:tableStyleId>
                  </a:tblPr>
                  <a:tblGrid>
                    <a:gridCol w="409245">
                      <a:extLst>
                        <a:ext uri="{9D8B030D-6E8A-4147-A177-3AD203B41FA5}">
                          <a16:colId xmlns:a16="http://schemas.microsoft.com/office/drawing/2014/main" val="3458930630"/>
                        </a:ext>
                      </a:extLst>
                    </a:gridCol>
                    <a:gridCol w="409245">
                      <a:extLst>
                        <a:ext uri="{9D8B030D-6E8A-4147-A177-3AD203B41FA5}">
                          <a16:colId xmlns:a16="http://schemas.microsoft.com/office/drawing/2014/main" val="3751536738"/>
                        </a:ext>
                      </a:extLst>
                    </a:gridCol>
                    <a:gridCol w="409245">
                      <a:extLst>
                        <a:ext uri="{9D8B030D-6E8A-4147-A177-3AD203B41FA5}">
                          <a16:colId xmlns:a16="http://schemas.microsoft.com/office/drawing/2014/main" val="202188960"/>
                        </a:ext>
                      </a:extLst>
                    </a:gridCol>
                    <a:gridCol w="409245">
                      <a:extLst>
                        <a:ext uri="{9D8B030D-6E8A-4147-A177-3AD203B41FA5}">
                          <a16:colId xmlns:a16="http://schemas.microsoft.com/office/drawing/2014/main" val="4142623678"/>
                        </a:ext>
                      </a:extLst>
                    </a:gridCol>
                    <a:gridCol w="409245">
                      <a:extLst>
                        <a:ext uri="{9D8B030D-6E8A-4147-A177-3AD203B41FA5}">
                          <a16:colId xmlns:a16="http://schemas.microsoft.com/office/drawing/2014/main" val="57359619"/>
                        </a:ext>
                      </a:extLst>
                    </a:gridCol>
                    <a:gridCol w="409245">
                      <a:extLst>
                        <a:ext uri="{9D8B030D-6E8A-4147-A177-3AD203B41FA5}">
                          <a16:colId xmlns:a16="http://schemas.microsoft.com/office/drawing/2014/main" val="2568759967"/>
                        </a:ext>
                      </a:extLst>
                    </a:gridCol>
                  </a:tblGrid>
                  <a:tr h="365760">
                    <a:tc>
                      <a:txBody>
                        <a:bodyPr/>
                        <a:lstStyle/>
                        <a:p>
                          <a:pPr algn="ctr"/>
                          <a:r>
                            <a:rPr lang="en-US" altLang="zh-CN" dirty="0" smtClean="0"/>
                            <a:t>1</a:t>
                          </a:r>
                          <a:endParaRPr lang="zh-CN" altLang="en-US" dirty="0"/>
                        </a:p>
                      </a:txBody>
                      <a:tcPr/>
                    </a:tc>
                    <a:tc>
                      <a:txBody>
                        <a:bodyPr/>
                        <a:lstStyle/>
                        <a:p>
                          <a:pPr algn="ctr"/>
                          <a:r>
                            <a:rPr lang="en-US" altLang="zh-CN" dirty="0" smtClean="0"/>
                            <a:t>2</a:t>
                          </a:r>
                          <a:endParaRPr lang="zh-CN" altLang="en-US" dirty="0"/>
                        </a:p>
                      </a:txBody>
                      <a:tcPr/>
                    </a:tc>
                    <a:tc>
                      <a:txBody>
                        <a:bodyPr/>
                        <a:lstStyle/>
                        <a:p>
                          <a:pPr algn="ctr"/>
                          <a:r>
                            <a:rPr lang="en-US" altLang="zh-CN" dirty="0" smtClean="0"/>
                            <a:t>3</a:t>
                          </a:r>
                          <a:endParaRPr lang="zh-CN" altLang="en-US" dirty="0"/>
                        </a:p>
                      </a:txBody>
                      <a:tcPr/>
                    </a:tc>
                    <a:tc>
                      <a:txBody>
                        <a:bodyPr/>
                        <a:lstStyle/>
                        <a:p>
                          <a:pPr algn="ctr"/>
                          <a:r>
                            <a:rPr lang="en-US" altLang="zh-CN" dirty="0" smtClean="0"/>
                            <a:t>4</a:t>
                          </a:r>
                          <a:endParaRPr lang="zh-CN" altLang="en-US" dirty="0"/>
                        </a:p>
                      </a:txBody>
                      <a:tcPr/>
                    </a:tc>
                    <a:tc>
                      <a:txBody>
                        <a:bodyPr/>
                        <a:lstStyle/>
                        <a:p>
                          <a:pPr algn="ctr"/>
                          <a:r>
                            <a:rPr lang="en-US" altLang="zh-CN" dirty="0" smtClean="0"/>
                            <a:t>5</a:t>
                          </a:r>
                          <a:endParaRPr lang="zh-CN" altLang="en-US" dirty="0"/>
                        </a:p>
                      </a:txBody>
                      <a:tcPr/>
                    </a:tc>
                    <a:tc>
                      <a:txBody>
                        <a:bodyPr/>
                        <a:lstStyle/>
                        <a:p>
                          <a:pPr algn="ctr"/>
                          <a:r>
                            <a:rPr lang="en-US" altLang="zh-CN" dirty="0" smtClean="0"/>
                            <a:t>6</a:t>
                          </a:r>
                          <a:endParaRPr lang="zh-CN" altLang="en-US" dirty="0"/>
                        </a:p>
                      </a:txBody>
                      <a:tcPr/>
                    </a:tc>
                    <a:extLst>
                      <a:ext uri="{0D108BD9-81ED-4DB2-BD59-A6C34878D82A}">
                        <a16:rowId xmlns:a16="http://schemas.microsoft.com/office/drawing/2014/main" val="1749628763"/>
                      </a:ext>
                    </a:extLst>
                  </a:tr>
                  <a:tr h="370840">
                    <a:tc>
                      <a:txBody>
                        <a:bodyPr/>
                        <a:lstStyle/>
                        <a:p>
                          <a:pPr algn="ctr"/>
                          <a:r>
                            <a:rPr lang="en-US" altLang="zh-CN" dirty="0" smtClean="0">
                              <a:solidFill>
                                <a:schemeClr val="bg2"/>
                              </a:solidFill>
                            </a:rPr>
                            <a:t>0</a:t>
                          </a:r>
                          <a:endParaRPr lang="zh-CN" altLang="en-US" dirty="0">
                            <a:solidFill>
                              <a:schemeClr val="bg2"/>
                            </a:solidFill>
                          </a:endParaRPr>
                        </a:p>
                      </a:txBody>
                      <a:tcPr/>
                    </a:tc>
                    <a:tc>
                      <a:txBody>
                        <a:bodyPr/>
                        <a:lstStyle/>
                        <a:p>
                          <a:pPr algn="ctr"/>
                          <a:r>
                            <a:rPr lang="en-US" altLang="zh-CN" dirty="0" smtClean="0">
                              <a:solidFill>
                                <a:schemeClr val="bg2"/>
                              </a:solidFill>
                            </a:rPr>
                            <a:t>1</a:t>
                          </a:r>
                          <a:endParaRPr lang="zh-CN" altLang="en-US" dirty="0">
                            <a:solidFill>
                              <a:schemeClr val="bg2"/>
                            </a:solidFill>
                          </a:endParaRPr>
                        </a:p>
                      </a:txBody>
                      <a:tcPr/>
                    </a:tc>
                    <a:tc>
                      <a:txBody>
                        <a:bodyPr/>
                        <a:lstStyle/>
                        <a:p>
                          <a:pPr algn="ctr"/>
                          <a:r>
                            <a:rPr lang="en-US" altLang="zh-CN" sz="1600" dirty="0" smtClean="0">
                              <a:solidFill>
                                <a:schemeClr val="bg2"/>
                              </a:solidFill>
                            </a:rPr>
                            <a:t>12</a:t>
                          </a:r>
                          <a:endParaRPr lang="zh-CN" altLang="en-US" dirty="0">
                            <a:solidFill>
                              <a:schemeClr val="bg2"/>
                            </a:solidFill>
                          </a:endParaRPr>
                        </a:p>
                      </a:txBody>
                      <a:tcPr/>
                    </a:tc>
                    <a:tc>
                      <a:txBody>
                        <a:bodyPr/>
                        <a:lstStyle/>
                        <a:p>
                          <a:endParaRPr lang="zh-CN"/>
                        </a:p>
                      </a:txBody>
                      <a:tcPr>
                        <a:blipFill>
                          <a:blip r:embed="rId2"/>
                          <a:stretch>
                            <a:fillRect l="-302985" t="-108197" r="-207463" b="-24590"/>
                          </a:stretch>
                        </a:blipFill>
                      </a:tcPr>
                    </a:tc>
                    <a:tc>
                      <a:txBody>
                        <a:bodyPr/>
                        <a:lstStyle/>
                        <a:p>
                          <a:endParaRPr lang="zh-CN"/>
                        </a:p>
                      </a:txBody>
                      <a:tcPr>
                        <a:blipFill>
                          <a:blip r:embed="rId2"/>
                          <a:stretch>
                            <a:fillRect l="-402985" t="-108197" r="-107463" b="-24590"/>
                          </a:stretch>
                        </a:blipFill>
                      </a:tcPr>
                    </a:tc>
                    <a:tc>
                      <a:txBody>
                        <a:bodyPr/>
                        <a:lstStyle/>
                        <a:p>
                          <a:endParaRPr lang="zh-CN"/>
                        </a:p>
                      </a:txBody>
                      <a:tcPr>
                        <a:blipFill>
                          <a:blip r:embed="rId2"/>
                          <a:stretch>
                            <a:fillRect l="-502985" t="-108197" r="-7463" b="-24590"/>
                          </a:stretch>
                        </a:blipFill>
                      </a:tcPr>
                    </a:tc>
                    <a:extLst>
                      <a:ext uri="{0D108BD9-81ED-4DB2-BD59-A6C34878D82A}">
                        <a16:rowId xmlns:a16="http://schemas.microsoft.com/office/drawing/2014/main" val="2308643076"/>
                      </a:ext>
                    </a:extLst>
                  </a:tr>
                </a:tbl>
              </a:graphicData>
            </a:graphic>
          </p:graphicFrame>
        </mc:Fallback>
      </mc:AlternateContent>
      <p:sp>
        <p:nvSpPr>
          <p:cNvPr id="37" name="圆角矩形 36"/>
          <p:cNvSpPr/>
          <p:nvPr/>
        </p:nvSpPr>
        <p:spPr>
          <a:xfrm>
            <a:off x="755128" y="4785324"/>
            <a:ext cx="1110966" cy="393192"/>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distance</a:t>
            </a:r>
            <a:endParaRPr lang="zh-CN" altLang="en-US" dirty="0"/>
          </a:p>
        </p:txBody>
      </p:sp>
      <p:sp>
        <p:nvSpPr>
          <p:cNvPr id="39" name="矩形 38"/>
          <p:cNvSpPr/>
          <p:nvPr/>
        </p:nvSpPr>
        <p:spPr>
          <a:xfrm>
            <a:off x="2703785" y="4809716"/>
            <a:ext cx="352044" cy="2954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10</a:t>
            </a:r>
            <a:endParaRPr lang="zh-CN" altLang="en-US" sz="1200" dirty="0"/>
          </a:p>
        </p:txBody>
      </p:sp>
      <p:sp>
        <p:nvSpPr>
          <p:cNvPr id="40" name="矩形 39"/>
          <p:cNvSpPr/>
          <p:nvPr/>
        </p:nvSpPr>
        <p:spPr>
          <a:xfrm>
            <a:off x="3121246" y="4834196"/>
            <a:ext cx="352044" cy="2954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4</a:t>
            </a:r>
            <a:endParaRPr lang="zh-CN" altLang="en-US" sz="1200" dirty="0"/>
          </a:p>
        </p:txBody>
      </p:sp>
      <p:sp>
        <p:nvSpPr>
          <p:cNvPr id="38" name="矩形 37"/>
          <p:cNvSpPr/>
          <p:nvPr/>
        </p:nvSpPr>
        <p:spPr>
          <a:xfrm>
            <a:off x="2703785" y="4834196"/>
            <a:ext cx="352044" cy="295448"/>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8</a:t>
            </a:r>
            <a:endParaRPr lang="zh-CN" altLang="en-US" sz="1200" dirty="0"/>
          </a:p>
        </p:txBody>
      </p:sp>
      <p:sp>
        <p:nvSpPr>
          <p:cNvPr id="42" name="矩形 41"/>
          <p:cNvSpPr/>
          <p:nvPr/>
        </p:nvSpPr>
        <p:spPr>
          <a:xfrm>
            <a:off x="3930135" y="4834196"/>
            <a:ext cx="352044" cy="295448"/>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19</a:t>
            </a:r>
            <a:endParaRPr lang="zh-CN" altLang="en-US" sz="1200" dirty="0"/>
          </a:p>
        </p:txBody>
      </p:sp>
      <p:sp>
        <p:nvSpPr>
          <p:cNvPr id="43" name="矩形 42"/>
          <p:cNvSpPr/>
          <p:nvPr/>
        </p:nvSpPr>
        <p:spPr>
          <a:xfrm>
            <a:off x="3538707" y="4834196"/>
            <a:ext cx="352044" cy="295448"/>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17</a:t>
            </a:r>
            <a:endParaRPr lang="zh-CN" altLang="en-US" sz="1200" dirty="0"/>
          </a:p>
        </p:txBody>
      </p:sp>
    </p:spTree>
    <p:extLst>
      <p:ext uri="{BB962C8B-B14F-4D97-AF65-F5344CB8AC3E}">
        <p14:creationId xmlns:p14="http://schemas.microsoft.com/office/powerpoint/2010/main" val="1306105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7" grpId="0" animBg="1"/>
      <p:bldP spid="39" grpId="0" animBg="1"/>
      <p:bldP spid="40" grpId="0" animBg="1"/>
      <p:bldP spid="38" grpId="0" animBg="1"/>
      <p:bldP spid="42" grpId="0" animBg="1"/>
      <p:bldP spid="4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70680" y="1204940"/>
            <a:ext cx="4774692" cy="2145231"/>
            <a:chOff x="950976" y="2959608"/>
            <a:chExt cx="4774692" cy="2145231"/>
          </a:xfrm>
        </p:grpSpPr>
        <p:sp>
          <p:nvSpPr>
            <p:cNvPr id="5" name="椭圆 4"/>
            <p:cNvSpPr/>
            <p:nvPr/>
          </p:nvSpPr>
          <p:spPr>
            <a:xfrm>
              <a:off x="950976" y="3703320"/>
              <a:ext cx="502920" cy="512064"/>
            </a:xfrm>
            <a:prstGeom prst="ellipse">
              <a:avLst/>
            </a:prstGeom>
            <a:solidFill>
              <a:schemeClr val="accent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1</a:t>
              </a:r>
              <a:endParaRPr lang="zh-CN" altLang="en-US" dirty="0"/>
            </a:p>
          </p:txBody>
        </p:sp>
        <p:sp>
          <p:nvSpPr>
            <p:cNvPr id="6" name="椭圆 5"/>
            <p:cNvSpPr/>
            <p:nvPr/>
          </p:nvSpPr>
          <p:spPr>
            <a:xfrm>
              <a:off x="2164080" y="2959608"/>
              <a:ext cx="502920" cy="512064"/>
            </a:xfrm>
            <a:prstGeom prst="ellipse">
              <a:avLst/>
            </a:prstGeom>
            <a:solidFill>
              <a:schemeClr val="accent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2</a:t>
              </a:r>
              <a:endParaRPr lang="zh-CN" altLang="en-US" dirty="0"/>
            </a:p>
          </p:txBody>
        </p:sp>
        <p:sp>
          <p:nvSpPr>
            <p:cNvPr id="7" name="椭圆 6"/>
            <p:cNvSpPr/>
            <p:nvPr/>
          </p:nvSpPr>
          <p:spPr>
            <a:xfrm>
              <a:off x="2164080" y="4556760"/>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3</a:t>
              </a:r>
              <a:endParaRPr lang="zh-CN" altLang="en-US" dirty="0"/>
            </a:p>
          </p:txBody>
        </p:sp>
        <p:sp>
          <p:nvSpPr>
            <p:cNvPr id="8" name="椭圆 7"/>
            <p:cNvSpPr/>
            <p:nvPr/>
          </p:nvSpPr>
          <p:spPr>
            <a:xfrm>
              <a:off x="3931920" y="2959608"/>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4</a:t>
              </a:r>
              <a:endParaRPr lang="zh-CN" altLang="en-US" dirty="0"/>
            </a:p>
          </p:txBody>
        </p:sp>
        <p:sp>
          <p:nvSpPr>
            <p:cNvPr id="9" name="椭圆 8"/>
            <p:cNvSpPr/>
            <p:nvPr/>
          </p:nvSpPr>
          <p:spPr>
            <a:xfrm>
              <a:off x="3931920" y="4556760"/>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5</a:t>
              </a:r>
              <a:endParaRPr lang="zh-CN" altLang="en-US" dirty="0"/>
            </a:p>
          </p:txBody>
        </p:sp>
        <p:sp>
          <p:nvSpPr>
            <p:cNvPr id="10" name="椭圆 9"/>
            <p:cNvSpPr/>
            <p:nvPr/>
          </p:nvSpPr>
          <p:spPr>
            <a:xfrm>
              <a:off x="5222748" y="3703320"/>
              <a:ext cx="502920" cy="51206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6</a:t>
              </a:r>
              <a:endParaRPr lang="zh-CN" altLang="en-US" dirty="0"/>
            </a:p>
          </p:txBody>
        </p:sp>
        <p:cxnSp>
          <p:nvCxnSpPr>
            <p:cNvPr id="11" name="直接箭头连接符 10"/>
            <p:cNvCxnSpPr>
              <a:stCxn id="5" idx="7"/>
              <a:endCxn id="6" idx="3"/>
            </p:cNvCxnSpPr>
            <p:nvPr/>
          </p:nvCxnSpPr>
          <p:spPr>
            <a:xfrm flipV="1">
              <a:off x="1380245" y="3396682"/>
              <a:ext cx="857486" cy="3816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5" idx="5"/>
              <a:endCxn id="7" idx="1"/>
            </p:cNvCxnSpPr>
            <p:nvPr/>
          </p:nvCxnSpPr>
          <p:spPr>
            <a:xfrm>
              <a:off x="1380245" y="4140394"/>
              <a:ext cx="857486" cy="4913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直接箭头连接符 12"/>
            <p:cNvCxnSpPr>
              <a:stCxn id="6" idx="6"/>
              <a:endCxn id="8" idx="2"/>
            </p:cNvCxnSpPr>
            <p:nvPr/>
          </p:nvCxnSpPr>
          <p:spPr>
            <a:xfrm>
              <a:off x="2667000" y="3215640"/>
              <a:ext cx="12649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8" idx="4"/>
              <a:endCxn id="9" idx="0"/>
            </p:cNvCxnSpPr>
            <p:nvPr/>
          </p:nvCxnSpPr>
          <p:spPr>
            <a:xfrm>
              <a:off x="4183380" y="3471672"/>
              <a:ext cx="0" cy="10850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直接箭头连接符 14"/>
            <p:cNvCxnSpPr>
              <a:stCxn id="7" idx="6"/>
              <a:endCxn id="9" idx="2"/>
            </p:cNvCxnSpPr>
            <p:nvPr/>
          </p:nvCxnSpPr>
          <p:spPr>
            <a:xfrm>
              <a:off x="2667000" y="4812792"/>
              <a:ext cx="12649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接箭头连接符 15"/>
            <p:cNvCxnSpPr>
              <a:stCxn id="8" idx="3"/>
              <a:endCxn id="7" idx="7"/>
            </p:cNvCxnSpPr>
            <p:nvPr/>
          </p:nvCxnSpPr>
          <p:spPr>
            <a:xfrm flipH="1">
              <a:off x="2593349" y="3396682"/>
              <a:ext cx="1412222" cy="12350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a:stCxn id="6" idx="4"/>
              <a:endCxn id="7" idx="0"/>
            </p:cNvCxnSpPr>
            <p:nvPr/>
          </p:nvCxnSpPr>
          <p:spPr>
            <a:xfrm>
              <a:off x="2415540" y="3471672"/>
              <a:ext cx="0" cy="1085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8" idx="6"/>
              <a:endCxn id="10" idx="1"/>
            </p:cNvCxnSpPr>
            <p:nvPr/>
          </p:nvCxnSpPr>
          <p:spPr>
            <a:xfrm>
              <a:off x="4434840" y="3215640"/>
              <a:ext cx="861559" cy="5626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9" idx="7"/>
              <a:endCxn id="10" idx="3"/>
            </p:cNvCxnSpPr>
            <p:nvPr/>
          </p:nvCxnSpPr>
          <p:spPr>
            <a:xfrm flipV="1">
              <a:off x="4361189" y="4140394"/>
              <a:ext cx="935210" cy="4913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圆角矩形 19"/>
            <p:cNvSpPr/>
            <p:nvPr/>
          </p:nvSpPr>
          <p:spPr>
            <a:xfrm>
              <a:off x="1534141" y="3362862"/>
              <a:ext cx="427745" cy="276449"/>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1</a:t>
              </a:r>
              <a:endParaRPr lang="zh-CN" altLang="en-US" dirty="0"/>
            </a:p>
          </p:txBody>
        </p:sp>
        <p:sp>
          <p:nvSpPr>
            <p:cNvPr id="21" name="圆角矩形 20"/>
            <p:cNvSpPr/>
            <p:nvPr/>
          </p:nvSpPr>
          <p:spPr>
            <a:xfrm>
              <a:off x="3153156" y="2977335"/>
              <a:ext cx="431292" cy="335235"/>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3</a:t>
              </a:r>
              <a:endParaRPr lang="zh-CN" altLang="en-US" dirty="0"/>
            </a:p>
          </p:txBody>
        </p:sp>
        <p:sp>
          <p:nvSpPr>
            <p:cNvPr id="22" name="圆角矩形 21"/>
            <p:cNvSpPr/>
            <p:nvPr/>
          </p:nvSpPr>
          <p:spPr>
            <a:xfrm>
              <a:off x="4870205" y="3312571"/>
              <a:ext cx="426194" cy="24352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dirty="0" smtClean="0"/>
                <a:t>15</a:t>
              </a:r>
              <a:endParaRPr lang="zh-CN" altLang="en-US" sz="2400" dirty="0"/>
            </a:p>
          </p:txBody>
        </p:sp>
        <p:sp>
          <p:nvSpPr>
            <p:cNvPr id="23" name="圆角矩形 22"/>
            <p:cNvSpPr/>
            <p:nvPr/>
          </p:nvSpPr>
          <p:spPr>
            <a:xfrm>
              <a:off x="4005571" y="3813048"/>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13</a:t>
              </a:r>
              <a:endParaRPr lang="zh-CN" altLang="en-US" dirty="0"/>
            </a:p>
          </p:txBody>
        </p:sp>
        <p:sp>
          <p:nvSpPr>
            <p:cNvPr id="24" name="圆角矩形 23"/>
            <p:cNvSpPr/>
            <p:nvPr/>
          </p:nvSpPr>
          <p:spPr>
            <a:xfrm>
              <a:off x="3085062" y="3749644"/>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4</a:t>
              </a:r>
              <a:endParaRPr lang="zh-CN" altLang="en-US" dirty="0"/>
            </a:p>
          </p:txBody>
        </p:sp>
        <p:sp>
          <p:nvSpPr>
            <p:cNvPr id="25" name="圆角矩形 24"/>
            <p:cNvSpPr/>
            <p:nvPr/>
          </p:nvSpPr>
          <p:spPr>
            <a:xfrm>
              <a:off x="2164553" y="3803343"/>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9</a:t>
              </a:r>
              <a:endParaRPr lang="zh-CN" altLang="en-US" dirty="0"/>
            </a:p>
          </p:txBody>
        </p:sp>
        <p:sp>
          <p:nvSpPr>
            <p:cNvPr id="26" name="圆角矩形 25"/>
            <p:cNvSpPr/>
            <p:nvPr/>
          </p:nvSpPr>
          <p:spPr>
            <a:xfrm>
              <a:off x="1483086" y="4246783"/>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12</a:t>
              </a:r>
              <a:endParaRPr lang="zh-CN" altLang="en-US" dirty="0"/>
            </a:p>
          </p:txBody>
        </p:sp>
        <p:sp>
          <p:nvSpPr>
            <p:cNvPr id="27" name="圆角矩形 26"/>
            <p:cNvSpPr/>
            <p:nvPr/>
          </p:nvSpPr>
          <p:spPr>
            <a:xfrm>
              <a:off x="3085061" y="4702503"/>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5</a:t>
              </a:r>
              <a:endParaRPr lang="zh-CN" altLang="en-US" dirty="0"/>
            </a:p>
          </p:txBody>
        </p:sp>
        <p:sp>
          <p:nvSpPr>
            <p:cNvPr id="28" name="圆角矩形 27"/>
            <p:cNvSpPr/>
            <p:nvPr/>
          </p:nvSpPr>
          <p:spPr>
            <a:xfrm>
              <a:off x="4690103" y="4265990"/>
              <a:ext cx="529853" cy="4023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t>4</a:t>
              </a:r>
              <a:endParaRPr lang="zh-CN" altLang="en-US" dirty="0"/>
            </a:p>
          </p:txBody>
        </p:sp>
      </p:grpSp>
      <p:sp>
        <p:nvSpPr>
          <p:cNvPr id="29" name="椭圆 28"/>
          <p:cNvSpPr/>
          <p:nvPr/>
        </p:nvSpPr>
        <p:spPr>
          <a:xfrm>
            <a:off x="3147551" y="1210857"/>
            <a:ext cx="502920" cy="512064"/>
          </a:xfrm>
          <a:prstGeom prst="ellipse">
            <a:avLst/>
          </a:prstGeom>
          <a:solidFill>
            <a:schemeClr val="accent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smtClean="0">
                <a:solidFill>
                  <a:schemeClr val="bg2"/>
                </a:solidFill>
              </a:rPr>
              <a:t>4</a:t>
            </a:r>
            <a:endParaRPr lang="zh-CN" altLang="en-US" dirty="0">
              <a:solidFill>
                <a:schemeClr val="bg2"/>
              </a:solidFill>
            </a:endParaRPr>
          </a:p>
        </p:txBody>
      </p:sp>
      <p:cxnSp>
        <p:nvCxnSpPr>
          <p:cNvPr id="30" name="直接箭头连接符 29"/>
          <p:cNvCxnSpPr/>
          <p:nvPr/>
        </p:nvCxnSpPr>
        <p:spPr>
          <a:xfrm flipH="1">
            <a:off x="1819343" y="1637757"/>
            <a:ext cx="1412222" cy="1235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3396367" y="1729176"/>
            <a:ext cx="0" cy="1085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3651329" y="1471306"/>
            <a:ext cx="861559" cy="5626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4978679" y="1101974"/>
            <a:ext cx="5955476" cy="5632311"/>
          </a:xfrm>
          <a:prstGeom prst="rect">
            <a:avLst/>
          </a:prstGeom>
          <a:noFill/>
        </p:spPr>
        <p:txBody>
          <a:bodyPr wrap="none" rtlCol="0">
            <a:spAutoFit/>
          </a:bodyPr>
          <a:lstStyle/>
          <a:p>
            <a:r>
              <a:rPr lang="zh-CN" altLang="en-US" dirty="0" smtClean="0"/>
              <a:t>从有确定值的节点中选择路径最短的节点作为起始节点</a:t>
            </a:r>
            <a:endParaRPr lang="en-US" altLang="zh-CN" dirty="0" smtClean="0"/>
          </a:p>
          <a:p>
            <a:r>
              <a:rPr lang="zh-CN" altLang="en-US" dirty="0" smtClean="0"/>
              <a:t>开始下一步“松弛过程”</a:t>
            </a:r>
            <a:endParaRPr lang="en-US" altLang="zh-CN" dirty="0" smtClean="0"/>
          </a:p>
          <a:p>
            <a:endParaRPr lang="en-US" altLang="zh-CN" dirty="0"/>
          </a:p>
          <a:p>
            <a:r>
              <a:rPr lang="zh-CN" altLang="en-US" dirty="0" smtClean="0"/>
              <a:t>选择</a:t>
            </a:r>
            <a:r>
              <a:rPr lang="en-US" altLang="zh-CN" dirty="0" smtClean="0"/>
              <a:t>3</a:t>
            </a:r>
            <a:r>
              <a:rPr lang="zh-CN" altLang="en-US" dirty="0" smtClean="0"/>
              <a:t>号节点，</a:t>
            </a:r>
            <a:r>
              <a:rPr lang="en-US" altLang="zh-CN" dirty="0" smtClean="0"/>
              <a:t>3</a:t>
            </a:r>
            <a:r>
              <a:rPr lang="zh-CN" altLang="en-US" dirty="0" smtClean="0"/>
              <a:t>号节点只可向</a:t>
            </a:r>
            <a:r>
              <a:rPr lang="en-US" altLang="zh-CN" dirty="0" smtClean="0"/>
              <a:t>5</a:t>
            </a:r>
            <a:r>
              <a:rPr lang="zh-CN" altLang="en-US" dirty="0" smtClean="0"/>
              <a:t>号节点松弛，</a:t>
            </a:r>
            <a:endParaRPr lang="en-US" altLang="zh-CN" dirty="0" smtClean="0"/>
          </a:p>
          <a:p>
            <a:r>
              <a:rPr lang="zh-CN" altLang="en-US" dirty="0" smtClean="0"/>
              <a:t>标记</a:t>
            </a:r>
            <a:r>
              <a:rPr lang="en-US" altLang="zh-CN" dirty="0" smtClean="0"/>
              <a:t>3</a:t>
            </a:r>
            <a:r>
              <a:rPr lang="zh-CN" altLang="en-US" dirty="0" smtClean="0"/>
              <a:t>号节点已经作为起始点</a:t>
            </a:r>
            <a:endParaRPr lang="en-US" altLang="zh-CN" dirty="0" smtClean="0"/>
          </a:p>
          <a:p>
            <a:endParaRPr lang="en-US" altLang="zh-CN" dirty="0"/>
          </a:p>
          <a:p>
            <a:r>
              <a:rPr lang="en-US" altLang="zh-CN" dirty="0" smtClean="0"/>
              <a:t>5</a:t>
            </a:r>
            <a:r>
              <a:rPr lang="zh-CN" altLang="en-US" dirty="0" smtClean="0"/>
              <a:t>号节点刷新距离为</a:t>
            </a:r>
            <a:r>
              <a:rPr lang="en-US" altLang="zh-CN" dirty="0" smtClean="0"/>
              <a:t>8+5 = 13</a:t>
            </a:r>
          </a:p>
          <a:p>
            <a:r>
              <a:rPr lang="en-US" altLang="zh-CN" dirty="0" smtClean="0"/>
              <a:t>min{13,17} = 13</a:t>
            </a:r>
          </a:p>
          <a:p>
            <a:endParaRPr lang="en-US" altLang="zh-CN" dirty="0"/>
          </a:p>
          <a:p>
            <a:endParaRPr lang="en-US" altLang="zh-CN" dirty="0" smtClean="0"/>
          </a:p>
          <a:p>
            <a:r>
              <a:rPr lang="zh-CN" altLang="en-US" dirty="0" smtClean="0"/>
              <a:t>继续选择有确定值的节点作为起始节点</a:t>
            </a:r>
            <a:endParaRPr lang="en-US" altLang="zh-CN" dirty="0" smtClean="0"/>
          </a:p>
          <a:p>
            <a:r>
              <a:rPr lang="en-US" altLang="zh-CN" dirty="0" smtClean="0"/>
              <a:t>5</a:t>
            </a:r>
            <a:r>
              <a:rPr lang="zh-CN" altLang="en-US" dirty="0" smtClean="0"/>
              <a:t>号节点和</a:t>
            </a:r>
            <a:r>
              <a:rPr lang="en-US" altLang="zh-CN" dirty="0" smtClean="0"/>
              <a:t>6</a:t>
            </a:r>
            <a:r>
              <a:rPr lang="zh-CN" altLang="en-US" dirty="0" smtClean="0"/>
              <a:t>号节点相比，选择</a:t>
            </a:r>
            <a:r>
              <a:rPr lang="en-US" altLang="zh-CN" dirty="0" smtClean="0"/>
              <a:t>5</a:t>
            </a:r>
            <a:r>
              <a:rPr lang="zh-CN" altLang="en-US" dirty="0" smtClean="0"/>
              <a:t>号节点</a:t>
            </a:r>
            <a:endParaRPr lang="en-US" altLang="zh-CN" dirty="0" smtClean="0"/>
          </a:p>
          <a:p>
            <a:endParaRPr lang="en-US" altLang="zh-CN" dirty="0" smtClean="0"/>
          </a:p>
          <a:p>
            <a:r>
              <a:rPr lang="zh-CN" altLang="en-US" dirty="0" smtClean="0"/>
              <a:t>计算</a:t>
            </a:r>
            <a:r>
              <a:rPr lang="en-US" altLang="zh-CN" dirty="0" smtClean="0"/>
              <a:t>6</a:t>
            </a:r>
            <a:r>
              <a:rPr lang="zh-CN" altLang="en-US" dirty="0" smtClean="0"/>
              <a:t>号节点距离</a:t>
            </a:r>
            <a:r>
              <a:rPr lang="en-US" altLang="zh-CN" dirty="0" smtClean="0"/>
              <a:t>13+4 = 17</a:t>
            </a:r>
          </a:p>
          <a:p>
            <a:r>
              <a:rPr lang="en-US" altLang="zh-CN" dirty="0" smtClean="0"/>
              <a:t>min{17,19} = 17</a:t>
            </a:r>
          </a:p>
          <a:p>
            <a:endParaRPr lang="en-US" altLang="zh-CN" dirty="0"/>
          </a:p>
          <a:p>
            <a:r>
              <a:rPr lang="zh-CN" altLang="en-US" dirty="0" smtClean="0"/>
              <a:t>更新</a:t>
            </a:r>
            <a:r>
              <a:rPr lang="en-US" altLang="zh-CN" dirty="0" smtClean="0"/>
              <a:t>6</a:t>
            </a:r>
            <a:r>
              <a:rPr lang="zh-CN" altLang="en-US" dirty="0" smtClean="0"/>
              <a:t>号节点距离</a:t>
            </a:r>
            <a:endParaRPr lang="en-US" altLang="zh-CN" dirty="0" smtClean="0"/>
          </a:p>
          <a:p>
            <a:endParaRPr lang="en-US" altLang="zh-CN" dirty="0"/>
          </a:p>
          <a:p>
            <a:r>
              <a:rPr lang="en-US" altLang="zh-CN" dirty="0" smtClean="0"/>
              <a:t>6</a:t>
            </a:r>
            <a:r>
              <a:rPr lang="zh-CN" altLang="en-US" dirty="0" smtClean="0"/>
              <a:t>号节点无后续节点，标记</a:t>
            </a:r>
            <a:r>
              <a:rPr lang="en-US" altLang="zh-CN" dirty="0" smtClean="0"/>
              <a:t>6</a:t>
            </a:r>
            <a:r>
              <a:rPr lang="zh-CN" altLang="en-US" dirty="0" smtClean="0"/>
              <a:t>号节点，最短路径寻找结束。</a:t>
            </a:r>
            <a:endParaRPr lang="en-US" altLang="zh-CN" dirty="0" smtClean="0"/>
          </a:p>
          <a:p>
            <a:endParaRPr lang="zh-CN" altLang="en-US" dirty="0"/>
          </a:p>
        </p:txBody>
      </p:sp>
      <mc:AlternateContent xmlns:mc="http://schemas.openxmlformats.org/markup-compatibility/2006">
        <mc:Choice xmlns:a14="http://schemas.microsoft.com/office/drawing/2010/main" Requires="a14">
          <p:graphicFrame>
            <p:nvGraphicFramePr>
              <p:cNvPr id="34" name="表格 33"/>
              <p:cNvGraphicFramePr>
                <a:graphicFrameLocks noGrp="1"/>
              </p:cNvGraphicFramePr>
              <p:nvPr>
                <p:extLst>
                  <p:ext uri="{D42A27DB-BD31-4B8C-83A1-F6EECF244321}">
                    <p14:modId xmlns:p14="http://schemas.microsoft.com/office/powerpoint/2010/main" val="3403342086"/>
                  </p:ext>
                </p:extLst>
              </p:nvPr>
            </p:nvGraphicFramePr>
            <p:xfrm>
              <a:off x="1866094" y="4441916"/>
              <a:ext cx="2455470" cy="736600"/>
            </p:xfrm>
            <a:graphic>
              <a:graphicData uri="http://schemas.openxmlformats.org/drawingml/2006/table">
                <a:tbl>
                  <a:tblPr firstRow="1" bandRow="1">
                    <a:tableStyleId>{5C22544A-7EE6-4342-B048-85BDC9FD1C3A}</a:tableStyleId>
                  </a:tblPr>
                  <a:tblGrid>
                    <a:gridCol w="409245">
                      <a:extLst>
                        <a:ext uri="{9D8B030D-6E8A-4147-A177-3AD203B41FA5}">
                          <a16:colId xmlns:a16="http://schemas.microsoft.com/office/drawing/2014/main" val="3458930630"/>
                        </a:ext>
                      </a:extLst>
                    </a:gridCol>
                    <a:gridCol w="409245">
                      <a:extLst>
                        <a:ext uri="{9D8B030D-6E8A-4147-A177-3AD203B41FA5}">
                          <a16:colId xmlns:a16="http://schemas.microsoft.com/office/drawing/2014/main" val="3751536738"/>
                        </a:ext>
                      </a:extLst>
                    </a:gridCol>
                    <a:gridCol w="409245">
                      <a:extLst>
                        <a:ext uri="{9D8B030D-6E8A-4147-A177-3AD203B41FA5}">
                          <a16:colId xmlns:a16="http://schemas.microsoft.com/office/drawing/2014/main" val="202188960"/>
                        </a:ext>
                      </a:extLst>
                    </a:gridCol>
                    <a:gridCol w="409245">
                      <a:extLst>
                        <a:ext uri="{9D8B030D-6E8A-4147-A177-3AD203B41FA5}">
                          <a16:colId xmlns:a16="http://schemas.microsoft.com/office/drawing/2014/main" val="4142623678"/>
                        </a:ext>
                      </a:extLst>
                    </a:gridCol>
                    <a:gridCol w="409245">
                      <a:extLst>
                        <a:ext uri="{9D8B030D-6E8A-4147-A177-3AD203B41FA5}">
                          <a16:colId xmlns:a16="http://schemas.microsoft.com/office/drawing/2014/main" val="57359619"/>
                        </a:ext>
                      </a:extLst>
                    </a:gridCol>
                    <a:gridCol w="409245">
                      <a:extLst>
                        <a:ext uri="{9D8B030D-6E8A-4147-A177-3AD203B41FA5}">
                          <a16:colId xmlns:a16="http://schemas.microsoft.com/office/drawing/2014/main" val="2568759967"/>
                        </a:ext>
                      </a:extLst>
                    </a:gridCol>
                  </a:tblGrid>
                  <a:tr h="333304">
                    <a:tc>
                      <a:txBody>
                        <a:bodyPr/>
                        <a:lstStyle/>
                        <a:p>
                          <a:pPr algn="ctr"/>
                          <a:r>
                            <a:rPr lang="en-US" altLang="zh-CN" dirty="0" smtClean="0"/>
                            <a:t>1</a:t>
                          </a:r>
                          <a:endParaRPr lang="zh-CN" altLang="en-US" dirty="0"/>
                        </a:p>
                      </a:txBody>
                      <a:tcPr/>
                    </a:tc>
                    <a:tc>
                      <a:txBody>
                        <a:bodyPr/>
                        <a:lstStyle/>
                        <a:p>
                          <a:pPr algn="ctr"/>
                          <a:r>
                            <a:rPr lang="en-US" altLang="zh-CN" dirty="0" smtClean="0"/>
                            <a:t>2</a:t>
                          </a:r>
                          <a:endParaRPr lang="zh-CN" altLang="en-US" dirty="0"/>
                        </a:p>
                      </a:txBody>
                      <a:tcPr/>
                    </a:tc>
                    <a:tc>
                      <a:txBody>
                        <a:bodyPr/>
                        <a:lstStyle/>
                        <a:p>
                          <a:pPr algn="ctr"/>
                          <a:r>
                            <a:rPr lang="en-US" altLang="zh-CN" dirty="0" smtClean="0"/>
                            <a:t>3</a:t>
                          </a:r>
                          <a:endParaRPr lang="zh-CN" altLang="en-US" dirty="0"/>
                        </a:p>
                      </a:txBody>
                      <a:tcPr/>
                    </a:tc>
                    <a:tc>
                      <a:txBody>
                        <a:bodyPr/>
                        <a:lstStyle/>
                        <a:p>
                          <a:pPr algn="ctr"/>
                          <a:r>
                            <a:rPr lang="en-US" altLang="zh-CN" dirty="0" smtClean="0"/>
                            <a:t>4</a:t>
                          </a:r>
                          <a:endParaRPr lang="zh-CN" altLang="en-US" dirty="0"/>
                        </a:p>
                      </a:txBody>
                      <a:tcPr/>
                    </a:tc>
                    <a:tc>
                      <a:txBody>
                        <a:bodyPr/>
                        <a:lstStyle/>
                        <a:p>
                          <a:pPr algn="ctr"/>
                          <a:r>
                            <a:rPr lang="en-US" altLang="zh-CN" dirty="0" smtClean="0"/>
                            <a:t>5</a:t>
                          </a:r>
                          <a:endParaRPr lang="zh-CN" altLang="en-US" dirty="0"/>
                        </a:p>
                      </a:txBody>
                      <a:tcPr/>
                    </a:tc>
                    <a:tc>
                      <a:txBody>
                        <a:bodyPr/>
                        <a:lstStyle/>
                        <a:p>
                          <a:pPr algn="ctr"/>
                          <a:r>
                            <a:rPr lang="en-US" altLang="zh-CN" dirty="0" smtClean="0"/>
                            <a:t>6</a:t>
                          </a:r>
                          <a:endParaRPr lang="zh-CN" altLang="en-US" dirty="0"/>
                        </a:p>
                      </a:txBody>
                      <a:tcPr/>
                    </a:tc>
                    <a:extLst>
                      <a:ext uri="{0D108BD9-81ED-4DB2-BD59-A6C34878D82A}">
                        <a16:rowId xmlns:a16="http://schemas.microsoft.com/office/drawing/2014/main" val="1749628763"/>
                      </a:ext>
                    </a:extLst>
                  </a:tr>
                  <a:tr h="370840">
                    <a:tc>
                      <a:txBody>
                        <a:bodyPr/>
                        <a:lstStyle/>
                        <a:p>
                          <a:pPr algn="ctr"/>
                          <a:r>
                            <a:rPr lang="en-US" altLang="zh-CN" dirty="0" smtClean="0">
                              <a:solidFill>
                                <a:schemeClr val="bg2"/>
                              </a:solidFill>
                            </a:rPr>
                            <a:t>0</a:t>
                          </a:r>
                          <a:endParaRPr lang="zh-CN" altLang="en-US" dirty="0">
                            <a:solidFill>
                              <a:schemeClr val="bg2"/>
                            </a:solidFill>
                          </a:endParaRPr>
                        </a:p>
                      </a:txBody>
                      <a:tcPr/>
                    </a:tc>
                    <a:tc>
                      <a:txBody>
                        <a:bodyPr/>
                        <a:lstStyle/>
                        <a:p>
                          <a:pPr algn="ctr"/>
                          <a:r>
                            <a:rPr lang="en-US" altLang="zh-CN" dirty="0" smtClean="0">
                              <a:solidFill>
                                <a:schemeClr val="bg2"/>
                              </a:solidFill>
                            </a:rPr>
                            <a:t>1</a:t>
                          </a:r>
                          <a:endParaRPr lang="zh-CN" altLang="en-US" dirty="0">
                            <a:solidFill>
                              <a:schemeClr val="bg2"/>
                            </a:solidFill>
                          </a:endParaRPr>
                        </a:p>
                      </a:txBody>
                      <a:tcPr/>
                    </a:tc>
                    <a:tc>
                      <a:txBody>
                        <a:bodyPr/>
                        <a:lstStyle/>
                        <a:p>
                          <a:pPr algn="ctr"/>
                          <a:r>
                            <a:rPr lang="en-US" altLang="zh-CN" sz="1600" dirty="0" smtClean="0">
                              <a:solidFill>
                                <a:schemeClr val="bg2"/>
                              </a:solidFill>
                            </a:rPr>
                            <a:t>12</a:t>
                          </a:r>
                          <a:endParaRPr lang="zh-CN" altLang="en-US" dirty="0">
                            <a:solidFill>
                              <a:schemeClr val="bg2"/>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CN" altLang="en-US" sz="1800" i="1" smtClean="0">
                                    <a:solidFill>
                                      <a:schemeClr val="bg2"/>
                                    </a:solidFill>
                                    <a:latin typeface="Cambria Math" panose="02040503050406030204" pitchFamily="18" charset="0"/>
                                  </a:rPr>
                                  <m:t>∞</m:t>
                                </m:r>
                              </m:oMath>
                            </m:oMathPara>
                          </a14:m>
                          <a:endParaRPr lang="zh-CN" altLang="en-US" sz="1800" dirty="0">
                            <a:solidFill>
                              <a:schemeClr val="bg2"/>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zh-CN" altLang="en-US" sz="1800" i="1" smtClean="0">
                                    <a:solidFill>
                                      <a:schemeClr val="bg2"/>
                                    </a:solidFill>
                                    <a:latin typeface="Cambria Math" panose="02040503050406030204" pitchFamily="18" charset="0"/>
                                  </a:rPr>
                                  <m:t>∞</m:t>
                                </m:r>
                              </m:oMath>
                            </m:oMathPara>
                          </a14:m>
                          <a:endParaRPr lang="zh-CN" altLang="en-US" dirty="0"/>
                        </a:p>
                      </a:txBody>
                      <a:tcPr/>
                    </a:tc>
                    <a:tc>
                      <a:txBody>
                        <a:bodyPr/>
                        <a:lstStyle/>
                        <a:p>
                          <a:pPr algn="ctr"/>
                          <a14:m>
                            <m:oMathPara xmlns:m="http://schemas.openxmlformats.org/officeDocument/2006/math">
                              <m:oMathParaPr>
                                <m:jc m:val="centerGroup"/>
                              </m:oMathParaPr>
                              <m:oMath xmlns:m="http://schemas.openxmlformats.org/officeDocument/2006/math">
                                <m:r>
                                  <a:rPr lang="zh-CN" altLang="en-US" sz="1800" i="1" smtClean="0">
                                    <a:solidFill>
                                      <a:schemeClr val="bg2"/>
                                    </a:solidFill>
                                    <a:latin typeface="Cambria Math" panose="02040503050406030204" pitchFamily="18" charset="0"/>
                                  </a:rPr>
                                  <m:t>∞</m:t>
                                </m:r>
                              </m:oMath>
                            </m:oMathPara>
                          </a14:m>
                          <a:endParaRPr lang="zh-CN" altLang="en-US" dirty="0"/>
                        </a:p>
                      </a:txBody>
                      <a:tcPr/>
                    </a:tc>
                    <a:extLst>
                      <a:ext uri="{0D108BD9-81ED-4DB2-BD59-A6C34878D82A}">
                        <a16:rowId xmlns:a16="http://schemas.microsoft.com/office/drawing/2014/main" val="2308643076"/>
                      </a:ext>
                    </a:extLst>
                  </a:tr>
                </a:tbl>
              </a:graphicData>
            </a:graphic>
          </p:graphicFrame>
        </mc:Choice>
        <mc:Fallback>
          <p:graphicFrame>
            <p:nvGraphicFramePr>
              <p:cNvPr id="34" name="表格 33"/>
              <p:cNvGraphicFramePr>
                <a:graphicFrameLocks noGrp="1"/>
              </p:cNvGraphicFramePr>
              <p:nvPr>
                <p:extLst>
                  <p:ext uri="{D42A27DB-BD31-4B8C-83A1-F6EECF244321}">
                    <p14:modId xmlns:p14="http://schemas.microsoft.com/office/powerpoint/2010/main" val="3403342086"/>
                  </p:ext>
                </p:extLst>
              </p:nvPr>
            </p:nvGraphicFramePr>
            <p:xfrm>
              <a:off x="1866094" y="4441916"/>
              <a:ext cx="2455470" cy="736600"/>
            </p:xfrm>
            <a:graphic>
              <a:graphicData uri="http://schemas.openxmlformats.org/drawingml/2006/table">
                <a:tbl>
                  <a:tblPr firstRow="1" bandRow="1">
                    <a:tableStyleId>{5C22544A-7EE6-4342-B048-85BDC9FD1C3A}</a:tableStyleId>
                  </a:tblPr>
                  <a:tblGrid>
                    <a:gridCol w="409245">
                      <a:extLst>
                        <a:ext uri="{9D8B030D-6E8A-4147-A177-3AD203B41FA5}">
                          <a16:colId xmlns:a16="http://schemas.microsoft.com/office/drawing/2014/main" val="3458930630"/>
                        </a:ext>
                      </a:extLst>
                    </a:gridCol>
                    <a:gridCol w="409245">
                      <a:extLst>
                        <a:ext uri="{9D8B030D-6E8A-4147-A177-3AD203B41FA5}">
                          <a16:colId xmlns:a16="http://schemas.microsoft.com/office/drawing/2014/main" val="3751536738"/>
                        </a:ext>
                      </a:extLst>
                    </a:gridCol>
                    <a:gridCol w="409245">
                      <a:extLst>
                        <a:ext uri="{9D8B030D-6E8A-4147-A177-3AD203B41FA5}">
                          <a16:colId xmlns:a16="http://schemas.microsoft.com/office/drawing/2014/main" val="202188960"/>
                        </a:ext>
                      </a:extLst>
                    </a:gridCol>
                    <a:gridCol w="409245">
                      <a:extLst>
                        <a:ext uri="{9D8B030D-6E8A-4147-A177-3AD203B41FA5}">
                          <a16:colId xmlns:a16="http://schemas.microsoft.com/office/drawing/2014/main" val="4142623678"/>
                        </a:ext>
                      </a:extLst>
                    </a:gridCol>
                    <a:gridCol w="409245">
                      <a:extLst>
                        <a:ext uri="{9D8B030D-6E8A-4147-A177-3AD203B41FA5}">
                          <a16:colId xmlns:a16="http://schemas.microsoft.com/office/drawing/2014/main" val="57359619"/>
                        </a:ext>
                      </a:extLst>
                    </a:gridCol>
                    <a:gridCol w="409245">
                      <a:extLst>
                        <a:ext uri="{9D8B030D-6E8A-4147-A177-3AD203B41FA5}">
                          <a16:colId xmlns:a16="http://schemas.microsoft.com/office/drawing/2014/main" val="2568759967"/>
                        </a:ext>
                      </a:extLst>
                    </a:gridCol>
                  </a:tblGrid>
                  <a:tr h="365760">
                    <a:tc>
                      <a:txBody>
                        <a:bodyPr/>
                        <a:lstStyle/>
                        <a:p>
                          <a:pPr algn="ctr"/>
                          <a:r>
                            <a:rPr lang="en-US" altLang="zh-CN" dirty="0" smtClean="0"/>
                            <a:t>1</a:t>
                          </a:r>
                          <a:endParaRPr lang="zh-CN" altLang="en-US" dirty="0"/>
                        </a:p>
                      </a:txBody>
                      <a:tcPr/>
                    </a:tc>
                    <a:tc>
                      <a:txBody>
                        <a:bodyPr/>
                        <a:lstStyle/>
                        <a:p>
                          <a:pPr algn="ctr"/>
                          <a:r>
                            <a:rPr lang="en-US" altLang="zh-CN" dirty="0" smtClean="0"/>
                            <a:t>2</a:t>
                          </a:r>
                          <a:endParaRPr lang="zh-CN" altLang="en-US" dirty="0"/>
                        </a:p>
                      </a:txBody>
                      <a:tcPr/>
                    </a:tc>
                    <a:tc>
                      <a:txBody>
                        <a:bodyPr/>
                        <a:lstStyle/>
                        <a:p>
                          <a:pPr algn="ctr"/>
                          <a:r>
                            <a:rPr lang="en-US" altLang="zh-CN" dirty="0" smtClean="0"/>
                            <a:t>3</a:t>
                          </a:r>
                          <a:endParaRPr lang="zh-CN" altLang="en-US" dirty="0"/>
                        </a:p>
                      </a:txBody>
                      <a:tcPr/>
                    </a:tc>
                    <a:tc>
                      <a:txBody>
                        <a:bodyPr/>
                        <a:lstStyle/>
                        <a:p>
                          <a:pPr algn="ctr"/>
                          <a:r>
                            <a:rPr lang="en-US" altLang="zh-CN" dirty="0" smtClean="0"/>
                            <a:t>4</a:t>
                          </a:r>
                          <a:endParaRPr lang="zh-CN" altLang="en-US" dirty="0"/>
                        </a:p>
                      </a:txBody>
                      <a:tcPr/>
                    </a:tc>
                    <a:tc>
                      <a:txBody>
                        <a:bodyPr/>
                        <a:lstStyle/>
                        <a:p>
                          <a:pPr algn="ctr"/>
                          <a:r>
                            <a:rPr lang="en-US" altLang="zh-CN" dirty="0" smtClean="0"/>
                            <a:t>5</a:t>
                          </a:r>
                          <a:endParaRPr lang="zh-CN" altLang="en-US" dirty="0"/>
                        </a:p>
                      </a:txBody>
                      <a:tcPr/>
                    </a:tc>
                    <a:tc>
                      <a:txBody>
                        <a:bodyPr/>
                        <a:lstStyle/>
                        <a:p>
                          <a:pPr algn="ctr"/>
                          <a:r>
                            <a:rPr lang="en-US" altLang="zh-CN" dirty="0" smtClean="0"/>
                            <a:t>6</a:t>
                          </a:r>
                          <a:endParaRPr lang="zh-CN" altLang="en-US" dirty="0"/>
                        </a:p>
                      </a:txBody>
                      <a:tcPr/>
                    </a:tc>
                    <a:extLst>
                      <a:ext uri="{0D108BD9-81ED-4DB2-BD59-A6C34878D82A}">
                        <a16:rowId xmlns:a16="http://schemas.microsoft.com/office/drawing/2014/main" val="1749628763"/>
                      </a:ext>
                    </a:extLst>
                  </a:tr>
                  <a:tr h="370840">
                    <a:tc>
                      <a:txBody>
                        <a:bodyPr/>
                        <a:lstStyle/>
                        <a:p>
                          <a:pPr algn="ctr"/>
                          <a:r>
                            <a:rPr lang="en-US" altLang="zh-CN" dirty="0" smtClean="0">
                              <a:solidFill>
                                <a:schemeClr val="bg2"/>
                              </a:solidFill>
                            </a:rPr>
                            <a:t>0</a:t>
                          </a:r>
                          <a:endParaRPr lang="zh-CN" altLang="en-US" dirty="0">
                            <a:solidFill>
                              <a:schemeClr val="bg2"/>
                            </a:solidFill>
                          </a:endParaRPr>
                        </a:p>
                      </a:txBody>
                      <a:tcPr/>
                    </a:tc>
                    <a:tc>
                      <a:txBody>
                        <a:bodyPr/>
                        <a:lstStyle/>
                        <a:p>
                          <a:pPr algn="ctr"/>
                          <a:r>
                            <a:rPr lang="en-US" altLang="zh-CN" dirty="0" smtClean="0">
                              <a:solidFill>
                                <a:schemeClr val="bg2"/>
                              </a:solidFill>
                            </a:rPr>
                            <a:t>1</a:t>
                          </a:r>
                          <a:endParaRPr lang="zh-CN" altLang="en-US" dirty="0">
                            <a:solidFill>
                              <a:schemeClr val="bg2"/>
                            </a:solidFill>
                          </a:endParaRPr>
                        </a:p>
                      </a:txBody>
                      <a:tcPr/>
                    </a:tc>
                    <a:tc>
                      <a:txBody>
                        <a:bodyPr/>
                        <a:lstStyle/>
                        <a:p>
                          <a:pPr algn="ctr"/>
                          <a:r>
                            <a:rPr lang="en-US" altLang="zh-CN" sz="1600" dirty="0" smtClean="0">
                              <a:solidFill>
                                <a:schemeClr val="bg2"/>
                              </a:solidFill>
                            </a:rPr>
                            <a:t>12</a:t>
                          </a:r>
                          <a:endParaRPr lang="zh-CN" altLang="en-US" dirty="0">
                            <a:solidFill>
                              <a:schemeClr val="bg2"/>
                            </a:solidFill>
                          </a:endParaRPr>
                        </a:p>
                      </a:txBody>
                      <a:tcPr/>
                    </a:tc>
                    <a:tc>
                      <a:txBody>
                        <a:bodyPr/>
                        <a:lstStyle/>
                        <a:p>
                          <a:endParaRPr lang="zh-CN"/>
                        </a:p>
                      </a:txBody>
                      <a:tcPr>
                        <a:blipFill>
                          <a:blip r:embed="rId2"/>
                          <a:stretch>
                            <a:fillRect l="-302985" t="-108197" r="-207463" b="-24590"/>
                          </a:stretch>
                        </a:blipFill>
                      </a:tcPr>
                    </a:tc>
                    <a:tc>
                      <a:txBody>
                        <a:bodyPr/>
                        <a:lstStyle/>
                        <a:p>
                          <a:endParaRPr lang="zh-CN"/>
                        </a:p>
                      </a:txBody>
                      <a:tcPr>
                        <a:blipFill>
                          <a:blip r:embed="rId2"/>
                          <a:stretch>
                            <a:fillRect l="-402985" t="-108197" r="-107463" b="-24590"/>
                          </a:stretch>
                        </a:blipFill>
                      </a:tcPr>
                    </a:tc>
                    <a:tc>
                      <a:txBody>
                        <a:bodyPr/>
                        <a:lstStyle/>
                        <a:p>
                          <a:endParaRPr lang="zh-CN"/>
                        </a:p>
                      </a:txBody>
                      <a:tcPr>
                        <a:blipFill>
                          <a:blip r:embed="rId2"/>
                          <a:stretch>
                            <a:fillRect l="-502985" t="-108197" r="-7463" b="-24590"/>
                          </a:stretch>
                        </a:blipFill>
                      </a:tcPr>
                    </a:tc>
                    <a:extLst>
                      <a:ext uri="{0D108BD9-81ED-4DB2-BD59-A6C34878D82A}">
                        <a16:rowId xmlns:a16="http://schemas.microsoft.com/office/drawing/2014/main" val="2308643076"/>
                      </a:ext>
                    </a:extLst>
                  </a:tr>
                </a:tbl>
              </a:graphicData>
            </a:graphic>
          </p:graphicFrame>
        </mc:Fallback>
      </mc:AlternateContent>
      <p:sp>
        <p:nvSpPr>
          <p:cNvPr id="35" name="圆角矩形 34"/>
          <p:cNvSpPr/>
          <p:nvPr/>
        </p:nvSpPr>
        <p:spPr>
          <a:xfrm>
            <a:off x="755128" y="4785324"/>
            <a:ext cx="1110966" cy="393192"/>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distance</a:t>
            </a:r>
            <a:endParaRPr lang="zh-CN" altLang="en-US" dirty="0"/>
          </a:p>
        </p:txBody>
      </p:sp>
      <p:sp>
        <p:nvSpPr>
          <p:cNvPr id="36" name="矩形 35"/>
          <p:cNvSpPr/>
          <p:nvPr/>
        </p:nvSpPr>
        <p:spPr>
          <a:xfrm>
            <a:off x="2703785" y="4809716"/>
            <a:ext cx="352044" cy="2954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10</a:t>
            </a:r>
            <a:endParaRPr lang="zh-CN" altLang="en-US" sz="1200" dirty="0"/>
          </a:p>
        </p:txBody>
      </p:sp>
      <p:sp>
        <p:nvSpPr>
          <p:cNvPr id="37" name="矩形 36"/>
          <p:cNvSpPr/>
          <p:nvPr/>
        </p:nvSpPr>
        <p:spPr>
          <a:xfrm>
            <a:off x="3121246" y="4834196"/>
            <a:ext cx="352044" cy="2954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4</a:t>
            </a:r>
            <a:endParaRPr lang="zh-CN" altLang="en-US" sz="1200" dirty="0"/>
          </a:p>
        </p:txBody>
      </p:sp>
      <p:sp>
        <p:nvSpPr>
          <p:cNvPr id="38" name="矩形 37"/>
          <p:cNvSpPr/>
          <p:nvPr/>
        </p:nvSpPr>
        <p:spPr>
          <a:xfrm>
            <a:off x="2703785" y="4834196"/>
            <a:ext cx="352044" cy="295448"/>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8</a:t>
            </a:r>
            <a:endParaRPr lang="zh-CN" altLang="en-US" sz="1200" dirty="0"/>
          </a:p>
        </p:txBody>
      </p:sp>
      <p:sp>
        <p:nvSpPr>
          <p:cNvPr id="39" name="矩形 38"/>
          <p:cNvSpPr/>
          <p:nvPr/>
        </p:nvSpPr>
        <p:spPr>
          <a:xfrm>
            <a:off x="3930135" y="4834196"/>
            <a:ext cx="352044" cy="295448"/>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19</a:t>
            </a:r>
            <a:endParaRPr lang="zh-CN" altLang="en-US" sz="1200" dirty="0"/>
          </a:p>
        </p:txBody>
      </p:sp>
      <p:sp>
        <p:nvSpPr>
          <p:cNvPr id="40" name="矩形 39"/>
          <p:cNvSpPr/>
          <p:nvPr/>
        </p:nvSpPr>
        <p:spPr>
          <a:xfrm>
            <a:off x="3538707" y="4834196"/>
            <a:ext cx="352044" cy="295448"/>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17</a:t>
            </a:r>
            <a:endParaRPr lang="zh-CN" altLang="en-US" sz="1200" dirty="0"/>
          </a:p>
        </p:txBody>
      </p:sp>
      <p:sp>
        <p:nvSpPr>
          <p:cNvPr id="41" name="椭圆 40"/>
          <p:cNvSpPr/>
          <p:nvPr/>
        </p:nvSpPr>
        <p:spPr>
          <a:xfrm>
            <a:off x="1372576" y="2797835"/>
            <a:ext cx="502920" cy="512064"/>
          </a:xfrm>
          <a:prstGeom prst="ellipse">
            <a:avLst/>
          </a:prstGeom>
          <a:solidFill>
            <a:schemeClr val="accent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a:solidFill>
                  <a:schemeClr val="bg2"/>
                </a:solidFill>
              </a:rPr>
              <a:t>3</a:t>
            </a:r>
            <a:endParaRPr lang="zh-CN" altLang="en-US" dirty="0">
              <a:solidFill>
                <a:schemeClr val="bg2"/>
              </a:solidFill>
            </a:endParaRPr>
          </a:p>
        </p:txBody>
      </p:sp>
      <p:cxnSp>
        <p:nvCxnSpPr>
          <p:cNvPr id="42" name="直接箭头连接符 41"/>
          <p:cNvCxnSpPr/>
          <p:nvPr/>
        </p:nvCxnSpPr>
        <p:spPr>
          <a:xfrm>
            <a:off x="1886704" y="3053867"/>
            <a:ext cx="12649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3536718" y="4842414"/>
            <a:ext cx="352044" cy="295448"/>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13</a:t>
            </a:r>
            <a:endParaRPr lang="zh-CN" altLang="en-US" sz="1200" dirty="0">
              <a:solidFill>
                <a:schemeClr val="tx1"/>
              </a:solidFill>
            </a:endParaRPr>
          </a:p>
        </p:txBody>
      </p:sp>
    </p:spTree>
    <p:extLst>
      <p:ext uri="{BB962C8B-B14F-4D97-AF65-F5344CB8AC3E}">
        <p14:creationId xmlns:p14="http://schemas.microsoft.com/office/powerpoint/2010/main" val="1130462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迪杰斯特拉算法的一般步骤</a:t>
            </a:r>
            <a:endParaRPr lang="zh-CN" altLang="en-US" dirty="0"/>
          </a:p>
        </p:txBody>
      </p:sp>
      <p:sp>
        <p:nvSpPr>
          <p:cNvPr id="3" name="内容占位符 2"/>
          <p:cNvSpPr>
            <a:spLocks noGrp="1"/>
          </p:cNvSpPr>
          <p:nvPr>
            <p:ph idx="1"/>
          </p:nvPr>
        </p:nvSpPr>
        <p:spPr/>
        <p:txBody>
          <a:bodyPr/>
          <a:lstStyle/>
          <a:p>
            <a:r>
              <a:rPr lang="zh-CN" altLang="en-US" dirty="0" smtClean="0"/>
              <a:t>将所有顶点分为两个集合：已知最短路径的顶点集合</a:t>
            </a:r>
            <a:r>
              <a:rPr lang="en-US" altLang="zh-CN" dirty="0" smtClean="0"/>
              <a:t>P</a:t>
            </a:r>
            <a:r>
              <a:rPr lang="zh-CN" altLang="en-US" dirty="0" smtClean="0"/>
              <a:t>和未知最短路径集合</a:t>
            </a:r>
            <a:r>
              <a:rPr lang="en-US" altLang="zh-CN" dirty="0" smtClean="0"/>
              <a:t>Q</a:t>
            </a:r>
            <a:r>
              <a:rPr lang="zh-CN" altLang="en-US" dirty="0" smtClean="0"/>
              <a:t>（标记法）</a:t>
            </a:r>
            <a:endParaRPr lang="en-US" altLang="zh-CN" dirty="0" smtClean="0"/>
          </a:p>
          <a:p>
            <a:r>
              <a:rPr lang="zh-CN" altLang="en-US" dirty="0" smtClean="0"/>
              <a:t>使用一维数组标记各个顶点到本节点的最短路径，初始化：自身到自身为</a:t>
            </a:r>
            <a:r>
              <a:rPr lang="en-US" altLang="zh-CN" dirty="0" smtClean="0"/>
              <a:t>0</a:t>
            </a:r>
            <a:r>
              <a:rPr lang="zh-CN" altLang="en-US" dirty="0" smtClean="0"/>
              <a:t>，如果存在路径到相应节点则为具体值，否则为无穷。</a:t>
            </a:r>
            <a:endParaRPr lang="en-US" altLang="zh-CN" dirty="0" smtClean="0"/>
          </a:p>
          <a:p>
            <a:r>
              <a:rPr lang="zh-CN" altLang="en-US" dirty="0" smtClean="0"/>
              <a:t>集合</a:t>
            </a:r>
            <a:r>
              <a:rPr lang="en-US" altLang="zh-CN" dirty="0" smtClean="0"/>
              <a:t>Q</a:t>
            </a:r>
            <a:r>
              <a:rPr lang="zh-CN" altLang="en-US" dirty="0" smtClean="0"/>
              <a:t>中选择距参考节点最近的节点作为新的起始节点，并松弛有边相连的节点。</a:t>
            </a:r>
            <a:endParaRPr lang="en-US" altLang="zh-CN" dirty="0" smtClean="0"/>
          </a:p>
          <a:p>
            <a:r>
              <a:rPr lang="zh-CN" altLang="en-US" dirty="0" smtClean="0"/>
              <a:t>重复第三步，直到所有节点均被作为起始点</a:t>
            </a:r>
            <a:endParaRPr lang="en-US" altLang="zh-CN" dirty="0" smtClean="0"/>
          </a:p>
        </p:txBody>
      </p:sp>
    </p:spTree>
    <p:extLst>
      <p:ext uri="{BB962C8B-B14F-4D97-AF65-F5344CB8AC3E}">
        <p14:creationId xmlns:p14="http://schemas.microsoft.com/office/powerpoint/2010/main" val="14840820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Dijkstra</a:t>
            </a:r>
            <a:r>
              <a:rPr lang="zh-CN" altLang="en-US" dirty="0" smtClean="0"/>
              <a:t>算法</a:t>
            </a:r>
            <a:endParaRPr lang="zh-CN" altLang="en-US" dirty="0"/>
          </a:p>
        </p:txBody>
      </p:sp>
      <p:sp>
        <p:nvSpPr>
          <p:cNvPr id="3" name="内容占位符 2"/>
          <p:cNvSpPr>
            <a:spLocks noGrp="1"/>
          </p:cNvSpPr>
          <p:nvPr>
            <p:ph idx="1"/>
          </p:nvPr>
        </p:nvSpPr>
        <p:spPr/>
        <p:txBody>
          <a:bodyPr>
            <a:normAutofit fontScale="47500" lnSpcReduction="20000"/>
          </a:bodyPr>
          <a:lstStyle/>
          <a:p>
            <a:r>
              <a:rPr lang="en-US" altLang="zh-CN" dirty="0" smtClean="0"/>
              <a:t>for(int </a:t>
            </a:r>
            <a:r>
              <a:rPr lang="en-US" altLang="zh-CN" dirty="0" err="1" smtClean="0"/>
              <a:t>i</a:t>
            </a:r>
            <a:r>
              <a:rPr lang="en-US" altLang="zh-CN" dirty="0" smtClean="0"/>
              <a:t> = 1;i&lt;</a:t>
            </a:r>
            <a:r>
              <a:rPr lang="en-US" altLang="zh-CN" dirty="0" err="1" smtClean="0"/>
              <a:t>n;i</a:t>
            </a:r>
            <a:r>
              <a:rPr lang="en-US" altLang="zh-CN" dirty="0" smtClean="0"/>
              <a:t>++){</a:t>
            </a:r>
          </a:p>
          <a:p>
            <a:r>
              <a:rPr lang="en-US" altLang="zh-CN" dirty="0" smtClean="0"/>
              <a:t>    int  </a:t>
            </a:r>
            <a:r>
              <a:rPr lang="en-US" altLang="zh-CN" dirty="0" err="1" smtClean="0"/>
              <a:t>min_distance</a:t>
            </a:r>
            <a:r>
              <a:rPr lang="en-US" altLang="zh-CN" dirty="0" smtClean="0"/>
              <a:t> = Nan;//(nan</a:t>
            </a:r>
            <a:r>
              <a:rPr lang="zh-CN" altLang="en-US" dirty="0" smtClean="0"/>
              <a:t>是一个特殊的数字，在计算机中表示无穷大</a:t>
            </a:r>
            <a:r>
              <a:rPr lang="en-US" altLang="zh-CN" dirty="0" smtClean="0"/>
              <a:t>)</a:t>
            </a:r>
          </a:p>
          <a:p>
            <a:r>
              <a:rPr lang="en-US" altLang="zh-CN" dirty="0"/>
              <a:t> </a:t>
            </a:r>
            <a:r>
              <a:rPr lang="en-US" altLang="zh-CN" dirty="0" smtClean="0"/>
              <a:t>   int </a:t>
            </a:r>
            <a:r>
              <a:rPr lang="en-US" altLang="zh-CN" dirty="0" err="1" smtClean="0"/>
              <a:t>min_distance_index</a:t>
            </a:r>
            <a:r>
              <a:rPr lang="en-US" altLang="zh-CN" dirty="0" smtClean="0"/>
              <a:t> = 0;//</a:t>
            </a:r>
            <a:r>
              <a:rPr lang="zh-CN" altLang="en-US" dirty="0" smtClean="0"/>
              <a:t>最小值的索引</a:t>
            </a:r>
            <a:endParaRPr lang="en-US" altLang="zh-CN" dirty="0"/>
          </a:p>
          <a:p>
            <a:r>
              <a:rPr lang="en-US" altLang="zh-CN" dirty="0" smtClean="0"/>
              <a:t>    for(int j =1; j&lt;n; </a:t>
            </a:r>
            <a:r>
              <a:rPr lang="en-US" altLang="zh-CN" dirty="0" err="1" smtClean="0"/>
              <a:t>j++</a:t>
            </a:r>
            <a:r>
              <a:rPr lang="en-US" altLang="zh-CN" dirty="0" smtClean="0"/>
              <a:t>){//</a:t>
            </a:r>
            <a:r>
              <a:rPr lang="zh-CN" altLang="en-US" dirty="0" smtClean="0"/>
              <a:t>在未知最短路径集合中选择一个距离参考节点最近的节点作为起始节点</a:t>
            </a:r>
            <a:endParaRPr lang="en-US" altLang="zh-CN" dirty="0" smtClean="0"/>
          </a:p>
          <a:p>
            <a:r>
              <a:rPr lang="en-US" altLang="zh-CN" dirty="0"/>
              <a:t> </a:t>
            </a:r>
            <a:r>
              <a:rPr lang="en-US" altLang="zh-CN" dirty="0" smtClean="0"/>
              <a:t>       if(book[j] == 0 &amp;&amp; dis[j]&lt;min){</a:t>
            </a:r>
          </a:p>
          <a:p>
            <a:r>
              <a:rPr lang="en-US" altLang="zh-CN" dirty="0" smtClean="0"/>
              <a:t>            min = dis[j];  </a:t>
            </a:r>
            <a:r>
              <a:rPr lang="en-US" altLang="zh-CN" dirty="0" err="1" smtClean="0"/>
              <a:t>min_deistance_index</a:t>
            </a:r>
            <a:r>
              <a:rPr lang="en-US" altLang="zh-CN" dirty="0" smtClean="0"/>
              <a:t> = j;</a:t>
            </a:r>
            <a:endParaRPr lang="en-US" altLang="zh-CN" dirty="0"/>
          </a:p>
          <a:p>
            <a:r>
              <a:rPr lang="en-US" altLang="zh-CN" dirty="0" smtClean="0"/>
              <a:t>        }</a:t>
            </a:r>
            <a:endParaRPr lang="en-US" altLang="zh-CN" dirty="0"/>
          </a:p>
          <a:p>
            <a:r>
              <a:rPr lang="en-US" altLang="zh-CN" dirty="0" smtClean="0"/>
              <a:t>    }</a:t>
            </a:r>
          </a:p>
          <a:p>
            <a:r>
              <a:rPr lang="en-US" altLang="zh-CN" dirty="0" smtClean="0"/>
              <a:t>    book[</a:t>
            </a:r>
            <a:r>
              <a:rPr lang="en-US" altLang="zh-CN" dirty="0" err="1" smtClean="0"/>
              <a:t>min_distance_index</a:t>
            </a:r>
            <a:r>
              <a:rPr lang="en-US" altLang="zh-CN" dirty="0" smtClean="0"/>
              <a:t>] = 1;//</a:t>
            </a:r>
            <a:r>
              <a:rPr lang="zh-CN" altLang="en-US" dirty="0" smtClean="0"/>
              <a:t>标记已经作为起始节点</a:t>
            </a:r>
            <a:endParaRPr lang="en-US" altLang="zh-CN" dirty="0" smtClean="0"/>
          </a:p>
          <a:p>
            <a:r>
              <a:rPr lang="en-US" altLang="zh-CN" dirty="0" smtClean="0"/>
              <a:t>    for(int j = 1; j&lt;n; </a:t>
            </a:r>
            <a:r>
              <a:rPr lang="en-US" altLang="zh-CN" dirty="0" err="1" smtClean="0"/>
              <a:t>j++</a:t>
            </a:r>
            <a:r>
              <a:rPr lang="en-US" altLang="zh-CN" dirty="0" smtClean="0"/>
              <a:t>){</a:t>
            </a:r>
          </a:p>
          <a:p>
            <a:r>
              <a:rPr lang="en-US" altLang="zh-CN" dirty="0" smtClean="0"/>
              <a:t>        if(dis[j]&gt;dis[j]+graph[</a:t>
            </a:r>
            <a:r>
              <a:rPr lang="en-US" altLang="zh-CN" dirty="0" err="1" smtClean="0"/>
              <a:t>min_distance_index</a:t>
            </a:r>
            <a:r>
              <a:rPr lang="en-US" altLang="zh-CN" dirty="0" smtClean="0"/>
              <a:t>][j]){</a:t>
            </a:r>
          </a:p>
          <a:p>
            <a:r>
              <a:rPr lang="en-US" altLang="zh-CN" dirty="0" smtClean="0"/>
              <a:t>            dis[j]=</a:t>
            </a:r>
            <a:r>
              <a:rPr lang="en-US" altLang="zh-CN" dirty="0"/>
              <a:t> dis[j]+graph[</a:t>
            </a:r>
            <a:r>
              <a:rPr lang="en-US" altLang="zh-CN" dirty="0" err="1"/>
              <a:t>min_distance_index</a:t>
            </a:r>
            <a:r>
              <a:rPr lang="en-US" altLang="zh-CN" dirty="0"/>
              <a:t>][</a:t>
            </a:r>
            <a:r>
              <a:rPr lang="en-US" altLang="zh-CN" dirty="0" smtClean="0"/>
              <a:t>j];</a:t>
            </a:r>
          </a:p>
          <a:p>
            <a:r>
              <a:rPr lang="en-US" altLang="zh-CN" dirty="0" smtClean="0"/>
              <a:t>        }</a:t>
            </a:r>
            <a:endParaRPr lang="en-US" altLang="zh-CN" dirty="0"/>
          </a:p>
          <a:p>
            <a:r>
              <a:rPr lang="en-US" altLang="zh-CN" dirty="0" smtClean="0"/>
              <a:t>    }</a:t>
            </a:r>
          </a:p>
          <a:p>
            <a:r>
              <a:rPr lang="en-US" altLang="zh-CN" dirty="0"/>
              <a:t>}</a:t>
            </a:r>
            <a:endParaRPr lang="zh-CN" altLang="en-US" dirty="0"/>
          </a:p>
        </p:txBody>
      </p:sp>
    </p:spTree>
    <p:extLst>
      <p:ext uri="{BB962C8B-B14F-4D97-AF65-F5344CB8AC3E}">
        <p14:creationId xmlns:p14="http://schemas.microsoft.com/office/powerpoint/2010/main" val="1944736939"/>
      </p:ext>
    </p:extLst>
  </p:cSld>
  <p:clrMapOvr>
    <a:masterClrMapping/>
  </p:clrMapOvr>
  <p:timing>
    <p:tnLst>
      <p:par>
        <p:cTn id="1" dur="indefinite" restart="never" nodeType="tmRoot"/>
      </p:par>
    </p:tnLst>
  </p:timing>
</p:sld>
</file>

<file path=ppt/theme/theme1.xml><?xml version="1.0" encoding="utf-8"?>
<a:theme xmlns:a="http://schemas.openxmlformats.org/drawingml/2006/main" name="A000120141119A01PPBG">
  <a:themeElements>
    <a:clrScheme name="自定义 387">
      <a:dk1>
        <a:srgbClr val="FFFFFF"/>
      </a:dk1>
      <a:lt1>
        <a:srgbClr val="5F5F5F"/>
      </a:lt1>
      <a:dk2>
        <a:srgbClr val="FFFFFF"/>
      </a:dk2>
      <a:lt2>
        <a:srgbClr val="5F5F5F"/>
      </a:lt2>
      <a:accent1>
        <a:srgbClr val="C20F2A"/>
      </a:accent1>
      <a:accent2>
        <a:srgbClr val="DD5302"/>
      </a:accent2>
      <a:accent3>
        <a:srgbClr val="C68F2C"/>
      </a:accent3>
      <a:accent4>
        <a:srgbClr val="8F2578"/>
      </a:accent4>
      <a:accent5>
        <a:srgbClr val="F69582"/>
      </a:accent5>
      <a:accent6>
        <a:srgbClr val="9FBE3C"/>
      </a:accent6>
      <a:hlink>
        <a:srgbClr val="00B0F0"/>
      </a:hlink>
      <a:folHlink>
        <a:srgbClr val="AFB2B4"/>
      </a:folHlink>
    </a:clrScheme>
    <a:fontScheme name="KSO主题7">
      <a:majorFont>
        <a:latin typeface="Times New Roman"/>
        <a:ea typeface="华文中宋"/>
        <a:cs typeface=""/>
      </a:majorFont>
      <a:minorFont>
        <a:latin typeface="Times New Roman"/>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A000120150306A05KPBG</Template>
  <TotalTime>109</TotalTime>
  <Words>940</Words>
  <Application>Microsoft Office PowerPoint</Application>
  <PresentationFormat>宽屏</PresentationFormat>
  <Paragraphs>320</Paragraphs>
  <Slides>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华文中宋</vt:lpstr>
      <vt:lpstr>宋体</vt:lpstr>
      <vt:lpstr>幼圆</vt:lpstr>
      <vt:lpstr>Arial</vt:lpstr>
      <vt:lpstr>Calibri</vt:lpstr>
      <vt:lpstr>Cambria Math</vt:lpstr>
      <vt:lpstr>Times New Roman</vt:lpstr>
      <vt:lpstr>Wingdings 2</vt:lpstr>
      <vt:lpstr>A000120141119A01PPBG</vt:lpstr>
      <vt:lpstr>Dijkstra算法演示文稿</vt:lpstr>
      <vt:lpstr>Dijkstra算法</vt:lpstr>
      <vt:lpstr>PowerPoint 演示文稿</vt:lpstr>
      <vt:lpstr>PowerPoint 演示文稿</vt:lpstr>
      <vt:lpstr>PowerPoint 演示文稿</vt:lpstr>
      <vt:lpstr>PowerPoint 演示文稿</vt:lpstr>
      <vt:lpstr>迪杰斯特拉算法的一般步骤</vt:lpstr>
      <vt:lpstr>Dijkstra算法</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Dijkstra算法演示文稿</dc:title>
  <dc:creator>Tortoise -</dc:creator>
  <cp:lastModifiedBy>Tortoise -</cp:lastModifiedBy>
  <cp:revision>12</cp:revision>
  <dcterms:created xsi:type="dcterms:W3CDTF">2018-08-21T08:17:57Z</dcterms:created>
  <dcterms:modified xsi:type="dcterms:W3CDTF">2018-08-21T10:42:33Z</dcterms:modified>
</cp:coreProperties>
</file>