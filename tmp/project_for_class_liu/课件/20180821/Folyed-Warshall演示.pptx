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BBDD3-4BAE-49CE-80D8-D0565F17B63E}" type="datetimeFigureOut">
              <a:rPr lang="zh-CN" altLang="en-US" smtClean="0"/>
              <a:t>2018/8/21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CB1966-81DF-4894-BB73-B425411BCC80}" type="slidenum">
              <a:rPr lang="zh-CN" altLang="en-US" smtClean="0"/>
              <a:t>‹#›</a:t>
            </a:fld>
            <a:endParaRPr lang="zh-CN" altLang="en-US"/>
          </a:p>
        </p:txBody>
      </p:sp>
    </p:spTree>
    <p:extLst>
      <p:ext uri="{BB962C8B-B14F-4D97-AF65-F5344CB8AC3E}">
        <p14:creationId xmlns:p14="http://schemas.microsoft.com/office/powerpoint/2010/main" val="2766275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CB1966-81DF-4894-BB73-B425411BCC80}" type="slidenum">
              <a:rPr lang="zh-CN" altLang="en-US" smtClean="0"/>
              <a:t>3</a:t>
            </a:fld>
            <a:endParaRPr lang="zh-CN" altLang="en-US"/>
          </a:p>
        </p:txBody>
      </p:sp>
    </p:spTree>
    <p:extLst>
      <p:ext uri="{BB962C8B-B14F-4D97-AF65-F5344CB8AC3E}">
        <p14:creationId xmlns:p14="http://schemas.microsoft.com/office/powerpoint/2010/main" val="4237938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8" name="图片 1"/>
          <p:cNvPicPr>
            <a:picLocks noChangeAspect="1"/>
          </p:cNvPicPr>
          <p:nvPr/>
        </p:nvPicPr>
        <p:blipFill rotWithShape="1">
          <a:blip r:embed="rId2"/>
          <a:srcRect t="5959" r="2847" b="34446"/>
          <a:stretch/>
        </p:blipFill>
        <p:spPr bwMode="auto">
          <a:xfrm>
            <a:off x="-7938" y="0"/>
            <a:ext cx="12199937" cy="6858000"/>
          </a:xfrm>
          <a:prstGeom prst="rect">
            <a:avLst/>
          </a:prstGeom>
          <a:noFill/>
          <a:ln w="9525">
            <a:noFill/>
            <a:miter lim="800000"/>
            <a:headEnd/>
            <a:tailEnd/>
          </a:ln>
        </p:spPr>
      </p:pic>
      <p:sp>
        <p:nvSpPr>
          <p:cNvPr id="4"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
        <p:nvSpPr>
          <p:cNvPr id="3" name="KSO_CT2"/>
          <p:cNvSpPr>
            <a:spLocks noGrp="1"/>
          </p:cNvSpPr>
          <p:nvPr>
            <p:ph type="subTitle" idx="1" hasCustomPrompt="1"/>
          </p:nvPr>
        </p:nvSpPr>
        <p:spPr>
          <a:xfrm>
            <a:off x="5041900" y="3269977"/>
            <a:ext cx="6438900" cy="467211"/>
          </a:xfrm>
          <a:noFill/>
        </p:spPr>
        <p:txBody>
          <a:bodyPr>
            <a:noAutofit/>
          </a:bodyPr>
          <a:lstStyle>
            <a:lvl1pPr marL="0" indent="0" algn="ctr">
              <a:buNone/>
              <a:defRPr sz="2000" b="0">
                <a:solidFill>
                  <a:schemeClr val="tx1"/>
                </a:solidFill>
                <a:effectLst/>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单击此处添加您的副标题</a:t>
            </a:r>
          </a:p>
        </p:txBody>
      </p:sp>
      <p:sp>
        <p:nvSpPr>
          <p:cNvPr id="7" name="KSO_CT1"/>
          <p:cNvSpPr>
            <a:spLocks noGrp="1"/>
          </p:cNvSpPr>
          <p:nvPr>
            <p:ph type="title" hasCustomPrompt="1"/>
          </p:nvPr>
        </p:nvSpPr>
        <p:spPr>
          <a:xfrm>
            <a:off x="5041900" y="1809750"/>
            <a:ext cx="6438900" cy="1463405"/>
          </a:xfrm>
        </p:spPr>
        <p:txBody>
          <a:bodyPr>
            <a:noAutofit/>
          </a:bodyPr>
          <a:lstStyle>
            <a:lvl1pPr algn="ctr">
              <a:lnSpc>
                <a:spcPct val="100000"/>
              </a:lnSpc>
              <a:defRPr sz="3600" b="1" kern="1000" baseline="0">
                <a:solidFill>
                  <a:schemeClr val="accent1"/>
                </a:solidFill>
                <a:effectLst/>
                <a:latin typeface="+mj-ea"/>
                <a:ea typeface="+mj-ea"/>
              </a:defRPr>
            </a:lvl1pPr>
          </a:lstStyle>
          <a:p>
            <a:r>
              <a:rPr lang="zh-CN" altLang="en-US" dirty="0" smtClean="0"/>
              <a:t>单击此处添加您的标题文字</a:t>
            </a:r>
            <a:endParaRPr lang="zh-CN" altLang="en-US" dirty="0"/>
          </a:p>
        </p:txBody>
      </p:sp>
    </p:spTree>
    <p:extLst>
      <p:ext uri="{BB962C8B-B14F-4D97-AF65-F5344CB8AC3E}">
        <p14:creationId xmlns:p14="http://schemas.microsoft.com/office/powerpoint/2010/main" val="335443206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4967">
          <p15:clr>
            <a:srgbClr val="FBAE40"/>
          </p15:clr>
        </p15:guide>
        <p15:guide id="0" orient="horz" pos="2160">
          <p15:clr>
            <a:srgbClr val="FBAE40"/>
          </p15:clr>
        </p15:guide>
        <p15:guide id="2" pos="66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3200"/>
            </a:lvl1pPr>
          </a:lstStyle>
          <a:p>
            <a:r>
              <a:rPr lang="zh-CN" altLang="en-US" smtClean="0"/>
              <a:t>单击此处编辑母版标题样式</a:t>
            </a:r>
            <a:endParaRPr lang="en-US" dirty="0"/>
          </a:p>
        </p:txBody>
      </p:sp>
      <p:sp>
        <p:nvSpPr>
          <p:cNvPr id="3" name="KSO_BC1"/>
          <p:cNvSpPr>
            <a:spLocks noGrp="1"/>
          </p:cNvSpPr>
          <p:nvPr>
            <p:ph idx="1"/>
          </p:nvPr>
        </p:nvSpPr>
        <p:spPr/>
        <p:txBody>
          <a:bodyPr>
            <a:normAutofit/>
          </a:bodyPr>
          <a:lstStyle>
            <a:lvl1pPr>
              <a:defRPr sz="2400">
                <a:solidFill>
                  <a:schemeClr val="accent1"/>
                </a:solidFill>
              </a:defRPr>
            </a:lvl1pPr>
            <a:lvl2pPr>
              <a:defRPr sz="1800"/>
            </a:lvl2pPr>
          </a:lstStyle>
          <a:p>
            <a:pPr lvl="0"/>
            <a:r>
              <a:rPr lang="zh-CN" altLang="en-US" smtClean="0"/>
              <a:t>编辑母版文本样式</a:t>
            </a:r>
          </a:p>
          <a:p>
            <a:pPr lvl="1"/>
            <a:r>
              <a:rPr lang="zh-CN" altLang="en-US" smtClean="0"/>
              <a:t>第二级</a:t>
            </a:r>
          </a:p>
        </p:txBody>
      </p:sp>
      <p:sp>
        <p:nvSpPr>
          <p:cNvPr id="4"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2324052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6" y="2108202"/>
            <a:ext cx="7994651" cy="1235075"/>
          </a:xfrm>
        </p:spPr>
        <p:txBody>
          <a:bodyPr anchor="b">
            <a:normAutofit/>
          </a:bodyPr>
          <a:lstStyle>
            <a:lvl1pPr algn="ctr">
              <a:defRPr sz="2700">
                <a:solidFill>
                  <a:schemeClr val="tx2"/>
                </a:solidFill>
                <a:effectLst/>
              </a:defRPr>
            </a:lvl1pPr>
          </a:lstStyle>
          <a:p>
            <a:r>
              <a:rPr lang="zh-CN" altLang="en-US" dirty="0" smtClean="0"/>
              <a:t>此处添加您的标题</a:t>
            </a:r>
            <a:endParaRPr lang="en-US" dirty="0"/>
          </a:p>
        </p:txBody>
      </p:sp>
      <p:sp>
        <p:nvSpPr>
          <p:cNvPr id="3" name="KSO_ST2"/>
          <p:cNvSpPr>
            <a:spLocks noGrp="1"/>
          </p:cNvSpPr>
          <p:nvPr>
            <p:ph type="body" idx="1" hasCustomPrompt="1"/>
          </p:nvPr>
        </p:nvSpPr>
        <p:spPr>
          <a:xfrm>
            <a:off x="4050894" y="3400425"/>
            <a:ext cx="4090217" cy="357478"/>
          </a:xfrm>
          <a:prstGeom prst="roundRect">
            <a:avLst>
              <a:gd name="adj" fmla="val 50000"/>
            </a:avLst>
          </a:prstGeom>
          <a:solidFill>
            <a:schemeClr val="tx2">
              <a:lumMod val="40000"/>
              <a:lumOff val="60000"/>
            </a:schemeClr>
          </a:solidFill>
        </p:spPr>
        <p:txBody>
          <a:bodyPr anchor="ctr">
            <a:normAutofit/>
          </a:bodyPr>
          <a:lstStyle>
            <a:lvl1pPr marL="0" indent="0" algn="ctr">
              <a:buNone/>
              <a:defRPr sz="12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smtClean="0"/>
              <a:t>单击此处添加您的副标题</a:t>
            </a:r>
            <a:endParaRPr lang="en-US" altLang="zh-CN" dirty="0"/>
          </a:p>
        </p:txBody>
      </p:sp>
      <p:sp>
        <p:nvSpPr>
          <p:cNvPr id="4"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1386224456"/>
      </p:ext>
    </p:extLst>
  </p:cSld>
  <p:clrMapOvr>
    <a:masterClrMapping/>
  </p:clrMapOvr>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sz="half" idx="1"/>
          </p:nvPr>
        </p:nvSpPr>
        <p:spPr>
          <a:xfrm>
            <a:off x="1399823" y="1244603"/>
            <a:ext cx="5080000" cy="4932363"/>
          </a:xfrm>
        </p:spPr>
        <p:txBody>
          <a:bodyPr/>
          <a:lstStyle/>
          <a:p>
            <a:pPr lvl="0"/>
            <a:r>
              <a:rPr lang="zh-CN" altLang="en-US" smtClean="0"/>
              <a:t>编辑母版文本样式</a:t>
            </a:r>
          </a:p>
          <a:p>
            <a:pPr lvl="1"/>
            <a:r>
              <a:rPr lang="zh-CN" altLang="en-US" smtClean="0"/>
              <a:t>第二级</a:t>
            </a:r>
          </a:p>
        </p:txBody>
      </p:sp>
      <p:sp>
        <p:nvSpPr>
          <p:cNvPr id="4" name="KSO_BC2"/>
          <p:cNvSpPr>
            <a:spLocks noGrp="1"/>
          </p:cNvSpPr>
          <p:nvPr>
            <p:ph sz="half" idx="2"/>
          </p:nvPr>
        </p:nvSpPr>
        <p:spPr>
          <a:xfrm>
            <a:off x="6519334" y="1244603"/>
            <a:ext cx="5094116" cy="4932363"/>
          </a:xfrm>
        </p:spPr>
        <p:txBody>
          <a:bodyPr/>
          <a:lstStyle/>
          <a:p>
            <a:pPr lvl="0"/>
            <a:r>
              <a:rPr lang="zh-CN" altLang="en-US" smtClean="0"/>
              <a:t>编辑母版文本样式</a:t>
            </a:r>
          </a:p>
          <a:p>
            <a:pPr lvl="1"/>
            <a:r>
              <a:rPr lang="zh-CN" altLang="en-US" smtClean="0"/>
              <a:t>第二级</a:t>
            </a:r>
          </a:p>
        </p:txBody>
      </p:sp>
      <p:sp>
        <p:nvSpPr>
          <p:cNvPr id="5"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23793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9436" y="1376362"/>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KSO_BC1"/>
          <p:cNvSpPr>
            <a:spLocks noGrp="1"/>
          </p:cNvSpPr>
          <p:nvPr>
            <p:ph sz="half" idx="2"/>
          </p:nvPr>
        </p:nvSpPr>
        <p:spPr>
          <a:xfrm>
            <a:off x="1099436" y="2200274"/>
            <a:ext cx="5157787" cy="3684588"/>
          </a:xfrm>
        </p:spPr>
        <p:txBody>
          <a:bodyPr/>
          <a:lstStyle/>
          <a:p>
            <a:pPr lvl="0"/>
            <a:r>
              <a:rPr lang="zh-CN" altLang="en-US" smtClean="0"/>
              <a:t>编辑母版文本样式</a:t>
            </a:r>
          </a:p>
          <a:p>
            <a:pPr lvl="1"/>
            <a:r>
              <a:rPr lang="zh-CN" altLang="en-US" smtClean="0"/>
              <a:t>第二级</a:t>
            </a:r>
          </a:p>
        </p:txBody>
      </p:sp>
      <p:sp>
        <p:nvSpPr>
          <p:cNvPr id="5" name="Text Placeholder 4"/>
          <p:cNvSpPr>
            <a:spLocks noGrp="1"/>
          </p:cNvSpPr>
          <p:nvPr>
            <p:ph type="body" sz="quarter" idx="3"/>
          </p:nvPr>
        </p:nvSpPr>
        <p:spPr>
          <a:xfrm>
            <a:off x="6431847" y="1376362"/>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KSO_BC2"/>
          <p:cNvSpPr>
            <a:spLocks noGrp="1"/>
          </p:cNvSpPr>
          <p:nvPr>
            <p:ph sz="quarter" idx="4"/>
          </p:nvPr>
        </p:nvSpPr>
        <p:spPr>
          <a:xfrm>
            <a:off x="6431847" y="2200274"/>
            <a:ext cx="5183188" cy="3684588"/>
          </a:xfrm>
        </p:spPr>
        <p:txBody>
          <a:bodyPr/>
          <a:lstStyle/>
          <a:p>
            <a:pPr lvl="0"/>
            <a:r>
              <a:rPr lang="zh-CN" altLang="en-US" smtClean="0"/>
              <a:t>编辑母版文本样式</a:t>
            </a:r>
          </a:p>
          <a:p>
            <a:pPr lvl="1"/>
            <a:r>
              <a:rPr lang="zh-CN" altLang="en-US" smtClean="0"/>
              <a:t>第二级</a:t>
            </a:r>
          </a:p>
        </p:txBody>
      </p:sp>
      <p:sp>
        <p:nvSpPr>
          <p:cNvPr id="7"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4177042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3817265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888119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1" y="533402"/>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p:cNvSpPr>
          <p:nvPr>
            <p:ph idx="1"/>
          </p:nvPr>
        </p:nvSpPr>
        <p:spPr>
          <a:xfrm>
            <a:off x="5487989" y="1063631"/>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p:txBody>
      </p:sp>
      <p:sp>
        <p:nvSpPr>
          <p:cNvPr id="4" name="KSO_BC2"/>
          <p:cNvSpPr>
            <a:spLocks noGrp="1"/>
          </p:cNvSpPr>
          <p:nvPr>
            <p:ph type="body" sz="half" idx="2"/>
          </p:nvPr>
        </p:nvSpPr>
        <p:spPr>
          <a:xfrm>
            <a:off x="1144591" y="21336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785786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368272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p:txBody>
      </p:sp>
      <p:sp>
        <p:nvSpPr>
          <p:cNvPr id="4"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503143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1" y="365125"/>
            <a:ext cx="1182511" cy="5811838"/>
          </a:xfrm>
        </p:spPr>
        <p:txBody>
          <a:bodyPr vert="eaVert"/>
          <a:lstStyle/>
          <a:p>
            <a:r>
              <a:rPr lang="zh-CN" altLang="en-US" smtClean="0"/>
              <a:t>单击此处编辑母版标题样式</a:t>
            </a:r>
            <a:endParaRPr lang="en-US" dirty="0"/>
          </a:p>
        </p:txBody>
      </p:sp>
      <p:sp>
        <p:nvSpPr>
          <p:cNvPr id="3" name="KSO_BC1"/>
          <p:cNvSpPr>
            <a:spLocks noGrp="1"/>
          </p:cNvSpPr>
          <p:nvPr>
            <p:ph type="body" orient="vert" idx="1"/>
          </p:nvPr>
        </p:nvSpPr>
        <p:spPr>
          <a:xfrm>
            <a:off x="2113843" y="365125"/>
            <a:ext cx="7933269" cy="5811838"/>
          </a:xfrm>
        </p:spPr>
        <p:txBody>
          <a:bodyPr vert="eaVert"/>
          <a:lstStyle/>
          <a:p>
            <a:pPr lvl="0"/>
            <a:r>
              <a:rPr lang="zh-CN" altLang="en-US" smtClean="0"/>
              <a:t>编辑母版文本样式</a:t>
            </a:r>
          </a:p>
          <a:p>
            <a:pPr lvl="1"/>
            <a:r>
              <a:rPr lang="zh-CN" altLang="en-US" smtClean="0"/>
              <a:t>第二级</a:t>
            </a:r>
          </a:p>
        </p:txBody>
      </p:sp>
      <p:sp>
        <p:nvSpPr>
          <p:cNvPr id="4" name="KSO_FD"/>
          <p:cNvSpPr>
            <a:spLocks noGrp="1"/>
          </p:cNvSpPr>
          <p:nvPr>
            <p:ph type="dt" sz="half" idx="10"/>
          </p:nvPr>
        </p:nvSpPr>
        <p:spPr/>
        <p:txBody>
          <a:bodyPr/>
          <a:lstStyle/>
          <a:p>
            <a:fld id="{295DBBF9-1F32-425B-893C-75872CB152A4}" type="datetimeFigureOut">
              <a:rPr lang="zh-CN" altLang="en-US" smtClean="0"/>
              <a:t>2018/8/21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CAD95568-26D5-4A27-B995-9E91DB339A0B}" type="slidenum">
              <a:rPr lang="zh-CN" altLang="en-US" smtClean="0"/>
              <a:t>‹#›</a:t>
            </a:fld>
            <a:endParaRPr lang="zh-CN" altLang="en-US"/>
          </a:p>
        </p:txBody>
      </p:sp>
    </p:spTree>
    <p:extLst>
      <p:ext uri="{BB962C8B-B14F-4D97-AF65-F5344CB8AC3E}">
        <p14:creationId xmlns:p14="http://schemas.microsoft.com/office/powerpoint/2010/main" val="1067331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图片 1"/>
          <p:cNvPicPr>
            <a:picLocks noChangeAspect="1"/>
          </p:cNvPicPr>
          <p:nvPr/>
        </p:nvPicPr>
        <p:blipFill rotWithShape="1">
          <a:blip r:embed="rId13"/>
          <a:srcRect l="39557" t="18938" r="3132" b="45906"/>
          <a:stretch/>
        </p:blipFill>
        <p:spPr bwMode="auto">
          <a:xfrm>
            <a:off x="1587" y="0"/>
            <a:ext cx="12190413" cy="6858000"/>
          </a:xfrm>
          <a:prstGeom prst="rect">
            <a:avLst/>
          </a:prstGeom>
          <a:noFill/>
          <a:ln w="9525">
            <a:noFill/>
            <a:miter lim="800000"/>
            <a:headEnd/>
            <a:tailEnd/>
          </a:ln>
        </p:spPr>
      </p:pic>
      <p:sp>
        <p:nvSpPr>
          <p:cNvPr id="17" name="矩形 16"/>
          <p:cNvSpPr/>
          <p:nvPr/>
        </p:nvSpPr>
        <p:spPr>
          <a:xfrm>
            <a:off x="0" y="0"/>
            <a:ext cx="12192000" cy="6857999"/>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KSO_FD"/>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95DBBF9-1F32-425B-893C-75872CB152A4}" type="datetimeFigureOut">
              <a:rPr lang="zh-CN" altLang="en-US" smtClean="0"/>
              <a:t>2018/8/21</a:t>
            </a:fld>
            <a:endParaRPr lang="zh-CN" altLang="en-US"/>
          </a:p>
        </p:txBody>
      </p:sp>
      <p:sp>
        <p:nvSpPr>
          <p:cNvPr id="5" name="KSO_FT"/>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AD95568-26D5-4A27-B995-9E91DB339A0B}" type="slidenum">
              <a:rPr lang="zh-CN" altLang="en-US" smtClean="0"/>
              <a:t>‹#›</a:t>
            </a:fld>
            <a:endParaRPr lang="zh-CN" altLang="en-US"/>
          </a:p>
        </p:txBody>
      </p:sp>
      <p:sp>
        <p:nvSpPr>
          <p:cNvPr id="2" name="KSO_BT1"/>
          <p:cNvSpPr>
            <a:spLocks noGrp="1"/>
          </p:cNvSpPr>
          <p:nvPr>
            <p:ph type="title"/>
          </p:nvPr>
        </p:nvSpPr>
        <p:spPr>
          <a:xfrm>
            <a:off x="596901" y="276645"/>
            <a:ext cx="10954459" cy="7960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KSO_BC1"/>
          <p:cNvSpPr>
            <a:spLocks noGrp="1"/>
          </p:cNvSpPr>
          <p:nvPr>
            <p:ph type="body" idx="1"/>
          </p:nvPr>
        </p:nvSpPr>
        <p:spPr>
          <a:xfrm>
            <a:off x="596900" y="1200149"/>
            <a:ext cx="10954459" cy="510014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p:txBody>
      </p:sp>
    </p:spTree>
    <p:extLst>
      <p:ext uri="{BB962C8B-B14F-4D97-AF65-F5344CB8AC3E}">
        <p14:creationId xmlns:p14="http://schemas.microsoft.com/office/powerpoint/2010/main" val="41562648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1" i="0" kern="1200" baseline="0">
          <a:solidFill>
            <a:schemeClr val="accent1"/>
          </a:solidFill>
          <a:effectLst/>
          <a:latin typeface="+mj-ea"/>
          <a:ea typeface="+mj-ea"/>
          <a:cs typeface="+mj-cs"/>
        </a:defRPr>
      </a:lvl1pPr>
    </p:titleStyle>
    <p:bodyStyle>
      <a:lvl1pPr marL="361950" indent="-361950" algn="just" defTabSz="685800" rtl="0" eaLnBrk="1" latinLnBrk="0" hangingPunct="1">
        <a:lnSpc>
          <a:spcPct val="110000"/>
        </a:lnSpc>
        <a:spcBef>
          <a:spcPts val="1200"/>
        </a:spcBef>
        <a:spcAft>
          <a:spcPts val="0"/>
        </a:spcAft>
        <a:buClr>
          <a:schemeClr val="accent1"/>
        </a:buClr>
        <a:buSzPct val="50000"/>
        <a:buFont typeface="Wingdings" panose="05000000000000000000" pitchFamily="2" charset="2"/>
        <a:buChar char="u"/>
        <a:defRPr lang="zh-CN" altLang="en-US" sz="2400" kern="1200" baseline="0" dirty="0" smtClean="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29.png"/><Relationship Id="rId3" Type="http://schemas.openxmlformats.org/officeDocument/2006/relationships/image" Target="../media/image4.png"/><Relationship Id="rId21" Type="http://schemas.openxmlformats.org/officeDocument/2006/relationships/image" Target="../media/image32.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80.pn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0.png"/><Relationship Id="rId4" Type="http://schemas.openxmlformats.org/officeDocument/2006/relationships/image" Target="../media/image5.png"/><Relationship Id="rId9" Type="http://schemas.openxmlformats.org/officeDocument/2006/relationships/image" Target="../media/image21.png"/><Relationship Id="rId1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2" name="标题 1"/>
          <p:cNvSpPr>
            <a:spLocks noGrp="1"/>
          </p:cNvSpPr>
          <p:nvPr>
            <p:ph type="title"/>
          </p:nvPr>
        </p:nvSpPr>
        <p:spPr/>
        <p:txBody>
          <a:bodyPr/>
          <a:lstStyle/>
          <a:p>
            <a:r>
              <a:rPr lang="en-US" altLang="zh-CN" dirty="0" err="1" smtClean="0"/>
              <a:t>Folyed-Warshall</a:t>
            </a:r>
            <a:r>
              <a:rPr lang="zh-CN" altLang="en-US" dirty="0" smtClean="0"/>
              <a:t>算法演示</a:t>
            </a:r>
            <a:endParaRPr lang="zh-CN" altLang="en-US" dirty="0"/>
          </a:p>
        </p:txBody>
      </p:sp>
    </p:spTree>
    <p:extLst>
      <p:ext uri="{BB962C8B-B14F-4D97-AF65-F5344CB8AC3E}">
        <p14:creationId xmlns:p14="http://schemas.microsoft.com/office/powerpoint/2010/main" val="10286566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graphicFrame>
            <p:nvGraphicFramePr>
              <p:cNvPr id="20" name="内容占位符 19"/>
              <p:cNvGraphicFramePr>
                <a:graphicFrameLocks noGrp="1"/>
              </p:cNvGraphicFramePr>
              <p:nvPr>
                <p:ph idx="1"/>
                <p:extLst>
                  <p:ext uri="{D42A27DB-BD31-4B8C-83A1-F6EECF244321}">
                    <p14:modId xmlns:p14="http://schemas.microsoft.com/office/powerpoint/2010/main" val="3796839590"/>
                  </p:ext>
                </p:extLst>
              </p:nvPr>
            </p:nvGraphicFramePr>
            <p:xfrm>
              <a:off x="6752315" y="2355783"/>
              <a:ext cx="2907512" cy="1777304"/>
            </p:xfrm>
            <a:graphic>
              <a:graphicData uri="http://schemas.openxmlformats.org/drawingml/2006/table">
                <a:tbl>
                  <a:tblPr firstRow="1" bandRow="1">
                    <a:tableStyleId>{5C22544A-7EE6-4342-B048-85BDC9FD1C3A}</a:tableStyleId>
                  </a:tblPr>
                  <a:tblGrid>
                    <a:gridCol w="726878">
                      <a:extLst>
                        <a:ext uri="{9D8B030D-6E8A-4147-A177-3AD203B41FA5}">
                          <a16:colId xmlns:a16="http://schemas.microsoft.com/office/drawing/2014/main" val="3316701721"/>
                        </a:ext>
                      </a:extLst>
                    </a:gridCol>
                    <a:gridCol w="726878">
                      <a:extLst>
                        <a:ext uri="{9D8B030D-6E8A-4147-A177-3AD203B41FA5}">
                          <a16:colId xmlns:a16="http://schemas.microsoft.com/office/drawing/2014/main" val="1508005082"/>
                        </a:ext>
                      </a:extLst>
                    </a:gridCol>
                    <a:gridCol w="726878">
                      <a:extLst>
                        <a:ext uri="{9D8B030D-6E8A-4147-A177-3AD203B41FA5}">
                          <a16:colId xmlns:a16="http://schemas.microsoft.com/office/drawing/2014/main" val="3582206292"/>
                        </a:ext>
                      </a:extLst>
                    </a:gridCol>
                    <a:gridCol w="726878">
                      <a:extLst>
                        <a:ext uri="{9D8B030D-6E8A-4147-A177-3AD203B41FA5}">
                          <a16:colId xmlns:a16="http://schemas.microsoft.com/office/drawing/2014/main" val="3684165786"/>
                        </a:ext>
                      </a:extLst>
                    </a:gridCol>
                  </a:tblGrid>
                  <a:tr h="444326">
                    <a:tc>
                      <a:txBody>
                        <a:bodyPr/>
                        <a:lstStyle/>
                        <a:p>
                          <a:pPr algn="ctr"/>
                          <a:r>
                            <a:rPr lang="en-US" altLang="zh-CN" sz="1600" dirty="0" smtClean="0"/>
                            <a:t>V/V</a:t>
                          </a:r>
                          <a:endParaRPr lang="zh-CN" altLang="en-US" sz="1600" dirty="0"/>
                        </a:p>
                      </a:txBody>
                      <a:tcPr marL="108816" marR="108816" marT="54408" marB="54408"/>
                    </a:tc>
                    <a:tc>
                      <a:txBody>
                        <a:bodyPr/>
                        <a:lstStyle/>
                        <a:p>
                          <a:pPr algn="ctr"/>
                          <a:r>
                            <a:rPr lang="en-US" altLang="zh-CN" sz="1600" dirty="0" smtClean="0"/>
                            <a:t>V0</a:t>
                          </a:r>
                          <a:endParaRPr lang="zh-CN" altLang="en-US" sz="1600" dirty="0"/>
                        </a:p>
                      </a:txBody>
                      <a:tcPr marL="108816" marR="108816" marT="54408" marB="54408"/>
                    </a:tc>
                    <a:tc>
                      <a:txBody>
                        <a:bodyPr/>
                        <a:lstStyle/>
                        <a:p>
                          <a:pPr algn="ctr"/>
                          <a:r>
                            <a:rPr lang="en-US" altLang="zh-CN" sz="1600" dirty="0" smtClean="0"/>
                            <a:t>V1</a:t>
                          </a:r>
                          <a:endParaRPr lang="zh-CN" altLang="en-US" sz="1600" dirty="0"/>
                        </a:p>
                      </a:txBody>
                      <a:tcPr marL="108816" marR="108816" marT="54408" marB="54408"/>
                    </a:tc>
                    <a:tc>
                      <a:txBody>
                        <a:bodyPr/>
                        <a:lstStyle/>
                        <a:p>
                          <a:pPr algn="ctr"/>
                          <a:r>
                            <a:rPr lang="en-US" altLang="zh-CN" sz="1600" dirty="0" smtClean="0"/>
                            <a:t>V2</a:t>
                          </a:r>
                          <a:endParaRPr lang="zh-CN" altLang="en-US" sz="1600" dirty="0"/>
                        </a:p>
                      </a:txBody>
                      <a:tcPr marL="108816" marR="108816" marT="54408" marB="54408"/>
                    </a:tc>
                    <a:extLst>
                      <a:ext uri="{0D108BD9-81ED-4DB2-BD59-A6C34878D82A}">
                        <a16:rowId xmlns:a16="http://schemas.microsoft.com/office/drawing/2014/main" val="4187551544"/>
                      </a:ext>
                    </a:extLst>
                  </a:tr>
                  <a:tr h="444326">
                    <a:tc>
                      <a:txBody>
                        <a:bodyPr/>
                        <a:lstStyle/>
                        <a:p>
                          <a:pPr algn="ctr"/>
                          <a:r>
                            <a:rPr lang="en-US" altLang="zh-CN" sz="1600" dirty="0" smtClean="0"/>
                            <a:t>V0</a:t>
                          </a:r>
                          <a:endParaRPr lang="zh-CN" altLang="en-US" sz="1600" dirty="0"/>
                        </a:p>
                      </a:txBody>
                      <a:tcPr marL="108816" marR="108816" marT="54408" marB="54408"/>
                    </a:tc>
                    <a:tc>
                      <a:txBody>
                        <a:bodyPr/>
                        <a:lstStyle/>
                        <a:p>
                          <a:pPr algn="ctr"/>
                          <a:r>
                            <a:rPr lang="en-US" altLang="zh-CN" sz="1600" dirty="0" smtClean="0"/>
                            <a:t>0</a:t>
                          </a:r>
                          <a:endParaRPr lang="zh-CN" altLang="en-US" sz="1600" dirty="0"/>
                        </a:p>
                      </a:txBody>
                      <a:tcPr marL="108816" marR="108816" marT="54408" marB="54408"/>
                    </a:tc>
                    <a:tc>
                      <a:txBody>
                        <a:bodyPr/>
                        <a:lstStyle/>
                        <a:p>
                          <a:pPr algn="ctr"/>
                          <a:r>
                            <a:rPr lang="en-US" altLang="zh-CN" sz="1600" dirty="0" smtClean="0"/>
                            <a:t>1</a:t>
                          </a:r>
                          <a:endParaRPr lang="zh-CN" altLang="en-US" sz="1600" dirty="0"/>
                        </a:p>
                      </a:txBody>
                      <a:tcPr marL="108816" marR="108816" marT="54408" marB="54408"/>
                    </a:tc>
                    <a:tc>
                      <a:txBody>
                        <a:bodyPr/>
                        <a:lstStyle/>
                        <a:p>
                          <a:pPr algn="ctr"/>
                          <a:r>
                            <a:rPr lang="en-US" altLang="zh-CN" sz="1600" dirty="0" smtClean="0"/>
                            <a:t>5</a:t>
                          </a:r>
                          <a:endParaRPr lang="zh-CN" altLang="en-US" sz="1600" dirty="0"/>
                        </a:p>
                      </a:txBody>
                      <a:tcPr marL="108816" marR="108816" marT="54408" marB="54408"/>
                    </a:tc>
                    <a:extLst>
                      <a:ext uri="{0D108BD9-81ED-4DB2-BD59-A6C34878D82A}">
                        <a16:rowId xmlns:a16="http://schemas.microsoft.com/office/drawing/2014/main" val="2111861693"/>
                      </a:ext>
                    </a:extLst>
                  </a:tr>
                  <a:tr h="444326">
                    <a:tc>
                      <a:txBody>
                        <a:bodyPr/>
                        <a:lstStyle/>
                        <a:p>
                          <a:pPr algn="ctr"/>
                          <a:r>
                            <a:rPr lang="en-US" altLang="zh-CN" sz="1600" dirty="0" smtClean="0"/>
                            <a:t>V1</a:t>
                          </a:r>
                          <a:endParaRPr lang="zh-CN" altLang="en-US" sz="1600" dirty="0"/>
                        </a:p>
                      </a:txBody>
                      <a:tcPr marL="108816" marR="108816" marT="54408" marB="54408"/>
                    </a:tc>
                    <a:tc>
                      <a:txBody>
                        <a:bodyPr/>
                        <a:lstStyle/>
                        <a:p>
                          <a:pPr algn="ct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m:t>
                                </m:r>
                              </m:oMath>
                            </m:oMathPara>
                          </a14:m>
                          <a:endParaRPr lang="zh-CN" altLang="en-US" sz="1600" dirty="0"/>
                        </a:p>
                      </a:txBody>
                      <a:tcPr marL="108816" marR="108816" marT="54408" marB="54408"/>
                    </a:tc>
                    <a:tc>
                      <a:txBody>
                        <a:bodyPr/>
                        <a:lstStyle/>
                        <a:p>
                          <a:pPr algn="ctr"/>
                          <a:r>
                            <a:rPr lang="en-US" altLang="zh-CN" sz="1600" dirty="0" smtClean="0"/>
                            <a:t>0</a:t>
                          </a:r>
                          <a:endParaRPr lang="zh-CN" altLang="en-US" sz="1600" dirty="0"/>
                        </a:p>
                      </a:txBody>
                      <a:tcPr marL="108816" marR="108816" marT="54408" marB="54408"/>
                    </a:tc>
                    <a:tc>
                      <a:txBody>
                        <a:bodyPr/>
                        <a:lstStyle/>
                        <a:p>
                          <a:pPr algn="ctr"/>
                          <a:r>
                            <a:rPr lang="en-US" altLang="zh-CN" sz="1600" dirty="0" smtClean="0"/>
                            <a:t>3</a:t>
                          </a:r>
                          <a:endParaRPr lang="zh-CN" altLang="en-US" sz="1600" dirty="0"/>
                        </a:p>
                      </a:txBody>
                      <a:tcPr marL="108816" marR="108816" marT="54408" marB="54408"/>
                    </a:tc>
                    <a:extLst>
                      <a:ext uri="{0D108BD9-81ED-4DB2-BD59-A6C34878D82A}">
                        <a16:rowId xmlns:a16="http://schemas.microsoft.com/office/drawing/2014/main" val="540980135"/>
                      </a:ext>
                    </a:extLst>
                  </a:tr>
                  <a:tr h="444326">
                    <a:tc>
                      <a:txBody>
                        <a:bodyPr/>
                        <a:lstStyle/>
                        <a:p>
                          <a:pPr algn="ctr"/>
                          <a:r>
                            <a:rPr lang="en-US" altLang="zh-CN" sz="1600" dirty="0" smtClean="0"/>
                            <a:t>V2</a:t>
                          </a:r>
                          <a:endParaRPr lang="zh-CN" altLang="en-US" sz="1600" dirty="0"/>
                        </a:p>
                      </a:txBody>
                      <a:tcPr marL="108816" marR="108816" marT="54408" marB="54408"/>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m:t>
                                </m:r>
                              </m:oMath>
                            </m:oMathPara>
                          </a14:m>
                          <a:endParaRPr lang="zh-CN" altLang="en-US" sz="1600" dirty="0"/>
                        </a:p>
                      </a:txBody>
                      <a:tcPr marL="108816" marR="108816" marT="54408" marB="54408"/>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m:t>
                                </m:r>
                              </m:oMath>
                            </m:oMathPara>
                          </a14:m>
                          <a:endParaRPr lang="zh-CN" altLang="en-US" sz="1600" dirty="0"/>
                        </a:p>
                      </a:txBody>
                      <a:tcPr marL="108816" marR="108816" marT="54408" marB="54408"/>
                    </a:tc>
                    <a:tc>
                      <a:txBody>
                        <a:bodyPr/>
                        <a:lstStyle/>
                        <a:p>
                          <a:pPr algn="ctr"/>
                          <a:r>
                            <a:rPr lang="en-US" altLang="zh-CN" sz="1600" dirty="0" smtClean="0"/>
                            <a:t>0</a:t>
                          </a:r>
                          <a:endParaRPr lang="zh-CN" altLang="en-US" sz="1600" dirty="0"/>
                        </a:p>
                      </a:txBody>
                      <a:tcPr marL="108816" marR="108816" marT="54408" marB="54408"/>
                    </a:tc>
                    <a:extLst>
                      <a:ext uri="{0D108BD9-81ED-4DB2-BD59-A6C34878D82A}">
                        <a16:rowId xmlns:a16="http://schemas.microsoft.com/office/drawing/2014/main" val="272832563"/>
                      </a:ext>
                    </a:extLst>
                  </a:tr>
                </a:tbl>
              </a:graphicData>
            </a:graphic>
          </p:graphicFrame>
        </mc:Choice>
        <mc:Fallback xmlns="">
          <p:graphicFrame>
            <p:nvGraphicFramePr>
              <p:cNvPr id="20" name="内容占位符 19"/>
              <p:cNvGraphicFramePr>
                <a:graphicFrameLocks noGrp="1"/>
              </p:cNvGraphicFramePr>
              <p:nvPr>
                <p:ph idx="1"/>
                <p:extLst>
                  <p:ext uri="{D42A27DB-BD31-4B8C-83A1-F6EECF244321}">
                    <p14:modId xmlns:p14="http://schemas.microsoft.com/office/powerpoint/2010/main" val="3796839590"/>
                  </p:ext>
                </p:extLst>
              </p:nvPr>
            </p:nvGraphicFramePr>
            <p:xfrm>
              <a:off x="6752315" y="2355783"/>
              <a:ext cx="2907512" cy="1777304"/>
            </p:xfrm>
            <a:graphic>
              <a:graphicData uri="http://schemas.openxmlformats.org/drawingml/2006/table">
                <a:tbl>
                  <a:tblPr firstRow="1" bandRow="1">
                    <a:tableStyleId>{5C22544A-7EE6-4342-B048-85BDC9FD1C3A}</a:tableStyleId>
                  </a:tblPr>
                  <a:tblGrid>
                    <a:gridCol w="726878">
                      <a:extLst>
                        <a:ext uri="{9D8B030D-6E8A-4147-A177-3AD203B41FA5}">
                          <a16:colId xmlns:a16="http://schemas.microsoft.com/office/drawing/2014/main" val="3316701721"/>
                        </a:ext>
                      </a:extLst>
                    </a:gridCol>
                    <a:gridCol w="726878">
                      <a:extLst>
                        <a:ext uri="{9D8B030D-6E8A-4147-A177-3AD203B41FA5}">
                          <a16:colId xmlns:a16="http://schemas.microsoft.com/office/drawing/2014/main" val="1508005082"/>
                        </a:ext>
                      </a:extLst>
                    </a:gridCol>
                    <a:gridCol w="726878">
                      <a:extLst>
                        <a:ext uri="{9D8B030D-6E8A-4147-A177-3AD203B41FA5}">
                          <a16:colId xmlns:a16="http://schemas.microsoft.com/office/drawing/2014/main" val="3582206292"/>
                        </a:ext>
                      </a:extLst>
                    </a:gridCol>
                    <a:gridCol w="726878">
                      <a:extLst>
                        <a:ext uri="{9D8B030D-6E8A-4147-A177-3AD203B41FA5}">
                          <a16:colId xmlns:a16="http://schemas.microsoft.com/office/drawing/2014/main" val="3684165786"/>
                        </a:ext>
                      </a:extLst>
                    </a:gridCol>
                  </a:tblGrid>
                  <a:tr h="444326">
                    <a:tc>
                      <a:txBody>
                        <a:bodyPr/>
                        <a:lstStyle/>
                        <a:p>
                          <a:pPr algn="ctr"/>
                          <a:r>
                            <a:rPr lang="en-US" altLang="zh-CN" sz="1600" dirty="0" smtClean="0"/>
                            <a:t>V/V</a:t>
                          </a:r>
                          <a:endParaRPr lang="zh-CN" altLang="en-US" sz="1600" dirty="0"/>
                        </a:p>
                      </a:txBody>
                      <a:tcPr marL="108816" marR="108816" marT="54408" marB="54408"/>
                    </a:tc>
                    <a:tc>
                      <a:txBody>
                        <a:bodyPr/>
                        <a:lstStyle/>
                        <a:p>
                          <a:pPr algn="ctr"/>
                          <a:r>
                            <a:rPr lang="en-US" altLang="zh-CN" sz="1600" dirty="0" smtClean="0"/>
                            <a:t>V0</a:t>
                          </a:r>
                          <a:endParaRPr lang="zh-CN" altLang="en-US" sz="1600" dirty="0"/>
                        </a:p>
                      </a:txBody>
                      <a:tcPr marL="108816" marR="108816" marT="54408" marB="54408"/>
                    </a:tc>
                    <a:tc>
                      <a:txBody>
                        <a:bodyPr/>
                        <a:lstStyle/>
                        <a:p>
                          <a:pPr algn="ctr"/>
                          <a:r>
                            <a:rPr lang="en-US" altLang="zh-CN" sz="1600" dirty="0" smtClean="0"/>
                            <a:t>V1</a:t>
                          </a:r>
                          <a:endParaRPr lang="zh-CN" altLang="en-US" sz="1600" dirty="0"/>
                        </a:p>
                      </a:txBody>
                      <a:tcPr marL="108816" marR="108816" marT="54408" marB="54408"/>
                    </a:tc>
                    <a:tc>
                      <a:txBody>
                        <a:bodyPr/>
                        <a:lstStyle/>
                        <a:p>
                          <a:pPr algn="ctr"/>
                          <a:r>
                            <a:rPr lang="en-US" altLang="zh-CN" sz="1600" dirty="0" smtClean="0"/>
                            <a:t>V2</a:t>
                          </a:r>
                          <a:endParaRPr lang="zh-CN" altLang="en-US" sz="1600" dirty="0"/>
                        </a:p>
                      </a:txBody>
                      <a:tcPr marL="108816" marR="108816" marT="54408" marB="54408"/>
                    </a:tc>
                    <a:extLst>
                      <a:ext uri="{0D108BD9-81ED-4DB2-BD59-A6C34878D82A}">
                        <a16:rowId xmlns:a16="http://schemas.microsoft.com/office/drawing/2014/main" val="4187551544"/>
                      </a:ext>
                    </a:extLst>
                  </a:tr>
                  <a:tr h="444326">
                    <a:tc>
                      <a:txBody>
                        <a:bodyPr/>
                        <a:lstStyle/>
                        <a:p>
                          <a:pPr algn="ctr"/>
                          <a:r>
                            <a:rPr lang="en-US" altLang="zh-CN" sz="1600" dirty="0" smtClean="0"/>
                            <a:t>V0</a:t>
                          </a:r>
                          <a:endParaRPr lang="zh-CN" altLang="en-US" sz="1600" dirty="0"/>
                        </a:p>
                      </a:txBody>
                      <a:tcPr marL="108816" marR="108816" marT="54408" marB="54408"/>
                    </a:tc>
                    <a:tc>
                      <a:txBody>
                        <a:bodyPr/>
                        <a:lstStyle/>
                        <a:p>
                          <a:pPr algn="ctr"/>
                          <a:r>
                            <a:rPr lang="en-US" altLang="zh-CN" sz="1600" dirty="0" smtClean="0"/>
                            <a:t>0</a:t>
                          </a:r>
                          <a:endParaRPr lang="zh-CN" altLang="en-US" sz="1600" dirty="0"/>
                        </a:p>
                      </a:txBody>
                      <a:tcPr marL="108816" marR="108816" marT="54408" marB="54408"/>
                    </a:tc>
                    <a:tc>
                      <a:txBody>
                        <a:bodyPr/>
                        <a:lstStyle/>
                        <a:p>
                          <a:pPr algn="ctr"/>
                          <a:r>
                            <a:rPr lang="en-US" altLang="zh-CN" sz="1600" dirty="0" smtClean="0"/>
                            <a:t>1</a:t>
                          </a:r>
                          <a:endParaRPr lang="zh-CN" altLang="en-US" sz="1600" dirty="0"/>
                        </a:p>
                      </a:txBody>
                      <a:tcPr marL="108816" marR="108816" marT="54408" marB="54408"/>
                    </a:tc>
                    <a:tc>
                      <a:txBody>
                        <a:bodyPr/>
                        <a:lstStyle/>
                        <a:p>
                          <a:pPr algn="ctr"/>
                          <a:r>
                            <a:rPr lang="en-US" altLang="zh-CN" sz="1600" dirty="0" smtClean="0"/>
                            <a:t>5</a:t>
                          </a:r>
                          <a:endParaRPr lang="zh-CN" altLang="en-US" sz="1600" dirty="0"/>
                        </a:p>
                      </a:txBody>
                      <a:tcPr marL="108816" marR="108816" marT="54408" marB="54408"/>
                    </a:tc>
                    <a:extLst>
                      <a:ext uri="{0D108BD9-81ED-4DB2-BD59-A6C34878D82A}">
                        <a16:rowId xmlns:a16="http://schemas.microsoft.com/office/drawing/2014/main" val="2111861693"/>
                      </a:ext>
                    </a:extLst>
                  </a:tr>
                  <a:tr h="444326">
                    <a:tc>
                      <a:txBody>
                        <a:bodyPr/>
                        <a:lstStyle/>
                        <a:p>
                          <a:pPr algn="ctr"/>
                          <a:r>
                            <a:rPr lang="en-US" altLang="zh-CN" sz="1600" dirty="0" smtClean="0"/>
                            <a:t>V1</a:t>
                          </a:r>
                          <a:endParaRPr lang="zh-CN" altLang="en-US" sz="1600" dirty="0"/>
                        </a:p>
                      </a:txBody>
                      <a:tcPr marL="108816" marR="108816" marT="54408" marB="54408"/>
                    </a:tc>
                    <a:tc>
                      <a:txBody>
                        <a:bodyPr/>
                        <a:lstStyle/>
                        <a:p>
                          <a:endParaRPr lang="zh-CN"/>
                        </a:p>
                      </a:txBody>
                      <a:tcPr marL="108816" marR="108816" marT="54408" marB="54408">
                        <a:blipFill>
                          <a:blip r:embed="rId2"/>
                          <a:stretch>
                            <a:fillRect l="-101681" t="-201370" r="-204202" b="-104110"/>
                          </a:stretch>
                        </a:blipFill>
                      </a:tcPr>
                    </a:tc>
                    <a:tc>
                      <a:txBody>
                        <a:bodyPr/>
                        <a:lstStyle/>
                        <a:p>
                          <a:pPr algn="ctr"/>
                          <a:r>
                            <a:rPr lang="en-US" altLang="zh-CN" sz="1600" dirty="0" smtClean="0"/>
                            <a:t>0</a:t>
                          </a:r>
                          <a:endParaRPr lang="zh-CN" altLang="en-US" sz="1600" dirty="0"/>
                        </a:p>
                      </a:txBody>
                      <a:tcPr marL="108816" marR="108816" marT="54408" marB="54408"/>
                    </a:tc>
                    <a:tc>
                      <a:txBody>
                        <a:bodyPr/>
                        <a:lstStyle/>
                        <a:p>
                          <a:pPr algn="ctr"/>
                          <a:r>
                            <a:rPr lang="en-US" altLang="zh-CN" sz="1600" dirty="0" smtClean="0"/>
                            <a:t>3</a:t>
                          </a:r>
                          <a:endParaRPr lang="zh-CN" altLang="en-US" sz="1600" dirty="0"/>
                        </a:p>
                      </a:txBody>
                      <a:tcPr marL="108816" marR="108816" marT="54408" marB="54408"/>
                    </a:tc>
                    <a:extLst>
                      <a:ext uri="{0D108BD9-81ED-4DB2-BD59-A6C34878D82A}">
                        <a16:rowId xmlns:a16="http://schemas.microsoft.com/office/drawing/2014/main" val="540980135"/>
                      </a:ext>
                    </a:extLst>
                  </a:tr>
                  <a:tr h="444326">
                    <a:tc>
                      <a:txBody>
                        <a:bodyPr/>
                        <a:lstStyle/>
                        <a:p>
                          <a:pPr algn="ctr"/>
                          <a:r>
                            <a:rPr lang="en-US" altLang="zh-CN" sz="1600" dirty="0" smtClean="0"/>
                            <a:t>V2</a:t>
                          </a:r>
                          <a:endParaRPr lang="zh-CN" altLang="en-US" sz="1600" dirty="0"/>
                        </a:p>
                      </a:txBody>
                      <a:tcPr marL="108816" marR="108816" marT="54408" marB="54408"/>
                    </a:tc>
                    <a:tc>
                      <a:txBody>
                        <a:bodyPr/>
                        <a:lstStyle/>
                        <a:p>
                          <a:endParaRPr lang="zh-CN"/>
                        </a:p>
                      </a:txBody>
                      <a:tcPr marL="108816" marR="108816" marT="54408" marB="54408">
                        <a:blipFill>
                          <a:blip r:embed="rId2"/>
                          <a:stretch>
                            <a:fillRect l="-101681" t="-301370" r="-204202" b="-4110"/>
                          </a:stretch>
                        </a:blipFill>
                      </a:tcPr>
                    </a:tc>
                    <a:tc>
                      <a:txBody>
                        <a:bodyPr/>
                        <a:lstStyle/>
                        <a:p>
                          <a:endParaRPr lang="zh-CN"/>
                        </a:p>
                      </a:txBody>
                      <a:tcPr marL="108816" marR="108816" marT="54408" marB="54408">
                        <a:blipFill>
                          <a:blip r:embed="rId2"/>
                          <a:stretch>
                            <a:fillRect l="-200000" t="-301370" r="-102500" b="-4110"/>
                          </a:stretch>
                        </a:blipFill>
                      </a:tcPr>
                    </a:tc>
                    <a:tc>
                      <a:txBody>
                        <a:bodyPr/>
                        <a:lstStyle/>
                        <a:p>
                          <a:pPr algn="ctr"/>
                          <a:r>
                            <a:rPr lang="en-US" altLang="zh-CN" sz="1600" dirty="0" smtClean="0"/>
                            <a:t>0</a:t>
                          </a:r>
                          <a:endParaRPr lang="zh-CN" altLang="en-US" sz="1600" dirty="0"/>
                        </a:p>
                      </a:txBody>
                      <a:tcPr marL="108816" marR="108816" marT="54408" marB="54408"/>
                    </a:tc>
                    <a:extLst>
                      <a:ext uri="{0D108BD9-81ED-4DB2-BD59-A6C34878D82A}">
                        <a16:rowId xmlns:a16="http://schemas.microsoft.com/office/drawing/2014/main" val="272832563"/>
                      </a:ext>
                    </a:extLst>
                  </a:tr>
                </a:tbl>
              </a:graphicData>
            </a:graphic>
          </p:graphicFrame>
        </mc:Fallback>
      </mc:AlternateContent>
      <p:grpSp>
        <p:nvGrpSpPr>
          <p:cNvPr id="18" name="组合 17"/>
          <p:cNvGrpSpPr/>
          <p:nvPr/>
        </p:nvGrpSpPr>
        <p:grpSpPr>
          <a:xfrm>
            <a:off x="781631" y="1880817"/>
            <a:ext cx="3554338" cy="2160831"/>
            <a:chOff x="3325368" y="1682496"/>
            <a:chExt cx="4322064" cy="2627564"/>
          </a:xfrm>
        </p:grpSpPr>
        <p:sp>
          <p:nvSpPr>
            <p:cNvPr id="4" name="椭圆 3"/>
            <p:cNvSpPr/>
            <p:nvPr/>
          </p:nvSpPr>
          <p:spPr>
            <a:xfrm>
              <a:off x="5221224" y="1682496"/>
              <a:ext cx="676656" cy="67665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V1</a:t>
              </a:r>
              <a:endParaRPr lang="zh-CN" altLang="en-US" dirty="0"/>
            </a:p>
          </p:txBody>
        </p:sp>
        <p:sp>
          <p:nvSpPr>
            <p:cNvPr id="5" name="椭圆 4"/>
            <p:cNvSpPr/>
            <p:nvPr/>
          </p:nvSpPr>
          <p:spPr>
            <a:xfrm>
              <a:off x="3325368" y="3617976"/>
              <a:ext cx="676656" cy="67665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V0</a:t>
              </a:r>
              <a:endParaRPr lang="zh-CN" altLang="en-US" dirty="0"/>
            </a:p>
          </p:txBody>
        </p:sp>
        <p:sp>
          <p:nvSpPr>
            <p:cNvPr id="6" name="椭圆 5"/>
            <p:cNvSpPr/>
            <p:nvPr/>
          </p:nvSpPr>
          <p:spPr>
            <a:xfrm>
              <a:off x="6970776" y="3617976"/>
              <a:ext cx="676656" cy="67665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V2</a:t>
              </a:r>
              <a:endParaRPr lang="zh-CN" altLang="en-US" dirty="0"/>
            </a:p>
          </p:txBody>
        </p:sp>
        <p:cxnSp>
          <p:nvCxnSpPr>
            <p:cNvPr id="8" name="直接箭头连接符 7"/>
            <p:cNvCxnSpPr>
              <a:endCxn id="4" idx="3"/>
            </p:cNvCxnSpPr>
            <p:nvPr/>
          </p:nvCxnSpPr>
          <p:spPr>
            <a:xfrm flipV="1">
              <a:off x="3931920" y="2260058"/>
              <a:ext cx="1388398" cy="1452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endCxn id="6" idx="0"/>
            </p:cNvCxnSpPr>
            <p:nvPr/>
          </p:nvCxnSpPr>
          <p:spPr>
            <a:xfrm>
              <a:off x="5897880" y="2029968"/>
              <a:ext cx="1411224" cy="1588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6" idx="2"/>
            </p:cNvCxnSpPr>
            <p:nvPr/>
          </p:nvCxnSpPr>
          <p:spPr>
            <a:xfrm>
              <a:off x="4032504" y="3956304"/>
              <a:ext cx="2938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a:xfrm>
              <a:off x="4215384" y="2752344"/>
              <a:ext cx="410735" cy="233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6" name="圆角矩形 15"/>
            <p:cNvSpPr/>
            <p:nvPr/>
          </p:nvSpPr>
          <p:spPr>
            <a:xfrm>
              <a:off x="6899114" y="2752344"/>
              <a:ext cx="410735" cy="233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7" name="圆角矩形 16"/>
            <p:cNvSpPr/>
            <p:nvPr/>
          </p:nvSpPr>
          <p:spPr>
            <a:xfrm>
              <a:off x="5320318" y="4076143"/>
              <a:ext cx="410735" cy="233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grpSp>
      <p:sp>
        <p:nvSpPr>
          <p:cNvPr id="21" name="文本框 20"/>
          <p:cNvSpPr txBox="1"/>
          <p:nvPr/>
        </p:nvSpPr>
        <p:spPr>
          <a:xfrm>
            <a:off x="2265218" y="4727147"/>
            <a:ext cx="6875600" cy="372410"/>
          </a:xfrm>
          <a:prstGeom prst="rect">
            <a:avLst/>
          </a:prstGeom>
          <a:noFill/>
        </p:spPr>
        <p:txBody>
          <a:bodyPr wrap="none" rtlCol="0">
            <a:spAutoFit/>
          </a:bodyPr>
          <a:lstStyle/>
          <a:p>
            <a:pPr>
              <a:lnSpc>
                <a:spcPct val="130000"/>
              </a:lnSpc>
            </a:pPr>
            <a:r>
              <a:rPr lang="zh-CN" altLang="en-US" sz="1400" dirty="0" smtClean="0">
                <a:latin typeface="Arial" panose="020B0604020202020204" pitchFamily="34" charset="0"/>
                <a:ea typeface="微软雅黑" panose="020B0503020204020204" pitchFamily="34" charset="-122"/>
              </a:rPr>
              <a:t>两地之间先考虑直接连接距离，再考虑中间通过中转站的距离，选择</a:t>
            </a:r>
            <a:r>
              <a:rPr lang="en-US" altLang="zh-CN" sz="1400" dirty="0" smtClean="0">
                <a:latin typeface="Arial" panose="020B0604020202020204" pitchFamily="34" charset="0"/>
                <a:ea typeface="微软雅黑" panose="020B0503020204020204" pitchFamily="34" charset="-122"/>
              </a:rPr>
              <a:t>min{</a:t>
            </a:r>
            <a:r>
              <a:rPr lang="zh-CN" altLang="en-US" sz="1400" dirty="0" smtClean="0">
                <a:latin typeface="Arial" panose="020B0604020202020204" pitchFamily="34" charset="0"/>
                <a:ea typeface="微软雅黑" panose="020B0503020204020204" pitchFamily="34" charset="-122"/>
              </a:rPr>
              <a:t>直接，中转</a:t>
            </a:r>
            <a:r>
              <a:rPr lang="en-US" altLang="zh-CN" sz="1400" dirty="0" smtClean="0">
                <a:latin typeface="Arial" panose="020B0604020202020204" pitchFamily="34" charset="0"/>
                <a:ea typeface="微软雅黑" panose="020B0503020204020204" pitchFamily="34" charset="-122"/>
              </a:rPr>
              <a:t>}</a:t>
            </a:r>
            <a:endParaRPr lang="zh-CN" altLang="en-US" sz="1400" dirty="0" smtClean="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5227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grpSp>
        <p:nvGrpSpPr>
          <p:cNvPr id="37" name="组合 36"/>
          <p:cNvGrpSpPr/>
          <p:nvPr/>
        </p:nvGrpSpPr>
        <p:grpSpPr>
          <a:xfrm>
            <a:off x="1042538" y="1870362"/>
            <a:ext cx="3055332" cy="2919847"/>
            <a:chOff x="2029674" y="1361208"/>
            <a:chExt cx="3671472" cy="3508665"/>
          </a:xfrm>
        </p:grpSpPr>
        <p:sp>
          <p:nvSpPr>
            <p:cNvPr id="4" name="椭圆 3"/>
            <p:cNvSpPr/>
            <p:nvPr/>
          </p:nvSpPr>
          <p:spPr>
            <a:xfrm>
              <a:off x="2202873"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5" name="椭圆 4"/>
            <p:cNvSpPr/>
            <p:nvPr/>
          </p:nvSpPr>
          <p:spPr>
            <a:xfrm>
              <a:off x="5015346"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6" name="椭圆 5"/>
            <p:cNvSpPr/>
            <p:nvPr/>
          </p:nvSpPr>
          <p:spPr>
            <a:xfrm>
              <a:off x="2202873"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7" name="椭圆 6"/>
            <p:cNvSpPr/>
            <p:nvPr/>
          </p:nvSpPr>
          <p:spPr>
            <a:xfrm>
              <a:off x="5015346"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9" name="曲线连接符 8"/>
            <p:cNvCxnSpPr>
              <a:stCxn id="4" idx="4"/>
              <a:endCxn id="5" idx="4"/>
            </p:cNvCxnSpPr>
            <p:nvPr/>
          </p:nvCxnSpPr>
          <p:spPr>
            <a:xfrm rot="16200000" flipH="1">
              <a:off x="3952009" y="9836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曲线连接符 17"/>
            <p:cNvCxnSpPr>
              <a:stCxn id="5" idx="0"/>
              <a:endCxn id="4" idx="0"/>
            </p:cNvCxnSpPr>
            <p:nvPr/>
          </p:nvCxnSpPr>
          <p:spPr>
            <a:xfrm rot="16200000" flipV="1">
              <a:off x="3952010" y="2978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曲线连接符 20"/>
            <p:cNvCxnSpPr/>
            <p:nvPr/>
          </p:nvCxnSpPr>
          <p:spPr>
            <a:xfrm rot="5400000">
              <a:off x="962891" y="3286991"/>
              <a:ext cx="24799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22"/>
            <p:cNvCxnSpPr>
              <a:stCxn id="6" idx="7"/>
              <a:endCxn id="4" idx="5"/>
            </p:cNvCxnSpPr>
            <p:nvPr/>
          </p:nvCxnSpPr>
          <p:spPr>
            <a:xfrm rot="5400000" flipH="1" flipV="1">
              <a:off x="1790725" y="3286991"/>
              <a:ext cx="199503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曲线连接符 24"/>
            <p:cNvCxnSpPr>
              <a:stCxn id="7" idx="2"/>
            </p:cNvCxnSpPr>
            <p:nvPr/>
          </p:nvCxnSpPr>
          <p:spPr>
            <a:xfrm rot="10800000" flipV="1">
              <a:off x="2895024" y="4526973"/>
              <a:ext cx="2120323" cy="63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曲线连接符 26"/>
            <p:cNvCxnSpPr>
              <a:stCxn id="7" idx="1"/>
              <a:endCxn id="4" idx="6"/>
            </p:cNvCxnSpPr>
            <p:nvPr/>
          </p:nvCxnSpPr>
          <p:spPr>
            <a:xfrm rot="16200000" flipV="1">
              <a:off x="2883478" y="2052205"/>
              <a:ext cx="2237497" cy="22271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曲线连接符 28"/>
            <p:cNvCxnSpPr>
              <a:stCxn id="5" idx="4"/>
              <a:endCxn id="7" idx="0"/>
            </p:cNvCxnSpPr>
            <p:nvPr/>
          </p:nvCxnSpPr>
          <p:spPr>
            <a:xfrm rot="5400000">
              <a:off x="4461164" y="3286991"/>
              <a:ext cx="17941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圆角矩形 29"/>
            <p:cNvSpPr/>
            <p:nvPr/>
          </p:nvSpPr>
          <p:spPr>
            <a:xfrm>
              <a:off x="2029674" y="3148702"/>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31" name="圆角矩形 30"/>
            <p:cNvSpPr/>
            <p:nvPr/>
          </p:nvSpPr>
          <p:spPr>
            <a:xfrm>
              <a:off x="4375457" y="136120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32" name="圆角矩形 31"/>
            <p:cNvSpPr/>
            <p:nvPr/>
          </p:nvSpPr>
          <p:spPr>
            <a:xfrm>
              <a:off x="4662660" y="315476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33" name="圆角矩形 32"/>
            <p:cNvSpPr/>
            <p:nvPr/>
          </p:nvSpPr>
          <p:spPr>
            <a:xfrm>
              <a:off x="5265296" y="291721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34" name="圆角矩形 33"/>
            <p:cNvSpPr/>
            <p:nvPr/>
          </p:nvSpPr>
          <p:spPr>
            <a:xfrm>
              <a:off x="3658459" y="2502393"/>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35" name="圆角矩形 34"/>
            <p:cNvSpPr/>
            <p:nvPr/>
          </p:nvSpPr>
          <p:spPr>
            <a:xfrm>
              <a:off x="3859059" y="4412000"/>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36" name="圆角矩形 35"/>
            <p:cNvSpPr/>
            <p:nvPr/>
          </p:nvSpPr>
          <p:spPr>
            <a:xfrm>
              <a:off x="2652557" y="3215691"/>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p:pic>
        <p:nvPicPr>
          <p:cNvPr id="42" name="内容占位符 4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03654" y="2599928"/>
            <a:ext cx="1859441" cy="1511939"/>
          </a:xfrm>
        </p:spPr>
      </p:pic>
      <p:pic>
        <p:nvPicPr>
          <p:cNvPr id="43" name="图片 4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4361" y="2210145"/>
            <a:ext cx="1615580" cy="1847248"/>
          </a:xfrm>
          <a:prstGeom prst="rect">
            <a:avLst/>
          </a:prstGeom>
        </p:spPr>
      </p:pic>
      <p:pic>
        <p:nvPicPr>
          <p:cNvPr id="44" name="图片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5736" y="2111860"/>
            <a:ext cx="1975275" cy="658425"/>
          </a:xfrm>
          <a:prstGeom prst="rect">
            <a:avLst/>
          </a:prstGeom>
        </p:spPr>
      </p:pic>
      <mc:AlternateContent xmlns:mc="http://schemas.openxmlformats.org/markup-compatibility/2006" xmlns:a14="http://schemas.microsoft.com/office/drawing/2010/main">
        <mc:Choice Requires="a14">
          <p:sp>
            <p:nvSpPr>
              <p:cNvPr id="45" name="文本框 44"/>
              <p:cNvSpPr txBox="1"/>
              <p:nvPr/>
            </p:nvSpPr>
            <p:spPr>
              <a:xfrm>
                <a:off x="5637058" y="2554639"/>
                <a:ext cx="179087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0      3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7</a:t>
                </a:r>
                <a:endParaRPr lang="zh-CN" altLang="en-US" sz="1400" dirty="0" smtClean="0">
                  <a:latin typeface="Arial" panose="020B0604020202020204" pitchFamily="34" charset="0"/>
                  <a:ea typeface="微软雅黑" panose="020B0503020204020204" pitchFamily="34" charset="-122"/>
                </a:endParaRPr>
              </a:p>
            </p:txBody>
          </p:sp>
        </mc:Choice>
        <mc:Fallback xmlns="">
          <p:sp>
            <p:nvSpPr>
              <p:cNvPr id="45" name="文本框 44"/>
              <p:cNvSpPr txBox="1">
                <a:spLocks noRot="1" noChangeAspect="1" noMove="1" noResize="1" noEditPoints="1" noAdjustHandles="1" noChangeArrowheads="1" noChangeShapeType="1" noTextEdit="1"/>
              </p:cNvSpPr>
              <p:nvPr/>
            </p:nvSpPr>
            <p:spPr>
              <a:xfrm>
                <a:off x="5637058" y="2554639"/>
                <a:ext cx="1790875" cy="452432"/>
              </a:xfrm>
              <a:prstGeom prst="rect">
                <a:avLst/>
              </a:prstGeom>
              <a:blipFill>
                <a:blip r:embed="rId6"/>
                <a:stretch>
                  <a:fillRect l="-3072"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p:cNvSpPr txBox="1"/>
              <p:nvPr/>
            </p:nvSpPr>
            <p:spPr>
              <a:xfrm>
                <a:off x="5644244" y="2908354"/>
                <a:ext cx="185499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8      0     2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47" name="文本框 46"/>
              <p:cNvSpPr txBox="1">
                <a:spLocks noRot="1" noChangeAspect="1" noMove="1" noResize="1" noEditPoints="1" noAdjustHandles="1" noChangeArrowheads="1" noChangeShapeType="1" noTextEdit="1"/>
              </p:cNvSpPr>
              <p:nvPr/>
            </p:nvSpPr>
            <p:spPr>
              <a:xfrm>
                <a:off x="5644244" y="2908354"/>
                <a:ext cx="1854995" cy="452432"/>
              </a:xfrm>
              <a:prstGeom prst="rect">
                <a:avLst/>
              </a:prstGeom>
              <a:blipFill>
                <a:blip r:embed="rId7"/>
                <a:stretch>
                  <a:fillRect l="-2961"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p:cNvSpPr txBox="1"/>
              <p:nvPr/>
            </p:nvSpPr>
            <p:spPr>
              <a:xfrm>
                <a:off x="5644244" y="3324739"/>
                <a:ext cx="1752403"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5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0       1</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48" name="文本框 47"/>
              <p:cNvSpPr txBox="1">
                <a:spLocks noRot="1" noChangeAspect="1" noMove="1" noResize="1" noEditPoints="1" noAdjustHandles="1" noChangeArrowheads="1" noChangeShapeType="1" noTextEdit="1"/>
              </p:cNvSpPr>
              <p:nvPr/>
            </p:nvSpPr>
            <p:spPr>
              <a:xfrm>
                <a:off x="5644244" y="3324739"/>
                <a:ext cx="1752403" cy="414985"/>
              </a:xfrm>
              <a:prstGeom prst="rect">
                <a:avLst/>
              </a:prstGeom>
              <a:blipFill>
                <a:blip r:embed="rId8"/>
                <a:stretch>
                  <a:fillRect l="-3136"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p:cNvSpPr txBox="1"/>
              <p:nvPr/>
            </p:nvSpPr>
            <p:spPr>
              <a:xfrm>
                <a:off x="5644297" y="3705170"/>
                <a:ext cx="1781257"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0</a:t>
                </a:r>
                <a:endParaRPr lang="zh-CN" altLang="en-US" dirty="0" smtClean="0">
                  <a:latin typeface="Arial" panose="020B0604020202020204" pitchFamily="34" charset="0"/>
                  <a:ea typeface="微软雅黑" panose="020B0503020204020204" pitchFamily="34" charset="-122"/>
                </a:endParaRPr>
              </a:p>
            </p:txBody>
          </p:sp>
        </mc:Choice>
        <mc:Fallback xmlns="">
          <p:sp>
            <p:nvSpPr>
              <p:cNvPr id="49" name="文本框 48"/>
              <p:cNvSpPr txBox="1">
                <a:spLocks noRot="1" noChangeAspect="1" noMove="1" noResize="1" noEditPoints="1" noAdjustHandles="1" noChangeArrowheads="1" noChangeShapeType="1" noTextEdit="1"/>
              </p:cNvSpPr>
              <p:nvPr/>
            </p:nvSpPr>
            <p:spPr>
              <a:xfrm>
                <a:off x="5644297" y="3705170"/>
                <a:ext cx="1781257" cy="452432"/>
              </a:xfrm>
              <a:prstGeom prst="rect">
                <a:avLst/>
              </a:prstGeom>
              <a:blipFill>
                <a:blip r:embed="rId9"/>
                <a:stretch>
                  <a:fillRect l="-3082" r="-2397" b="-13514"/>
                </a:stretch>
              </a:blipFill>
            </p:spPr>
            <p:txBody>
              <a:bodyPr/>
              <a:lstStyle/>
              <a:p>
                <a:r>
                  <a:rPr lang="zh-CN" altLang="en-US">
                    <a:noFill/>
                  </a:rPr>
                  <a:t> </a:t>
                </a:r>
              </a:p>
            </p:txBody>
          </p:sp>
        </mc:Fallback>
      </mc:AlternateContent>
      <p:pic>
        <p:nvPicPr>
          <p:cNvPr id="50" name="内容占位符 4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5518" y="2550785"/>
            <a:ext cx="1859441" cy="1511939"/>
          </a:xfrm>
          <a:prstGeom prst="rect">
            <a:avLst/>
          </a:prstGeom>
        </p:spPr>
      </p:pic>
      <p:pic>
        <p:nvPicPr>
          <p:cNvPr id="52" name="图片 5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37600" y="2062717"/>
            <a:ext cx="1975275" cy="658425"/>
          </a:xfrm>
          <a:prstGeom prst="rect">
            <a:avLst/>
          </a:prstGeom>
        </p:spPr>
      </p:pic>
      <p:sp>
        <p:nvSpPr>
          <p:cNvPr id="53" name="文本框 52"/>
          <p:cNvSpPr txBox="1"/>
          <p:nvPr/>
        </p:nvSpPr>
        <p:spPr>
          <a:xfrm>
            <a:off x="9228922" y="2505496"/>
            <a:ext cx="177484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p:sp>
        <p:nvSpPr>
          <p:cNvPr id="54" name="文本框 53"/>
          <p:cNvSpPr txBox="1"/>
          <p:nvPr/>
        </p:nvSpPr>
        <p:spPr>
          <a:xfrm>
            <a:off x="9236108" y="2859211"/>
            <a:ext cx="1774845"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p:sp>
        <p:nvSpPr>
          <p:cNvPr id="55" name="文本框 54"/>
          <p:cNvSpPr txBox="1"/>
          <p:nvPr/>
        </p:nvSpPr>
        <p:spPr>
          <a:xfrm>
            <a:off x="9236108" y="3275596"/>
            <a:ext cx="1774845"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p:sp>
        <p:nvSpPr>
          <p:cNvPr id="56" name="文本框 55"/>
          <p:cNvSpPr txBox="1"/>
          <p:nvPr/>
        </p:nvSpPr>
        <p:spPr>
          <a:xfrm>
            <a:off x="9236161" y="3656027"/>
            <a:ext cx="1774845"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57" name="文本框 56"/>
              <p:cNvSpPr txBox="1"/>
              <p:nvPr/>
            </p:nvSpPr>
            <p:spPr>
              <a:xfrm>
                <a:off x="7516876" y="2128141"/>
                <a:ext cx="2014643" cy="1846018"/>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ea typeface="微软雅黑" panose="020B0503020204020204" pitchFamily="34" charset="-122"/>
                            </a:rPr>
                          </m:ctrlPr>
                        </m:sSupPr>
                        <m:e>
                          <m:r>
                            <a:rPr lang="en-US" altLang="zh-CN" sz="2400" b="0" i="1" smtClean="0">
                              <a:latin typeface="Cambria Math" panose="02040503050406030204" pitchFamily="18" charset="0"/>
                              <a:ea typeface="微软雅黑" panose="020B0503020204020204" pitchFamily="34" charset="-122"/>
                            </a:rPr>
                            <m:t>𝑃𝑎𝑡h</m:t>
                          </m:r>
                        </m:e>
                        <m:sup>
                          <m:r>
                            <a:rPr lang="en-US" altLang="zh-CN" sz="2400" i="1">
                              <a:latin typeface="Cambria Math" panose="02040503050406030204" pitchFamily="18" charset="0"/>
                              <a:ea typeface="微软雅黑" panose="020B0503020204020204" pitchFamily="34" charset="-122"/>
                            </a:rPr>
                            <m:t>0</m:t>
                          </m:r>
                        </m:sup>
                      </m:sSup>
                      <m:r>
                        <a:rPr lang="en-US" altLang="zh-CN" sz="2400" i="1">
                          <a:latin typeface="Cambria Math" panose="02040503050406030204" pitchFamily="18" charset="0"/>
                          <a:ea typeface="微软雅黑" panose="020B0503020204020204" pitchFamily="34" charset="-122"/>
                        </a:rPr>
                        <m:t>=</m:t>
                      </m:r>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1</m:t>
                            </m:r>
                          </m:e>
                        </m:mr>
                        <m:mr>
                          <m:e>
                            <m:r>
                              <a:rPr lang="en-US" altLang="zh-CN" sz="2400" b="0" i="1" smtClean="0">
                                <a:latin typeface="Cambria Math" panose="02040503050406030204" pitchFamily="18" charset="0"/>
                                <a:ea typeface="微软雅黑" panose="020B0503020204020204" pitchFamily="34" charset="-122"/>
                              </a:rPr>
                              <m:t>2</m:t>
                            </m:r>
                          </m:e>
                        </m:mr>
                        <m:m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3</m:t>
                                  </m:r>
                                </m:e>
                              </m:mr>
                              <m:mr>
                                <m:e>
                                  <m:r>
                                    <a:rPr lang="en-US" altLang="zh-CN" sz="2400" b="0" i="1" smtClean="0">
                                      <a:latin typeface="Cambria Math" panose="02040503050406030204" pitchFamily="18" charset="0"/>
                                      <a:ea typeface="微软雅黑" panose="020B0503020204020204" pitchFamily="34" charset="-122"/>
                                    </a:rPr>
                                    <m:t>4</m:t>
                                  </m:r>
                                </m:e>
                              </m:mr>
                            </m:m>
                          </m:e>
                        </m:mr>
                      </m:m>
                      <m:d>
                        <m:dPr>
                          <m:begChr m:val="{"/>
                          <m:endChr m:val=""/>
                          <m:ctrlPr>
                            <a:rPr lang="en-US" altLang="zh-CN" sz="2400" i="1" smtClean="0">
                              <a:latin typeface="Cambria Math" panose="02040503050406030204" pitchFamily="18" charset="0"/>
                              <a:ea typeface="微软雅黑" panose="020B0503020204020204" pitchFamily="34" charset="-122"/>
                            </a:rPr>
                          </m:ctrlPr>
                        </m:dPr>
                        <m:e>
                          <m:eqArr>
                            <m:eqArrPr>
                              <m:ctrlPr>
                                <a:rPr lang="en-US" altLang="zh-CN" sz="2400" i="1" smtClean="0">
                                  <a:latin typeface="Cambria Math" panose="02040503050406030204" pitchFamily="18" charset="0"/>
                                  <a:ea typeface="微软雅黑" panose="020B0503020204020204" pitchFamily="34" charset="-122"/>
                                </a:rPr>
                              </m:ctrlPr>
                            </m:eqArrP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mr>
                                <m:mr>
                                  <m:e/>
                                </m:mr>
                              </m:m>
                            </m:e>
                            <m:e/>
                            <m:e/>
                          </m:eqArr>
                        </m:e>
                      </m:d>
                    </m:oMath>
                  </m:oMathPara>
                </a14:m>
                <a:endParaRPr lang="zh-CN" altLang="en-US" sz="2400" dirty="0" smtClean="0">
                  <a:latin typeface="Arial" panose="020B0604020202020204" pitchFamily="34" charset="0"/>
                  <a:ea typeface="微软雅黑" panose="020B0503020204020204" pitchFamily="34" charset="-122"/>
                </a:endParaRPr>
              </a:p>
            </p:txBody>
          </p:sp>
        </mc:Choice>
        <mc:Fallback xmlns="">
          <p:sp>
            <p:nvSpPr>
              <p:cNvPr id="57" name="文本框 56"/>
              <p:cNvSpPr txBox="1">
                <a:spLocks noRot="1" noChangeAspect="1" noMove="1" noResize="1" noEditPoints="1" noAdjustHandles="1" noChangeArrowheads="1" noChangeShapeType="1" noTextEdit="1"/>
              </p:cNvSpPr>
              <p:nvPr/>
            </p:nvSpPr>
            <p:spPr>
              <a:xfrm>
                <a:off x="7516876" y="2128141"/>
                <a:ext cx="2014643" cy="1846018"/>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6075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500"/>
                                        <p:tgtEl>
                                          <p:spTgt spid="4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0"/>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2"/>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3"/>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5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6"/>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P spid="48" grpId="0"/>
      <p:bldP spid="49" grpId="0"/>
      <p:bldP spid="53" grpId="0"/>
      <p:bldP spid="54" grpId="0"/>
      <p:bldP spid="55" grpId="0"/>
      <p:bldP spid="56" grpId="0"/>
      <p:bldP spid="5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grpSp>
        <p:nvGrpSpPr>
          <p:cNvPr id="5" name="组合 4"/>
          <p:cNvGrpSpPr/>
          <p:nvPr/>
        </p:nvGrpSpPr>
        <p:grpSpPr>
          <a:xfrm>
            <a:off x="1042538" y="1870362"/>
            <a:ext cx="3055332" cy="2919847"/>
            <a:chOff x="2029674" y="1361208"/>
            <a:chExt cx="3671472" cy="3508665"/>
          </a:xfrm>
        </p:grpSpPr>
        <p:sp>
          <p:nvSpPr>
            <p:cNvPr id="6" name="椭圆 5"/>
            <p:cNvSpPr/>
            <p:nvPr/>
          </p:nvSpPr>
          <p:spPr>
            <a:xfrm>
              <a:off x="2202873"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7" name="椭圆 6"/>
            <p:cNvSpPr/>
            <p:nvPr/>
          </p:nvSpPr>
          <p:spPr>
            <a:xfrm>
              <a:off x="5015346"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8" name="椭圆 7"/>
            <p:cNvSpPr/>
            <p:nvPr/>
          </p:nvSpPr>
          <p:spPr>
            <a:xfrm>
              <a:off x="2202873"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9" name="椭圆 8"/>
            <p:cNvSpPr/>
            <p:nvPr/>
          </p:nvSpPr>
          <p:spPr>
            <a:xfrm>
              <a:off x="5015346"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10" name="曲线连接符 9"/>
            <p:cNvCxnSpPr>
              <a:stCxn id="6" idx="4"/>
              <a:endCxn id="7" idx="4"/>
            </p:cNvCxnSpPr>
            <p:nvPr/>
          </p:nvCxnSpPr>
          <p:spPr>
            <a:xfrm rot="16200000" flipH="1">
              <a:off x="3952009" y="9836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a:stCxn id="7" idx="0"/>
              <a:endCxn id="6" idx="0"/>
            </p:cNvCxnSpPr>
            <p:nvPr/>
          </p:nvCxnSpPr>
          <p:spPr>
            <a:xfrm rot="16200000" flipV="1">
              <a:off x="3952010" y="2978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曲线连接符 11"/>
            <p:cNvCxnSpPr/>
            <p:nvPr/>
          </p:nvCxnSpPr>
          <p:spPr>
            <a:xfrm rot="5400000">
              <a:off x="962891" y="3286991"/>
              <a:ext cx="24799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p:cNvCxnSpPr>
              <a:stCxn id="8" idx="7"/>
              <a:endCxn id="6" idx="5"/>
            </p:cNvCxnSpPr>
            <p:nvPr/>
          </p:nvCxnSpPr>
          <p:spPr>
            <a:xfrm rot="5400000" flipH="1" flipV="1">
              <a:off x="1790725" y="3286991"/>
              <a:ext cx="199503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9" idx="2"/>
            </p:cNvCxnSpPr>
            <p:nvPr/>
          </p:nvCxnSpPr>
          <p:spPr>
            <a:xfrm rot="10800000" flipV="1">
              <a:off x="2895024" y="4526973"/>
              <a:ext cx="2120323" cy="63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9" idx="1"/>
              <a:endCxn id="6" idx="6"/>
            </p:cNvCxnSpPr>
            <p:nvPr/>
          </p:nvCxnSpPr>
          <p:spPr>
            <a:xfrm rot="16200000" flipV="1">
              <a:off x="2883478" y="2052205"/>
              <a:ext cx="2237497" cy="22271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曲线连接符 15"/>
            <p:cNvCxnSpPr>
              <a:stCxn id="7" idx="4"/>
              <a:endCxn id="9" idx="0"/>
            </p:cNvCxnSpPr>
            <p:nvPr/>
          </p:nvCxnSpPr>
          <p:spPr>
            <a:xfrm rot="5400000">
              <a:off x="4461164" y="3286991"/>
              <a:ext cx="17941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圆角矩形 16"/>
            <p:cNvSpPr/>
            <p:nvPr/>
          </p:nvSpPr>
          <p:spPr>
            <a:xfrm>
              <a:off x="2029674" y="3148702"/>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8" name="圆角矩形 17"/>
            <p:cNvSpPr/>
            <p:nvPr/>
          </p:nvSpPr>
          <p:spPr>
            <a:xfrm>
              <a:off x="4375457" y="136120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19" name="圆角矩形 18"/>
            <p:cNvSpPr/>
            <p:nvPr/>
          </p:nvSpPr>
          <p:spPr>
            <a:xfrm>
              <a:off x="4662660" y="315476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20" name="圆角矩形 19"/>
            <p:cNvSpPr/>
            <p:nvPr/>
          </p:nvSpPr>
          <p:spPr>
            <a:xfrm>
              <a:off x="5265296" y="291721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1" name="圆角矩形 20"/>
            <p:cNvSpPr/>
            <p:nvPr/>
          </p:nvSpPr>
          <p:spPr>
            <a:xfrm>
              <a:off x="3658459" y="2502393"/>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2" name="圆角矩形 21"/>
            <p:cNvSpPr/>
            <p:nvPr/>
          </p:nvSpPr>
          <p:spPr>
            <a:xfrm>
              <a:off x="3859059" y="4412000"/>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3" name="圆角矩形 22"/>
            <p:cNvSpPr/>
            <p:nvPr/>
          </p:nvSpPr>
          <p:spPr>
            <a:xfrm>
              <a:off x="2652557" y="3215691"/>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p:cxnSp>
        <p:nvCxnSpPr>
          <p:cNvPr id="36" name="直接箭头连接符 35"/>
          <p:cNvCxnSpPr/>
          <p:nvPr/>
        </p:nvCxnSpPr>
        <p:spPr>
          <a:xfrm flipV="1">
            <a:off x="6328064" y="1963882"/>
            <a:ext cx="20781" cy="10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5017263" y="2832258"/>
            <a:ext cx="1237062" cy="1227737"/>
            <a:chOff x="5891645" y="1409698"/>
            <a:chExt cx="1237062" cy="1227737"/>
          </a:xfrm>
        </p:grpSpPr>
        <p:sp>
          <p:nvSpPr>
            <p:cNvPr id="31" name="矩形 30"/>
            <p:cNvSpPr/>
            <p:nvPr/>
          </p:nvSpPr>
          <p:spPr>
            <a:xfrm>
              <a:off x="5891645" y="1870362"/>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32" name="矩形 31"/>
            <p:cNvSpPr/>
            <p:nvPr/>
          </p:nvSpPr>
          <p:spPr>
            <a:xfrm>
              <a:off x="6692288" y="1409698"/>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33" name="矩形 32"/>
            <p:cNvSpPr/>
            <p:nvPr/>
          </p:nvSpPr>
          <p:spPr>
            <a:xfrm>
              <a:off x="6692287" y="1870362"/>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34" name="矩形 33"/>
            <p:cNvSpPr/>
            <p:nvPr/>
          </p:nvSpPr>
          <p:spPr>
            <a:xfrm>
              <a:off x="6682855" y="2346795"/>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cxnSp>
          <p:nvCxnSpPr>
            <p:cNvPr id="38" name="直接箭头连接符 37"/>
            <p:cNvCxnSpPr/>
            <p:nvPr/>
          </p:nvCxnSpPr>
          <p:spPr>
            <a:xfrm flipV="1">
              <a:off x="6328064" y="1555018"/>
              <a:ext cx="354791" cy="419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6348845" y="2015682"/>
              <a:ext cx="3226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34" idx="1"/>
            </p:cNvCxnSpPr>
            <p:nvPr/>
          </p:nvCxnSpPr>
          <p:spPr>
            <a:xfrm>
              <a:off x="6348845" y="2077894"/>
              <a:ext cx="334010" cy="414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6495306" y="2820035"/>
            <a:ext cx="1267242" cy="1227737"/>
            <a:chOff x="5891645" y="1409698"/>
            <a:chExt cx="1267242" cy="1227737"/>
          </a:xfrm>
        </p:grpSpPr>
        <p:sp>
          <p:nvSpPr>
            <p:cNvPr id="45" name="矩形 44"/>
            <p:cNvSpPr/>
            <p:nvPr/>
          </p:nvSpPr>
          <p:spPr>
            <a:xfrm>
              <a:off x="5891645" y="1870362"/>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46" name="矩形 45"/>
            <p:cNvSpPr/>
            <p:nvPr/>
          </p:nvSpPr>
          <p:spPr>
            <a:xfrm>
              <a:off x="6692288" y="1409698"/>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47" name="矩形 46"/>
            <p:cNvSpPr/>
            <p:nvPr/>
          </p:nvSpPr>
          <p:spPr>
            <a:xfrm>
              <a:off x="6722468" y="1870369"/>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48" name="矩形 47"/>
            <p:cNvSpPr/>
            <p:nvPr/>
          </p:nvSpPr>
          <p:spPr>
            <a:xfrm>
              <a:off x="6682855" y="2346795"/>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cxnSp>
          <p:nvCxnSpPr>
            <p:cNvPr id="49" name="直接箭头连接符 48"/>
            <p:cNvCxnSpPr/>
            <p:nvPr/>
          </p:nvCxnSpPr>
          <p:spPr>
            <a:xfrm flipV="1">
              <a:off x="6328064" y="1555018"/>
              <a:ext cx="354791" cy="419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6348845" y="2015682"/>
              <a:ext cx="3226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endCxn id="48" idx="1"/>
            </p:cNvCxnSpPr>
            <p:nvPr/>
          </p:nvCxnSpPr>
          <p:spPr>
            <a:xfrm>
              <a:off x="6348845" y="2077894"/>
              <a:ext cx="334010" cy="414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nvGrpSpPr>
        <p:grpSpPr>
          <a:xfrm>
            <a:off x="7967286" y="2820035"/>
            <a:ext cx="1237062" cy="1227737"/>
            <a:chOff x="5891645" y="1409698"/>
            <a:chExt cx="1237062" cy="1227737"/>
          </a:xfrm>
        </p:grpSpPr>
        <p:sp>
          <p:nvSpPr>
            <p:cNvPr id="53" name="矩形 52"/>
            <p:cNvSpPr/>
            <p:nvPr/>
          </p:nvSpPr>
          <p:spPr>
            <a:xfrm>
              <a:off x="5891645" y="1870362"/>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54" name="矩形 53"/>
            <p:cNvSpPr/>
            <p:nvPr/>
          </p:nvSpPr>
          <p:spPr>
            <a:xfrm>
              <a:off x="6692288" y="1409698"/>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55" name="矩形 54"/>
            <p:cNvSpPr/>
            <p:nvPr/>
          </p:nvSpPr>
          <p:spPr>
            <a:xfrm>
              <a:off x="6692287" y="1870362"/>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56" name="矩形 55"/>
            <p:cNvSpPr/>
            <p:nvPr/>
          </p:nvSpPr>
          <p:spPr>
            <a:xfrm>
              <a:off x="6682855" y="2346795"/>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cxnSp>
          <p:nvCxnSpPr>
            <p:cNvPr id="57" name="直接箭头连接符 56"/>
            <p:cNvCxnSpPr/>
            <p:nvPr/>
          </p:nvCxnSpPr>
          <p:spPr>
            <a:xfrm flipV="1">
              <a:off x="6328064" y="1555018"/>
              <a:ext cx="354791" cy="419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6348845" y="2015682"/>
              <a:ext cx="3226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endCxn id="56" idx="1"/>
            </p:cNvCxnSpPr>
            <p:nvPr/>
          </p:nvCxnSpPr>
          <p:spPr>
            <a:xfrm>
              <a:off x="6348845" y="2077894"/>
              <a:ext cx="334010" cy="414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9448698" y="2820035"/>
            <a:ext cx="1237062" cy="1227737"/>
            <a:chOff x="5891645" y="1409698"/>
            <a:chExt cx="1237062" cy="1227737"/>
          </a:xfrm>
        </p:grpSpPr>
        <p:sp>
          <p:nvSpPr>
            <p:cNvPr id="61" name="矩形 60"/>
            <p:cNvSpPr/>
            <p:nvPr/>
          </p:nvSpPr>
          <p:spPr>
            <a:xfrm>
              <a:off x="5891645" y="1870362"/>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62" name="矩形 61"/>
            <p:cNvSpPr/>
            <p:nvPr/>
          </p:nvSpPr>
          <p:spPr>
            <a:xfrm>
              <a:off x="6692288" y="1409698"/>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3" name="矩形 62"/>
            <p:cNvSpPr/>
            <p:nvPr/>
          </p:nvSpPr>
          <p:spPr>
            <a:xfrm>
              <a:off x="6692287" y="1870362"/>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64" name="矩形 63"/>
            <p:cNvSpPr/>
            <p:nvPr/>
          </p:nvSpPr>
          <p:spPr>
            <a:xfrm>
              <a:off x="6682855" y="2346795"/>
              <a:ext cx="436419" cy="29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65" name="直接箭头连接符 64"/>
            <p:cNvCxnSpPr/>
            <p:nvPr/>
          </p:nvCxnSpPr>
          <p:spPr>
            <a:xfrm flipV="1">
              <a:off x="6328064" y="1555018"/>
              <a:ext cx="354791" cy="419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6348845" y="2015682"/>
              <a:ext cx="3226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endCxn id="64" idx="1"/>
            </p:cNvCxnSpPr>
            <p:nvPr/>
          </p:nvCxnSpPr>
          <p:spPr>
            <a:xfrm>
              <a:off x="6348845" y="2077894"/>
              <a:ext cx="334010" cy="414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8" name="文本框 67"/>
          <p:cNvSpPr txBox="1"/>
          <p:nvPr/>
        </p:nvSpPr>
        <p:spPr>
          <a:xfrm>
            <a:off x="5036758" y="4639401"/>
            <a:ext cx="5391219" cy="652486"/>
          </a:xfrm>
          <a:prstGeom prst="rect">
            <a:avLst/>
          </a:prstGeom>
          <a:noFill/>
        </p:spPr>
        <p:txBody>
          <a:bodyPr wrap="none" rtlCol="0">
            <a:spAutoFit/>
          </a:bodyPr>
          <a:lstStyle/>
          <a:p>
            <a:pPr>
              <a:lnSpc>
                <a:spcPct val="130000"/>
              </a:lnSpc>
            </a:pPr>
            <a:r>
              <a:rPr lang="zh-CN" altLang="en-US" sz="1400" dirty="0" smtClean="0">
                <a:latin typeface="Arial" panose="020B0604020202020204" pitchFamily="34" charset="0"/>
                <a:ea typeface="微软雅黑" panose="020B0503020204020204" pitchFamily="34" charset="-122"/>
              </a:rPr>
              <a:t>针对于这张图，寻找任意两个节点之间的最短路径，所有的节点。</a:t>
            </a:r>
            <a:endParaRPr lang="en-US" altLang="zh-CN" sz="1400" dirty="0" smtClean="0">
              <a:latin typeface="Arial" panose="020B0604020202020204" pitchFamily="34" charset="0"/>
              <a:ea typeface="微软雅黑" panose="020B0503020204020204" pitchFamily="34" charset="-122"/>
            </a:endParaRPr>
          </a:p>
          <a:p>
            <a:pPr>
              <a:lnSpc>
                <a:spcPct val="130000"/>
              </a:lnSpc>
            </a:pPr>
            <a:r>
              <a:rPr lang="zh-CN" altLang="en-US" sz="1400" dirty="0" smtClean="0">
                <a:latin typeface="Arial" panose="020B0604020202020204" pitchFamily="34" charset="0"/>
                <a:ea typeface="微软雅黑" panose="020B0503020204020204" pitchFamily="34" charset="-122"/>
              </a:rPr>
              <a:t>这个问题被称为多源最短路径问题</a:t>
            </a:r>
          </a:p>
        </p:txBody>
      </p:sp>
    </p:spTree>
    <p:extLst>
      <p:ext uri="{BB962C8B-B14F-4D97-AF65-F5344CB8AC3E}">
        <p14:creationId xmlns:p14="http://schemas.microsoft.com/office/powerpoint/2010/main" val="11574818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grpSp>
        <p:nvGrpSpPr>
          <p:cNvPr id="4" name="组合 3"/>
          <p:cNvGrpSpPr/>
          <p:nvPr/>
        </p:nvGrpSpPr>
        <p:grpSpPr>
          <a:xfrm>
            <a:off x="1042538" y="1870362"/>
            <a:ext cx="3055332" cy="2919847"/>
            <a:chOff x="2029674" y="1361208"/>
            <a:chExt cx="3671472" cy="3508665"/>
          </a:xfrm>
        </p:grpSpPr>
        <p:sp>
          <p:nvSpPr>
            <p:cNvPr id="5" name="椭圆 4"/>
            <p:cNvSpPr/>
            <p:nvPr/>
          </p:nvSpPr>
          <p:spPr>
            <a:xfrm>
              <a:off x="2202873"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5015346"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202873"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8" name="椭圆 7"/>
            <p:cNvSpPr/>
            <p:nvPr/>
          </p:nvSpPr>
          <p:spPr>
            <a:xfrm>
              <a:off x="5015346"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9" name="曲线连接符 8"/>
            <p:cNvCxnSpPr>
              <a:stCxn id="5" idx="4"/>
              <a:endCxn id="6" idx="4"/>
            </p:cNvCxnSpPr>
            <p:nvPr/>
          </p:nvCxnSpPr>
          <p:spPr>
            <a:xfrm rot="16200000" flipH="1">
              <a:off x="3952009" y="9836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曲线连接符 9"/>
            <p:cNvCxnSpPr>
              <a:stCxn id="6" idx="0"/>
              <a:endCxn id="5" idx="0"/>
            </p:cNvCxnSpPr>
            <p:nvPr/>
          </p:nvCxnSpPr>
          <p:spPr>
            <a:xfrm rot="16200000" flipV="1">
              <a:off x="3952010" y="2978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p:nvPr/>
          </p:nvCxnSpPr>
          <p:spPr>
            <a:xfrm rot="5400000">
              <a:off x="962891" y="3286991"/>
              <a:ext cx="24799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曲线连接符 11"/>
            <p:cNvCxnSpPr>
              <a:stCxn id="7" idx="7"/>
              <a:endCxn id="5" idx="5"/>
            </p:cNvCxnSpPr>
            <p:nvPr/>
          </p:nvCxnSpPr>
          <p:spPr>
            <a:xfrm rot="5400000" flipH="1" flipV="1">
              <a:off x="1790725" y="3286991"/>
              <a:ext cx="199503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p:cNvCxnSpPr>
              <a:stCxn id="8" idx="2"/>
            </p:cNvCxnSpPr>
            <p:nvPr/>
          </p:nvCxnSpPr>
          <p:spPr>
            <a:xfrm rot="10800000" flipV="1">
              <a:off x="2895024" y="4526973"/>
              <a:ext cx="2120323" cy="63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8" idx="1"/>
              <a:endCxn id="5" idx="6"/>
            </p:cNvCxnSpPr>
            <p:nvPr/>
          </p:nvCxnSpPr>
          <p:spPr>
            <a:xfrm rot="16200000" flipV="1">
              <a:off x="2883478" y="2052205"/>
              <a:ext cx="2237497" cy="22271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6" idx="4"/>
              <a:endCxn id="8" idx="0"/>
            </p:cNvCxnSpPr>
            <p:nvPr/>
          </p:nvCxnSpPr>
          <p:spPr>
            <a:xfrm rot="5400000">
              <a:off x="4461164" y="3286991"/>
              <a:ext cx="17941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2029674" y="3148702"/>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7" name="圆角矩形 16"/>
            <p:cNvSpPr/>
            <p:nvPr/>
          </p:nvSpPr>
          <p:spPr>
            <a:xfrm>
              <a:off x="4375457" y="136120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18" name="圆角矩形 17"/>
            <p:cNvSpPr/>
            <p:nvPr/>
          </p:nvSpPr>
          <p:spPr>
            <a:xfrm>
              <a:off x="4662660" y="315476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9" name="圆角矩形 18"/>
            <p:cNvSpPr/>
            <p:nvPr/>
          </p:nvSpPr>
          <p:spPr>
            <a:xfrm>
              <a:off x="5265296" y="291721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0" name="圆角矩形 19"/>
            <p:cNvSpPr/>
            <p:nvPr/>
          </p:nvSpPr>
          <p:spPr>
            <a:xfrm>
              <a:off x="3658459" y="2502393"/>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1" name="圆角矩形 20"/>
            <p:cNvSpPr/>
            <p:nvPr/>
          </p:nvSpPr>
          <p:spPr>
            <a:xfrm>
              <a:off x="3859059" y="4412000"/>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2" name="圆角矩形 21"/>
            <p:cNvSpPr/>
            <p:nvPr/>
          </p:nvSpPr>
          <p:spPr>
            <a:xfrm>
              <a:off x="2652557" y="3215691"/>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mc:AlternateContent xmlns:mc="http://schemas.openxmlformats.org/markup-compatibility/2006" xmlns:a14="http://schemas.microsoft.com/office/drawing/2010/main">
        <mc:Choice Requires="a14">
          <p:sp>
            <p:nvSpPr>
              <p:cNvPr id="23" name="文本框 22"/>
              <p:cNvSpPr txBox="1"/>
              <p:nvPr/>
            </p:nvSpPr>
            <p:spPr>
              <a:xfrm>
                <a:off x="4530437" y="1564110"/>
                <a:ext cx="6206443" cy="652486"/>
              </a:xfrm>
              <a:prstGeom prst="rect">
                <a:avLst/>
              </a:prstGeom>
              <a:noFill/>
            </p:spPr>
            <p:txBody>
              <a:bodyPr wrap="none" rtlCol="0">
                <a:spAutoFit/>
              </a:bodyPr>
              <a:lstStyle/>
              <a:p>
                <a:pPr>
                  <a:lnSpc>
                    <a:spcPct val="130000"/>
                  </a:lnSpc>
                </a:pPr>
                <a:r>
                  <a:rPr lang="zh-CN" altLang="en-US" sz="1400" dirty="0" smtClean="0">
                    <a:latin typeface="Arial" panose="020B0604020202020204" pitchFamily="34" charset="0"/>
                    <a:ea typeface="微软雅黑" panose="020B0503020204020204" pitchFamily="34" charset="-122"/>
                  </a:rPr>
                  <a:t>之前我们尝试过使用深度优先搜索或者广度优先搜索去寻找迷宫的解，</a:t>
                </a:r>
                <a:endParaRPr lang="en-US" altLang="zh-CN" sz="1400" dirty="0" smtClean="0">
                  <a:latin typeface="Arial" panose="020B0604020202020204" pitchFamily="34" charset="0"/>
                  <a:ea typeface="微软雅黑" panose="020B0503020204020204" pitchFamily="34" charset="-122"/>
                </a:endParaRPr>
              </a:p>
              <a:p>
                <a:pPr>
                  <a:lnSpc>
                    <a:spcPct val="130000"/>
                  </a:lnSpc>
                </a:pPr>
                <a:r>
                  <a:rPr lang="zh-CN" altLang="en-US" sz="1400" dirty="0" smtClean="0">
                    <a:latin typeface="Arial" panose="020B0604020202020204" pitchFamily="34" charset="0"/>
                    <a:ea typeface="微软雅黑" panose="020B0503020204020204" pitchFamily="34" charset="-122"/>
                  </a:rPr>
                  <a:t>当然使用</a:t>
                </a:r>
                <a:r>
                  <a:rPr lang="en-US" altLang="zh-CN" sz="1400" dirty="0" err="1" smtClean="0">
                    <a:latin typeface="Arial" panose="020B0604020202020204" pitchFamily="34" charset="0"/>
                    <a:ea typeface="微软雅黑" panose="020B0503020204020204" pitchFamily="34" charset="-122"/>
                  </a:rPr>
                  <a:t>bfs</a:t>
                </a:r>
                <a:r>
                  <a:rPr lang="zh-CN" altLang="en-US" sz="1400" dirty="0" smtClean="0">
                    <a:latin typeface="Arial" panose="020B0604020202020204" pitchFamily="34" charset="0"/>
                    <a:ea typeface="微软雅黑" panose="020B0503020204020204" pitchFamily="34" charset="-122"/>
                  </a:rPr>
                  <a:t>是可以寻找出任意两点之间的最短路径的，所以进行</a:t>
                </a:r>
                <a14:m>
                  <m:oMath xmlns:m="http://schemas.openxmlformats.org/officeDocument/2006/math">
                    <m:sSup>
                      <m:sSupPr>
                        <m:ctrlPr>
                          <a:rPr lang="en-US" altLang="zh-CN" sz="1400" b="0" i="1" smtClean="0">
                            <a:latin typeface="Cambria Math" panose="02040503050406030204" pitchFamily="18" charset="0"/>
                            <a:ea typeface="微软雅黑" panose="020B0503020204020204" pitchFamily="34" charset="-122"/>
                          </a:rPr>
                        </m:ctrlPr>
                      </m:sSupPr>
                      <m:e>
                        <m:r>
                          <a:rPr lang="en-US" altLang="zh-CN" sz="1400" b="0" i="1" smtClean="0">
                            <a:latin typeface="Cambria Math" panose="02040503050406030204" pitchFamily="18" charset="0"/>
                            <a:ea typeface="微软雅黑" panose="020B0503020204020204" pitchFamily="34" charset="-122"/>
                          </a:rPr>
                          <m:t>𝑛</m:t>
                        </m:r>
                      </m:e>
                      <m:sup>
                        <m:r>
                          <a:rPr lang="en-US" altLang="zh-CN" sz="1400" b="0" i="1" smtClean="0">
                            <a:latin typeface="Cambria Math" panose="02040503050406030204" pitchFamily="18" charset="0"/>
                            <a:ea typeface="微软雅黑" panose="020B0503020204020204" pitchFamily="34" charset="-122"/>
                          </a:rPr>
                          <m:t>2</m:t>
                        </m:r>
                      </m:sup>
                    </m:sSup>
                  </m:oMath>
                </a14:m>
                <a:r>
                  <a:rPr lang="zh-CN" altLang="en-US" sz="1400" dirty="0" smtClean="0">
                    <a:latin typeface="Arial" panose="020B0604020202020204" pitchFamily="34" charset="0"/>
                    <a:ea typeface="微软雅黑" panose="020B0503020204020204" pitchFamily="34" charset="-122"/>
                  </a:rPr>
                  <a:t>次</a:t>
                </a:r>
                <a:r>
                  <a:rPr lang="en-US" altLang="zh-CN" sz="1400" dirty="0" err="1" smtClean="0">
                    <a:latin typeface="Arial" panose="020B0604020202020204" pitchFamily="34" charset="0"/>
                    <a:ea typeface="微软雅黑" panose="020B0503020204020204" pitchFamily="34" charset="-122"/>
                  </a:rPr>
                  <a:t>bfs</a:t>
                </a:r>
                <a:r>
                  <a:rPr lang="zh-CN" altLang="en-US" sz="1400" dirty="0" smtClean="0">
                    <a:latin typeface="Arial" panose="020B0604020202020204" pitchFamily="34" charset="0"/>
                    <a:ea typeface="微软雅黑" panose="020B0503020204020204" pitchFamily="34" charset="-122"/>
                  </a:rPr>
                  <a:t>。</a:t>
                </a:r>
                <a:endParaRPr lang="en-US" altLang="zh-CN" sz="1400" dirty="0" smtClean="0">
                  <a:latin typeface="Arial" panose="020B0604020202020204" pitchFamily="34" charset="0"/>
                  <a:ea typeface="微软雅黑" panose="020B0503020204020204" pitchFamily="34"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4530437" y="1564110"/>
                <a:ext cx="6206443" cy="652486"/>
              </a:xfrm>
              <a:prstGeom prst="rect">
                <a:avLst/>
              </a:prstGeom>
              <a:blipFill>
                <a:blip r:embed="rId2"/>
                <a:stretch>
                  <a:fillRect l="-295" b="-4673"/>
                </a:stretch>
              </a:blipFill>
            </p:spPr>
            <p:txBody>
              <a:bodyPr/>
              <a:lstStyle/>
              <a:p>
                <a:r>
                  <a:rPr lang="zh-CN" altLang="en-US">
                    <a:noFill/>
                  </a:rPr>
                  <a:t> </a:t>
                </a:r>
              </a:p>
            </p:txBody>
          </p:sp>
        </mc:Fallback>
      </mc:AlternateContent>
      <p:pic>
        <p:nvPicPr>
          <p:cNvPr id="24" name="内容占位符 4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3654" y="2599928"/>
            <a:ext cx="1859441" cy="1511939"/>
          </a:xfrm>
          <a:prstGeom prst="rect">
            <a:avLst/>
          </a:prstGeom>
        </p:spPr>
      </p:pic>
      <p:pic>
        <p:nvPicPr>
          <p:cNvPr id="25" name="图片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4361" y="2210145"/>
            <a:ext cx="1615580" cy="1847248"/>
          </a:xfrm>
          <a:prstGeom prst="rect">
            <a:avLst/>
          </a:prstGeom>
        </p:spPr>
      </p:pic>
      <p:pic>
        <p:nvPicPr>
          <p:cNvPr id="26" name="图片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5736" y="2111860"/>
            <a:ext cx="1975275" cy="658425"/>
          </a:xfrm>
          <a:prstGeom prst="rect">
            <a:avLst/>
          </a:prstGeom>
        </p:spPr>
      </p:pic>
      <mc:AlternateContent xmlns:mc="http://schemas.openxmlformats.org/markup-compatibility/2006" xmlns:a14="http://schemas.microsoft.com/office/drawing/2010/main">
        <mc:Choice Requires="a14">
          <p:sp>
            <p:nvSpPr>
              <p:cNvPr id="27" name="文本框 26"/>
              <p:cNvSpPr txBox="1"/>
              <p:nvPr/>
            </p:nvSpPr>
            <p:spPr>
              <a:xfrm>
                <a:off x="5637058" y="2554639"/>
                <a:ext cx="179087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0      3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7</a:t>
                </a:r>
                <a:endParaRPr lang="zh-CN" altLang="en-US" sz="1400" dirty="0" smtClean="0">
                  <a:latin typeface="Arial" panose="020B0604020202020204" pitchFamily="34" charset="0"/>
                  <a:ea typeface="微软雅黑" panose="020B0503020204020204" pitchFamily="34" charset="-122"/>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5637058" y="2554639"/>
                <a:ext cx="1790875" cy="452432"/>
              </a:xfrm>
              <a:prstGeom prst="rect">
                <a:avLst/>
              </a:prstGeom>
              <a:blipFill>
                <a:blip r:embed="rId6"/>
                <a:stretch>
                  <a:fillRect l="-3072"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5644244" y="2908354"/>
                <a:ext cx="185499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8      0     2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28" name="文本框 27"/>
              <p:cNvSpPr txBox="1">
                <a:spLocks noRot="1" noChangeAspect="1" noMove="1" noResize="1" noEditPoints="1" noAdjustHandles="1" noChangeArrowheads="1" noChangeShapeType="1" noTextEdit="1"/>
              </p:cNvSpPr>
              <p:nvPr/>
            </p:nvSpPr>
            <p:spPr>
              <a:xfrm>
                <a:off x="5644244" y="2908354"/>
                <a:ext cx="1854995" cy="452432"/>
              </a:xfrm>
              <a:prstGeom prst="rect">
                <a:avLst/>
              </a:prstGeom>
              <a:blipFill>
                <a:blip r:embed="rId7"/>
                <a:stretch>
                  <a:fillRect l="-2961"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p:cNvSpPr txBox="1"/>
              <p:nvPr/>
            </p:nvSpPr>
            <p:spPr>
              <a:xfrm>
                <a:off x="5644244" y="3324739"/>
                <a:ext cx="1752403"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5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0       1</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29" name="文本框 28"/>
              <p:cNvSpPr txBox="1">
                <a:spLocks noRot="1" noChangeAspect="1" noMove="1" noResize="1" noEditPoints="1" noAdjustHandles="1" noChangeArrowheads="1" noChangeShapeType="1" noTextEdit="1"/>
              </p:cNvSpPr>
              <p:nvPr/>
            </p:nvSpPr>
            <p:spPr>
              <a:xfrm>
                <a:off x="5644244" y="3324739"/>
                <a:ext cx="1752403" cy="414985"/>
              </a:xfrm>
              <a:prstGeom prst="rect">
                <a:avLst/>
              </a:prstGeom>
              <a:blipFill>
                <a:blip r:embed="rId8"/>
                <a:stretch>
                  <a:fillRect l="-3136"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5644297" y="3705170"/>
                <a:ext cx="1781257"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0</a:t>
                </a:r>
                <a:endParaRPr lang="zh-CN" altLang="en-US" dirty="0" smtClean="0">
                  <a:latin typeface="Arial" panose="020B0604020202020204" pitchFamily="34" charset="0"/>
                  <a:ea typeface="微软雅黑" panose="020B0503020204020204" pitchFamily="34" charset="-122"/>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5644297" y="3705170"/>
                <a:ext cx="1781257" cy="452432"/>
              </a:xfrm>
              <a:prstGeom prst="rect">
                <a:avLst/>
              </a:prstGeom>
              <a:blipFill>
                <a:blip r:embed="rId9"/>
                <a:stretch>
                  <a:fillRect l="-3082" r="-2397" b="-135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95870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grpSp>
        <p:nvGrpSpPr>
          <p:cNvPr id="4" name="组合 3"/>
          <p:cNvGrpSpPr/>
          <p:nvPr/>
        </p:nvGrpSpPr>
        <p:grpSpPr>
          <a:xfrm>
            <a:off x="867912" y="1455962"/>
            <a:ext cx="3055332" cy="2919847"/>
            <a:chOff x="2029674" y="1361208"/>
            <a:chExt cx="3671472" cy="3508665"/>
          </a:xfrm>
        </p:grpSpPr>
        <p:sp>
          <p:nvSpPr>
            <p:cNvPr id="5" name="椭圆 4"/>
            <p:cNvSpPr/>
            <p:nvPr/>
          </p:nvSpPr>
          <p:spPr>
            <a:xfrm>
              <a:off x="2202873"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5015346"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202873"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8" name="椭圆 7"/>
            <p:cNvSpPr/>
            <p:nvPr/>
          </p:nvSpPr>
          <p:spPr>
            <a:xfrm>
              <a:off x="5015346"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9" name="曲线连接符 8"/>
            <p:cNvCxnSpPr>
              <a:stCxn id="5" idx="4"/>
              <a:endCxn id="6" idx="4"/>
            </p:cNvCxnSpPr>
            <p:nvPr/>
          </p:nvCxnSpPr>
          <p:spPr>
            <a:xfrm rot="16200000" flipH="1">
              <a:off x="3952009" y="9836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曲线连接符 9"/>
            <p:cNvCxnSpPr>
              <a:stCxn id="6" idx="0"/>
              <a:endCxn id="5" idx="0"/>
            </p:cNvCxnSpPr>
            <p:nvPr/>
          </p:nvCxnSpPr>
          <p:spPr>
            <a:xfrm rot="16200000" flipV="1">
              <a:off x="3952010" y="2978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p:nvPr/>
          </p:nvCxnSpPr>
          <p:spPr>
            <a:xfrm rot="5400000">
              <a:off x="962891" y="3286991"/>
              <a:ext cx="24799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曲线连接符 11"/>
            <p:cNvCxnSpPr>
              <a:stCxn id="7" idx="7"/>
              <a:endCxn id="5" idx="5"/>
            </p:cNvCxnSpPr>
            <p:nvPr/>
          </p:nvCxnSpPr>
          <p:spPr>
            <a:xfrm rot="5400000" flipH="1" flipV="1">
              <a:off x="1790725" y="3286991"/>
              <a:ext cx="199503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p:cNvCxnSpPr>
              <a:stCxn id="8" idx="2"/>
            </p:cNvCxnSpPr>
            <p:nvPr/>
          </p:nvCxnSpPr>
          <p:spPr>
            <a:xfrm rot="10800000" flipV="1">
              <a:off x="2895024" y="4526973"/>
              <a:ext cx="2120323" cy="63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8" idx="1"/>
              <a:endCxn id="5" idx="6"/>
            </p:cNvCxnSpPr>
            <p:nvPr/>
          </p:nvCxnSpPr>
          <p:spPr>
            <a:xfrm rot="16200000" flipV="1">
              <a:off x="2883478" y="2052205"/>
              <a:ext cx="2237497" cy="22271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6" idx="4"/>
              <a:endCxn id="8" idx="0"/>
            </p:cNvCxnSpPr>
            <p:nvPr/>
          </p:nvCxnSpPr>
          <p:spPr>
            <a:xfrm rot="5400000">
              <a:off x="4461164" y="3286991"/>
              <a:ext cx="17941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2029674" y="3148702"/>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7" name="圆角矩形 16"/>
            <p:cNvSpPr/>
            <p:nvPr/>
          </p:nvSpPr>
          <p:spPr>
            <a:xfrm>
              <a:off x="4375457" y="136120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18" name="圆角矩形 17"/>
            <p:cNvSpPr/>
            <p:nvPr/>
          </p:nvSpPr>
          <p:spPr>
            <a:xfrm>
              <a:off x="4662660" y="315476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9" name="圆角矩形 18"/>
            <p:cNvSpPr/>
            <p:nvPr/>
          </p:nvSpPr>
          <p:spPr>
            <a:xfrm>
              <a:off x="5265296" y="291721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0" name="圆角矩形 19"/>
            <p:cNvSpPr/>
            <p:nvPr/>
          </p:nvSpPr>
          <p:spPr>
            <a:xfrm>
              <a:off x="3658459" y="2502393"/>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1" name="圆角矩形 20"/>
            <p:cNvSpPr/>
            <p:nvPr/>
          </p:nvSpPr>
          <p:spPr>
            <a:xfrm>
              <a:off x="3859059" y="4412000"/>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2" name="圆角矩形 21"/>
            <p:cNvSpPr/>
            <p:nvPr/>
          </p:nvSpPr>
          <p:spPr>
            <a:xfrm>
              <a:off x="2652557" y="3215691"/>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p:pic>
        <p:nvPicPr>
          <p:cNvPr id="23" name="内容占位符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6535" y="699993"/>
            <a:ext cx="1859441" cy="1511939"/>
          </a:xfrm>
          <a:prstGeom prst="rect">
            <a:avLst/>
          </a:prstGeom>
        </p:spPr>
      </p:pic>
      <p:pic>
        <p:nvPicPr>
          <p:cNvPr id="24"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242" y="310210"/>
            <a:ext cx="1615580" cy="1847248"/>
          </a:xfrm>
          <a:prstGeom prst="rect">
            <a:avLst/>
          </a:prstGeom>
        </p:spPr>
      </p:pic>
      <mc:AlternateContent xmlns:mc="http://schemas.openxmlformats.org/markup-compatibility/2006" xmlns:a14="http://schemas.microsoft.com/office/drawing/2010/main">
        <mc:Choice Requires="a14">
          <p:sp>
            <p:nvSpPr>
              <p:cNvPr id="25" name="文本框 24"/>
              <p:cNvSpPr txBox="1"/>
              <p:nvPr/>
            </p:nvSpPr>
            <p:spPr>
              <a:xfrm>
                <a:off x="6699939" y="654704"/>
                <a:ext cx="179087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0      3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7</a:t>
                </a:r>
                <a:endParaRPr lang="zh-CN" altLang="en-US" sz="1400" dirty="0" smtClean="0">
                  <a:latin typeface="Arial" panose="020B0604020202020204" pitchFamily="34" charset="0"/>
                  <a:ea typeface="微软雅黑" panose="020B0503020204020204" pitchFamily="34" charset="-122"/>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6699939" y="654704"/>
                <a:ext cx="1790875" cy="452432"/>
              </a:xfrm>
              <a:prstGeom prst="rect">
                <a:avLst/>
              </a:prstGeom>
              <a:blipFill>
                <a:blip r:embed="rId4"/>
                <a:stretch>
                  <a:fillRect l="-2721"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6707125" y="1008419"/>
                <a:ext cx="185499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8      0     2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6707125" y="1008419"/>
                <a:ext cx="1854995" cy="452432"/>
              </a:xfrm>
              <a:prstGeom prst="rect">
                <a:avLst/>
              </a:prstGeom>
              <a:blipFill>
                <a:blip r:embed="rId5"/>
                <a:stretch>
                  <a:fillRect l="-2623"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6707125" y="1424804"/>
                <a:ext cx="1752403"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5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0       1</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6707125" y="1424804"/>
                <a:ext cx="1752403" cy="414985"/>
              </a:xfrm>
              <a:prstGeom prst="rect">
                <a:avLst/>
              </a:prstGeom>
              <a:blipFill>
                <a:blip r:embed="rId6"/>
                <a:stretch>
                  <a:fillRect l="-2778"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6707178" y="1805235"/>
                <a:ext cx="1781257"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0</a:t>
                </a:r>
                <a:endParaRPr lang="zh-CN" altLang="en-US" dirty="0" smtClean="0">
                  <a:latin typeface="Arial" panose="020B0604020202020204" pitchFamily="34" charset="0"/>
                  <a:ea typeface="微软雅黑" panose="020B0503020204020204" pitchFamily="34" charset="-122"/>
                </a:endParaRPr>
              </a:p>
            </p:txBody>
          </p:sp>
        </mc:Choice>
        <mc:Fallback xmlns="">
          <p:sp>
            <p:nvSpPr>
              <p:cNvPr id="28" name="文本框 27"/>
              <p:cNvSpPr txBox="1">
                <a:spLocks noRot="1" noChangeAspect="1" noMove="1" noResize="1" noEditPoints="1" noAdjustHandles="1" noChangeArrowheads="1" noChangeShapeType="1" noTextEdit="1"/>
              </p:cNvSpPr>
              <p:nvPr/>
            </p:nvSpPr>
            <p:spPr>
              <a:xfrm>
                <a:off x="6707178" y="1805235"/>
                <a:ext cx="1781257" cy="452432"/>
              </a:xfrm>
              <a:prstGeom prst="rect">
                <a:avLst/>
              </a:prstGeom>
              <a:blipFill>
                <a:blip r:embed="rId7"/>
                <a:stretch>
                  <a:fillRect l="-2740" r="-2740" b="-13514"/>
                </a:stretch>
              </a:blipFill>
            </p:spPr>
            <p:txBody>
              <a:bodyPr/>
              <a:lstStyle/>
              <a:p>
                <a:r>
                  <a:rPr lang="zh-CN" altLang="en-US">
                    <a:noFill/>
                  </a:rPr>
                  <a:t> </a:t>
                </a:r>
              </a:p>
            </p:txBody>
          </p:sp>
        </mc:Fallback>
      </mc:AlternateContent>
      <p:sp>
        <p:nvSpPr>
          <p:cNvPr id="29" name="文本框 28"/>
          <p:cNvSpPr txBox="1"/>
          <p:nvPr/>
        </p:nvSpPr>
        <p:spPr>
          <a:xfrm>
            <a:off x="4878410" y="2382113"/>
            <a:ext cx="4402167" cy="492443"/>
          </a:xfrm>
          <a:prstGeom prst="rect">
            <a:avLst/>
          </a:prstGeom>
          <a:noFill/>
        </p:spPr>
        <p:txBody>
          <a:bodyPr wrap="none" rtlCol="0">
            <a:spAutoFit/>
          </a:bodyPr>
          <a:lstStyle/>
          <a:p>
            <a:pPr>
              <a:lnSpc>
                <a:spcPct val="130000"/>
              </a:lnSpc>
            </a:pPr>
            <a:r>
              <a:rPr lang="zh-CN" altLang="en-US" sz="2000" dirty="0" smtClean="0">
                <a:latin typeface="Arial" panose="020B0604020202020204" pitchFamily="34" charset="0"/>
                <a:ea typeface="微软雅黑" panose="020B0503020204020204" pitchFamily="34" charset="-122"/>
              </a:rPr>
              <a:t>使用广度优先搜索寻找</a:t>
            </a:r>
            <a:r>
              <a:rPr lang="en-US" altLang="zh-CN" sz="2000" dirty="0" smtClean="0">
                <a:latin typeface="Arial" panose="020B0604020202020204" pitchFamily="34" charset="0"/>
                <a:ea typeface="微软雅黑" panose="020B0503020204020204" pitchFamily="34" charset="-122"/>
              </a:rPr>
              <a:t>1-4</a:t>
            </a:r>
            <a:r>
              <a:rPr lang="zh-CN" altLang="en-US" sz="2000" dirty="0" smtClean="0">
                <a:latin typeface="Arial" panose="020B0604020202020204" pitchFamily="34" charset="0"/>
                <a:ea typeface="微软雅黑" panose="020B0503020204020204" pitchFamily="34" charset="-122"/>
              </a:rPr>
              <a:t>的最短路径</a:t>
            </a:r>
          </a:p>
        </p:txBody>
      </p:sp>
      <p:sp>
        <p:nvSpPr>
          <p:cNvPr id="30" name="文本框 29"/>
          <p:cNvSpPr txBox="1"/>
          <p:nvPr/>
        </p:nvSpPr>
        <p:spPr>
          <a:xfrm>
            <a:off x="4536333" y="2899108"/>
            <a:ext cx="6311343" cy="2893100"/>
          </a:xfrm>
          <a:prstGeom prst="rect">
            <a:avLst/>
          </a:prstGeom>
          <a:noFill/>
        </p:spPr>
        <p:txBody>
          <a:bodyPr wrap="none" rtlCol="0">
            <a:spAutoFit/>
          </a:bodyPr>
          <a:lstStyle/>
          <a:p>
            <a:pPr>
              <a:lnSpc>
                <a:spcPct val="130000"/>
              </a:lnSpc>
            </a:pPr>
            <a:r>
              <a:rPr lang="en-US" altLang="zh-CN" sz="2000" b="1" dirty="0" smtClean="0">
                <a:latin typeface="Arial" panose="020B0604020202020204" pitchFamily="34" charset="0"/>
                <a:ea typeface="微软雅黑" panose="020B0503020204020204" pitchFamily="34" charset="-122"/>
              </a:rPr>
              <a:t>step_1:Distance{point(1), point(2)} = 3  </a:t>
            </a:r>
          </a:p>
          <a:p>
            <a:pPr>
              <a:lnSpc>
                <a:spcPct val="130000"/>
              </a:lnSpc>
            </a:pPr>
            <a:r>
              <a:rPr lang="en-US" altLang="zh-CN" sz="2000" b="1" dirty="0">
                <a:latin typeface="Arial" panose="020B0604020202020204" pitchFamily="34" charset="0"/>
                <a:ea typeface="微软雅黑" panose="020B0503020204020204" pitchFamily="34" charset="-122"/>
              </a:rPr>
              <a:t>	</a:t>
            </a:r>
            <a:r>
              <a:rPr lang="en-US" altLang="zh-CN" sz="2000" b="1" dirty="0" smtClean="0">
                <a:latin typeface="Arial" panose="020B0604020202020204" pitchFamily="34" charset="0"/>
                <a:ea typeface="微软雅黑" panose="020B0503020204020204" pitchFamily="34" charset="-122"/>
              </a:rPr>
              <a:t>Distance{point(1), point(4)} = 7  	</a:t>
            </a:r>
          </a:p>
          <a:p>
            <a:pPr>
              <a:lnSpc>
                <a:spcPct val="130000"/>
              </a:lnSpc>
            </a:pPr>
            <a:r>
              <a:rPr lang="en-US" altLang="zh-CN" sz="2000" b="1" dirty="0" smtClean="0">
                <a:latin typeface="Arial" panose="020B0604020202020204" pitchFamily="34" charset="0"/>
                <a:ea typeface="微软雅黑" panose="020B0503020204020204" pitchFamily="34" charset="-122"/>
              </a:rPr>
              <a:t>step_2:Distance{point(2), point(3)} = 2</a:t>
            </a:r>
          </a:p>
          <a:p>
            <a:pPr>
              <a:lnSpc>
                <a:spcPct val="130000"/>
              </a:lnSpc>
            </a:pPr>
            <a:r>
              <a:rPr lang="en-US" altLang="zh-CN" sz="2000" b="1" dirty="0" smtClean="0">
                <a:latin typeface="Arial" panose="020B0604020202020204" pitchFamily="34" charset="0"/>
                <a:ea typeface="微软雅黑" panose="020B0503020204020204" pitchFamily="34" charset="-122"/>
              </a:rPr>
              <a:t>step_3:Distance{point(3), point(4)} = 1</a:t>
            </a:r>
          </a:p>
          <a:p>
            <a:pPr>
              <a:lnSpc>
                <a:spcPct val="130000"/>
              </a:lnSpc>
            </a:pPr>
            <a:endParaRPr lang="en-US" altLang="zh-CN" sz="2000" b="1" dirty="0">
              <a:latin typeface="Arial" panose="020B0604020202020204" pitchFamily="34" charset="0"/>
              <a:ea typeface="微软雅黑" panose="020B0503020204020204" pitchFamily="34" charset="-122"/>
            </a:endParaRPr>
          </a:p>
          <a:p>
            <a:pPr>
              <a:lnSpc>
                <a:spcPct val="130000"/>
              </a:lnSpc>
            </a:pPr>
            <a:r>
              <a:rPr lang="en-US" altLang="zh-CN" sz="2000" b="1" dirty="0" err="1" smtClean="0">
                <a:latin typeface="Arial" panose="020B0604020202020204" pitchFamily="34" charset="0"/>
                <a:ea typeface="微软雅黑" panose="020B0503020204020204" pitchFamily="34" charset="-122"/>
              </a:rPr>
              <a:t>sum_distance</a:t>
            </a:r>
            <a:r>
              <a:rPr lang="en-US" altLang="zh-CN" sz="2000" b="1" dirty="0" smtClean="0">
                <a:latin typeface="Arial" panose="020B0604020202020204" pitchFamily="34" charset="0"/>
                <a:ea typeface="微软雅黑" panose="020B0503020204020204" pitchFamily="34" charset="-122"/>
              </a:rPr>
              <a:t> = 3+2+1 = 6</a:t>
            </a:r>
          </a:p>
          <a:p>
            <a:pPr>
              <a:lnSpc>
                <a:spcPct val="130000"/>
              </a:lnSpc>
            </a:pPr>
            <a:r>
              <a:rPr lang="en-US" altLang="zh-CN" sz="2000" b="1" dirty="0" smtClean="0">
                <a:latin typeface="Arial" panose="020B0604020202020204" pitchFamily="34" charset="0"/>
                <a:ea typeface="微软雅黑" panose="020B0503020204020204" pitchFamily="34" charset="-122"/>
              </a:rPr>
              <a:t>min{</a:t>
            </a:r>
            <a:r>
              <a:rPr lang="en-US" altLang="zh-CN" sz="2000" b="1" dirty="0" err="1" smtClean="0">
                <a:latin typeface="Arial" panose="020B0604020202020204" pitchFamily="34" charset="0"/>
                <a:ea typeface="微软雅黑" panose="020B0503020204020204" pitchFamily="34" charset="-122"/>
              </a:rPr>
              <a:t>sum_distance</a:t>
            </a:r>
            <a:r>
              <a:rPr lang="en-US" altLang="zh-CN" sz="2000" b="1" dirty="0" smtClean="0">
                <a:latin typeface="Arial" panose="020B0604020202020204" pitchFamily="34" charset="0"/>
                <a:ea typeface="微软雅黑" panose="020B0503020204020204" pitchFamily="34" charset="-122"/>
              </a:rPr>
              <a:t>, Distance{point(1), point(4)} = 6</a:t>
            </a:r>
            <a:endParaRPr lang="zh-CN" altLang="en-US" sz="2000" b="1" dirty="0" smtClean="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36559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40549" y="1497526"/>
            <a:ext cx="3055332" cy="2919847"/>
            <a:chOff x="2029674" y="1361208"/>
            <a:chExt cx="3671472" cy="3508665"/>
          </a:xfrm>
        </p:grpSpPr>
        <p:sp>
          <p:nvSpPr>
            <p:cNvPr id="5" name="椭圆 4"/>
            <p:cNvSpPr/>
            <p:nvPr/>
          </p:nvSpPr>
          <p:spPr>
            <a:xfrm>
              <a:off x="2202873"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5015346"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202873"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8" name="椭圆 7"/>
            <p:cNvSpPr/>
            <p:nvPr/>
          </p:nvSpPr>
          <p:spPr>
            <a:xfrm>
              <a:off x="5015346"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9" name="曲线连接符 8"/>
            <p:cNvCxnSpPr>
              <a:stCxn id="5" idx="4"/>
              <a:endCxn id="6" idx="4"/>
            </p:cNvCxnSpPr>
            <p:nvPr/>
          </p:nvCxnSpPr>
          <p:spPr>
            <a:xfrm rot="16200000" flipH="1">
              <a:off x="3952009" y="9836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曲线连接符 9"/>
            <p:cNvCxnSpPr>
              <a:stCxn id="6" idx="0"/>
              <a:endCxn id="5" idx="0"/>
            </p:cNvCxnSpPr>
            <p:nvPr/>
          </p:nvCxnSpPr>
          <p:spPr>
            <a:xfrm rot="16200000" flipV="1">
              <a:off x="3952010" y="2978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p:nvPr/>
          </p:nvCxnSpPr>
          <p:spPr>
            <a:xfrm rot="5400000">
              <a:off x="962891" y="3286991"/>
              <a:ext cx="24799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曲线连接符 11"/>
            <p:cNvCxnSpPr>
              <a:stCxn id="7" idx="7"/>
              <a:endCxn id="5" idx="5"/>
            </p:cNvCxnSpPr>
            <p:nvPr/>
          </p:nvCxnSpPr>
          <p:spPr>
            <a:xfrm rot="5400000" flipH="1" flipV="1">
              <a:off x="1790725" y="3286991"/>
              <a:ext cx="199503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p:cNvCxnSpPr>
              <a:stCxn id="8" idx="2"/>
            </p:cNvCxnSpPr>
            <p:nvPr/>
          </p:nvCxnSpPr>
          <p:spPr>
            <a:xfrm rot="10800000" flipV="1">
              <a:off x="2895024" y="4526973"/>
              <a:ext cx="2120323" cy="63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8" idx="1"/>
              <a:endCxn id="5" idx="6"/>
            </p:cNvCxnSpPr>
            <p:nvPr/>
          </p:nvCxnSpPr>
          <p:spPr>
            <a:xfrm rot="16200000" flipV="1">
              <a:off x="2883478" y="2052205"/>
              <a:ext cx="2237497" cy="22271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6" idx="4"/>
              <a:endCxn id="8" idx="0"/>
            </p:cNvCxnSpPr>
            <p:nvPr/>
          </p:nvCxnSpPr>
          <p:spPr>
            <a:xfrm rot="5400000">
              <a:off x="4461164" y="3286991"/>
              <a:ext cx="17941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2029674" y="3148702"/>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7" name="圆角矩形 16"/>
            <p:cNvSpPr/>
            <p:nvPr/>
          </p:nvSpPr>
          <p:spPr>
            <a:xfrm>
              <a:off x="4375457" y="136120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18" name="圆角矩形 17"/>
            <p:cNvSpPr/>
            <p:nvPr/>
          </p:nvSpPr>
          <p:spPr>
            <a:xfrm>
              <a:off x="4662660" y="315476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9" name="圆角矩形 18"/>
            <p:cNvSpPr/>
            <p:nvPr/>
          </p:nvSpPr>
          <p:spPr>
            <a:xfrm>
              <a:off x="5265296" y="291721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0" name="圆角矩形 19"/>
            <p:cNvSpPr/>
            <p:nvPr/>
          </p:nvSpPr>
          <p:spPr>
            <a:xfrm>
              <a:off x="3658459" y="2502393"/>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1" name="圆角矩形 20"/>
            <p:cNvSpPr/>
            <p:nvPr/>
          </p:nvSpPr>
          <p:spPr>
            <a:xfrm>
              <a:off x="3859059" y="4412000"/>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2" name="圆角矩形 21"/>
            <p:cNvSpPr/>
            <p:nvPr/>
          </p:nvSpPr>
          <p:spPr>
            <a:xfrm>
              <a:off x="2652557" y="3215691"/>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p:sp>
        <p:nvSpPr>
          <p:cNvPr id="23" name="文本框 22"/>
          <p:cNvSpPr txBox="1"/>
          <p:nvPr/>
        </p:nvSpPr>
        <p:spPr>
          <a:xfrm>
            <a:off x="3403073" y="74378"/>
            <a:ext cx="8494633" cy="2613023"/>
          </a:xfrm>
          <a:prstGeom prst="rect">
            <a:avLst/>
          </a:prstGeom>
          <a:noFill/>
        </p:spPr>
        <p:txBody>
          <a:bodyPr wrap="none" rtlCol="0">
            <a:spAutoFit/>
          </a:bodyPr>
          <a:lstStyle/>
          <a:p>
            <a:pPr>
              <a:lnSpc>
                <a:spcPct val="130000"/>
              </a:lnSpc>
            </a:pPr>
            <a:r>
              <a:rPr lang="zh-CN" altLang="en-US" dirty="0" smtClean="0">
                <a:latin typeface="仿宋" panose="02010609060101010101" pitchFamily="49" charset="-122"/>
                <a:ea typeface="仿宋" panose="02010609060101010101" pitchFamily="49" charset="-122"/>
              </a:rPr>
              <a:t>再来分析，</a:t>
            </a:r>
            <a:endParaRPr lang="en-US" altLang="zh-CN" dirty="0" smtClean="0">
              <a:latin typeface="仿宋" panose="02010609060101010101" pitchFamily="49" charset="-122"/>
              <a:ea typeface="仿宋" panose="02010609060101010101" pitchFamily="49" charset="-122"/>
            </a:endParaRPr>
          </a:p>
          <a:p>
            <a:pPr>
              <a:lnSpc>
                <a:spcPct val="130000"/>
              </a:lnSpc>
            </a:pPr>
            <a:r>
              <a:rPr lang="zh-CN" altLang="en-US" dirty="0" smtClean="0">
                <a:latin typeface="仿宋" panose="02010609060101010101" pitchFamily="49" charset="-122"/>
                <a:ea typeface="仿宋" panose="02010609060101010101" pitchFamily="49" charset="-122"/>
              </a:rPr>
              <a:t>假设，只有两个点，且这两点之间仅有一条单向线路，那么这条线路即是最短路径</a:t>
            </a:r>
            <a:endParaRPr lang="en-US" altLang="zh-CN" dirty="0" smtClean="0">
              <a:latin typeface="仿宋" panose="02010609060101010101" pitchFamily="49" charset="-122"/>
              <a:ea typeface="仿宋" panose="02010609060101010101" pitchFamily="49" charset="-122"/>
            </a:endParaRPr>
          </a:p>
          <a:p>
            <a:pPr>
              <a:lnSpc>
                <a:spcPct val="130000"/>
              </a:lnSpc>
            </a:pPr>
            <a:r>
              <a:rPr lang="zh-CN" altLang="en-US" dirty="0" smtClean="0">
                <a:latin typeface="仿宋" panose="02010609060101010101" pitchFamily="49" charset="-122"/>
                <a:ea typeface="仿宋" panose="02010609060101010101" pitchFamily="49" charset="-122"/>
              </a:rPr>
              <a:t>假设，有三个点，求</a:t>
            </a:r>
            <a:r>
              <a:rPr lang="en-US" altLang="zh-CN" dirty="0" smtClean="0">
                <a:latin typeface="仿宋" panose="02010609060101010101" pitchFamily="49" charset="-122"/>
                <a:ea typeface="仿宋" panose="02010609060101010101" pitchFamily="49" charset="-122"/>
              </a:rPr>
              <a:t>0,2</a:t>
            </a:r>
            <a:r>
              <a:rPr lang="zh-CN" altLang="en-US" dirty="0" smtClean="0">
                <a:latin typeface="仿宋" panose="02010609060101010101" pitchFamily="49" charset="-122"/>
                <a:ea typeface="仿宋" panose="02010609060101010101" pitchFamily="49" charset="-122"/>
              </a:rPr>
              <a:t>之间最短距离为</a:t>
            </a:r>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smtClean="0">
                <a:latin typeface="仿宋" panose="02010609060101010101" pitchFamily="49" charset="-122"/>
                <a:ea typeface="仿宋" panose="02010609060101010101" pitchFamily="49" charset="-122"/>
              </a:rPr>
              <a:t>min{</a:t>
            </a:r>
          </a:p>
          <a:p>
            <a:pPr>
              <a:lnSpc>
                <a:spcPct val="130000"/>
              </a:lnSpc>
            </a:pPr>
            <a:r>
              <a:rPr lang="en-US" altLang="zh-CN" dirty="0">
                <a:latin typeface="仿宋" panose="02010609060101010101" pitchFamily="49" charset="-122"/>
                <a:ea typeface="仿宋" panose="02010609060101010101" pitchFamily="49" charset="-122"/>
              </a:rPr>
              <a:t>	</a:t>
            </a:r>
            <a:r>
              <a:rPr lang="en-US" altLang="zh-CN" dirty="0" smtClean="0">
                <a:latin typeface="仿宋" panose="02010609060101010101" pitchFamily="49" charset="-122"/>
                <a:ea typeface="仿宋" panose="02010609060101010101" pitchFamily="49" charset="-122"/>
              </a:rPr>
              <a:t>Distance{point(0), point(1)}+Distance{point(1), point(2</a:t>
            </a:r>
            <a:r>
              <a:rPr lang="en-US" altLang="zh-CN" dirty="0" smtClean="0">
                <a:latin typeface="仿宋" panose="02010609060101010101" pitchFamily="49" charset="-122"/>
                <a:ea typeface="仿宋" panose="02010609060101010101" pitchFamily="49" charset="-122"/>
              </a:rPr>
              <a:t>)}=4, </a:t>
            </a:r>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a:latin typeface="仿宋" panose="02010609060101010101" pitchFamily="49" charset="-122"/>
                <a:ea typeface="仿宋" panose="02010609060101010101" pitchFamily="49" charset="-122"/>
              </a:rPr>
              <a:t>	</a:t>
            </a:r>
            <a:r>
              <a:rPr lang="en-US" altLang="zh-CN" dirty="0" smtClean="0">
                <a:latin typeface="仿宋" panose="02010609060101010101" pitchFamily="49" charset="-122"/>
                <a:ea typeface="仿宋" panose="02010609060101010101" pitchFamily="49" charset="-122"/>
              </a:rPr>
              <a:t>Distance{point(0), point(2</a:t>
            </a:r>
            <a:r>
              <a:rPr lang="en-US" altLang="zh-CN" dirty="0" smtClean="0">
                <a:latin typeface="仿宋" panose="02010609060101010101" pitchFamily="49" charset="-122"/>
                <a:ea typeface="仿宋" panose="02010609060101010101" pitchFamily="49" charset="-122"/>
              </a:rPr>
              <a:t>)}=5</a:t>
            </a:r>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smtClean="0">
                <a:latin typeface="仿宋" panose="02010609060101010101" pitchFamily="49" charset="-122"/>
                <a:ea typeface="仿宋" panose="02010609060101010101" pitchFamily="49" charset="-122"/>
              </a:rPr>
              <a:t>} = 4</a:t>
            </a:r>
          </a:p>
        </p:txBody>
      </p:sp>
      <p:grpSp>
        <p:nvGrpSpPr>
          <p:cNvPr id="24" name="组合 23"/>
          <p:cNvGrpSpPr/>
          <p:nvPr/>
        </p:nvGrpSpPr>
        <p:grpSpPr>
          <a:xfrm>
            <a:off x="9847630" y="1917067"/>
            <a:ext cx="2098081" cy="1275511"/>
            <a:chOff x="3325368" y="1682496"/>
            <a:chExt cx="4322064" cy="2627564"/>
          </a:xfrm>
        </p:grpSpPr>
        <p:sp>
          <p:nvSpPr>
            <p:cNvPr id="25" name="椭圆 24"/>
            <p:cNvSpPr/>
            <p:nvPr/>
          </p:nvSpPr>
          <p:spPr>
            <a:xfrm>
              <a:off x="5221224" y="1682496"/>
              <a:ext cx="676656" cy="67665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smtClean="0"/>
                <a:t>V1</a:t>
              </a:r>
              <a:endParaRPr lang="zh-CN" altLang="en-US" sz="1050" dirty="0"/>
            </a:p>
          </p:txBody>
        </p:sp>
        <p:sp>
          <p:nvSpPr>
            <p:cNvPr id="26" name="椭圆 25"/>
            <p:cNvSpPr/>
            <p:nvPr/>
          </p:nvSpPr>
          <p:spPr>
            <a:xfrm>
              <a:off x="3325368" y="3617976"/>
              <a:ext cx="676656" cy="67665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V0</a:t>
              </a:r>
              <a:endParaRPr lang="zh-CN" altLang="en-US" dirty="0"/>
            </a:p>
          </p:txBody>
        </p:sp>
        <p:sp>
          <p:nvSpPr>
            <p:cNvPr id="27" name="椭圆 26"/>
            <p:cNvSpPr/>
            <p:nvPr/>
          </p:nvSpPr>
          <p:spPr>
            <a:xfrm>
              <a:off x="6970776" y="3617976"/>
              <a:ext cx="676656" cy="67665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V2</a:t>
              </a:r>
              <a:endParaRPr lang="zh-CN" altLang="en-US" dirty="0"/>
            </a:p>
          </p:txBody>
        </p:sp>
        <p:cxnSp>
          <p:nvCxnSpPr>
            <p:cNvPr id="28" name="直接箭头连接符 27"/>
            <p:cNvCxnSpPr>
              <a:endCxn id="25" idx="3"/>
            </p:cNvCxnSpPr>
            <p:nvPr/>
          </p:nvCxnSpPr>
          <p:spPr>
            <a:xfrm flipV="1">
              <a:off x="3931920" y="2260058"/>
              <a:ext cx="1388398" cy="1452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endCxn id="27" idx="0"/>
            </p:cNvCxnSpPr>
            <p:nvPr/>
          </p:nvCxnSpPr>
          <p:spPr>
            <a:xfrm>
              <a:off x="5897880" y="2029968"/>
              <a:ext cx="1411224" cy="1588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27" idx="2"/>
            </p:cNvCxnSpPr>
            <p:nvPr/>
          </p:nvCxnSpPr>
          <p:spPr>
            <a:xfrm>
              <a:off x="4032504" y="3956304"/>
              <a:ext cx="2938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圆角矩形 30"/>
            <p:cNvSpPr/>
            <p:nvPr/>
          </p:nvSpPr>
          <p:spPr>
            <a:xfrm>
              <a:off x="4215384" y="2752344"/>
              <a:ext cx="410735" cy="233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t>1</a:t>
              </a:r>
              <a:endParaRPr lang="zh-CN" altLang="en-US" sz="1400" dirty="0"/>
            </a:p>
          </p:txBody>
        </p:sp>
        <p:sp>
          <p:nvSpPr>
            <p:cNvPr id="32" name="圆角矩形 31"/>
            <p:cNvSpPr/>
            <p:nvPr/>
          </p:nvSpPr>
          <p:spPr>
            <a:xfrm>
              <a:off x="6899114" y="2752344"/>
              <a:ext cx="410735" cy="233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3</a:t>
              </a:r>
              <a:endParaRPr lang="zh-CN" altLang="en-US" sz="1400" dirty="0"/>
            </a:p>
          </p:txBody>
        </p:sp>
        <p:sp>
          <p:nvSpPr>
            <p:cNvPr id="33" name="圆角矩形 32"/>
            <p:cNvSpPr/>
            <p:nvPr/>
          </p:nvSpPr>
          <p:spPr>
            <a:xfrm>
              <a:off x="5320318" y="4076143"/>
              <a:ext cx="410735" cy="23391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5</a:t>
              </a:r>
              <a:endParaRPr lang="zh-CN" altLang="en-US" sz="1400" dirty="0"/>
            </a:p>
          </p:txBody>
        </p:sp>
      </p:grpSp>
      <p:sp>
        <p:nvSpPr>
          <p:cNvPr id="34" name="文本框 33"/>
          <p:cNvSpPr txBox="1"/>
          <p:nvPr/>
        </p:nvSpPr>
        <p:spPr>
          <a:xfrm>
            <a:off x="3371143" y="2569498"/>
            <a:ext cx="4685898" cy="812530"/>
          </a:xfrm>
          <a:prstGeom prst="rect">
            <a:avLst/>
          </a:prstGeom>
          <a:noFill/>
        </p:spPr>
        <p:txBody>
          <a:bodyPr wrap="none" rtlCol="0">
            <a:spAutoFit/>
          </a:bodyPr>
          <a:lstStyle/>
          <a:p>
            <a:pPr>
              <a:lnSpc>
                <a:spcPct val="130000"/>
              </a:lnSpc>
            </a:pPr>
            <a:r>
              <a:rPr lang="zh-CN" altLang="en-US" dirty="0" smtClean="0">
                <a:latin typeface="仿宋" panose="02010609060101010101" pitchFamily="49" charset="-122"/>
                <a:ea typeface="仿宋" panose="02010609060101010101" pitchFamily="49" charset="-122"/>
              </a:rPr>
              <a:t>假设，有四个点，求</a:t>
            </a:r>
            <a:r>
              <a:rPr lang="en-US" altLang="zh-CN" dirty="0" smtClean="0">
                <a:latin typeface="仿宋" panose="02010609060101010101" pitchFamily="49" charset="-122"/>
                <a:ea typeface="仿宋" panose="02010609060101010101" pitchFamily="49" charset="-122"/>
              </a:rPr>
              <a:t>1,4</a:t>
            </a:r>
            <a:r>
              <a:rPr lang="zh-CN" altLang="en-US" dirty="0" smtClean="0">
                <a:latin typeface="仿宋" panose="02010609060101010101" pitchFamily="49" charset="-122"/>
                <a:ea typeface="仿宋" panose="02010609060101010101" pitchFamily="49" charset="-122"/>
              </a:rPr>
              <a:t>之间的最短距离为</a:t>
            </a:r>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smtClean="0">
                <a:latin typeface="仿宋" panose="02010609060101010101" pitchFamily="49" charset="-122"/>
                <a:ea typeface="仿宋" panose="02010609060101010101" pitchFamily="49" charset="-122"/>
              </a:rPr>
              <a:t>step_1:Distance{point(1), point(4)} = 7</a:t>
            </a:r>
          </a:p>
        </p:txBody>
      </p:sp>
      <mc:AlternateContent xmlns:mc="http://schemas.openxmlformats.org/markup-compatibility/2006" xmlns:a14="http://schemas.microsoft.com/office/drawing/2010/main">
        <mc:Choice Requires="a14">
          <p:sp>
            <p:nvSpPr>
              <p:cNvPr id="35" name="文本框 34"/>
              <p:cNvSpPr txBox="1"/>
              <p:nvPr/>
            </p:nvSpPr>
            <p:spPr>
              <a:xfrm>
                <a:off x="3420705" y="3382028"/>
                <a:ext cx="8459367" cy="1532727"/>
              </a:xfrm>
              <a:prstGeom prst="rect">
                <a:avLst/>
              </a:prstGeom>
              <a:noFill/>
            </p:spPr>
            <p:txBody>
              <a:bodyPr wrap="none" rtlCol="0">
                <a:spAutoFit/>
              </a:bodyPr>
              <a:lstStyle/>
              <a:p>
                <a:pPr>
                  <a:lnSpc>
                    <a:spcPct val="130000"/>
                  </a:lnSpc>
                </a:pPr>
                <a:r>
                  <a:rPr lang="zh-CN" altLang="en-US" dirty="0" smtClean="0">
                    <a:latin typeface="仿宋" panose="02010609060101010101" pitchFamily="49" charset="-122"/>
                    <a:ea typeface="仿宋" panose="02010609060101010101" pitchFamily="49" charset="-122"/>
                  </a:rPr>
                  <a:t>允许通过一个点来尝试减小距离</a:t>
                </a:r>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smtClean="0">
                    <a:latin typeface="仿宋" panose="02010609060101010101" pitchFamily="49" charset="-122"/>
                    <a:ea typeface="仿宋" panose="02010609060101010101" pitchFamily="49" charset="-122"/>
                  </a:rPr>
                  <a:t>step_2:Distance{point(1), point(2)} + Distance{point(2), point(4)} =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a:latin typeface="仿宋" panose="02010609060101010101" pitchFamily="49" charset="-122"/>
                    <a:ea typeface="仿宋" panose="02010609060101010101" pitchFamily="49" charset="-122"/>
                  </a:rPr>
                  <a:t>	</a:t>
                </a:r>
                <a:r>
                  <a:rPr lang="en-US" altLang="zh-CN" dirty="0" smtClean="0">
                    <a:latin typeface="仿宋" panose="02010609060101010101" pitchFamily="49" charset="-122"/>
                    <a:ea typeface="仿宋" panose="02010609060101010101" pitchFamily="49" charset="-122"/>
                  </a:rPr>
                  <a:t>Distance{point(1), point(3)} + Distance{point(3), point(4)} =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smtClean="0">
                    <a:latin typeface="仿宋" panose="02010609060101010101" pitchFamily="49" charset="-122"/>
                    <a:ea typeface="仿宋" panose="02010609060101010101" pitchFamily="49" charset="-122"/>
                  </a:rPr>
                  <a:t>min{</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latin typeface="仿宋" panose="02010609060101010101" pitchFamily="49" charset="-122"/>
                    <a:ea typeface="仿宋" panose="02010609060101010101" pitchFamily="49" charset="-122"/>
                  </a:rPr>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latin typeface="仿宋" panose="02010609060101010101" pitchFamily="49" charset="-122"/>
                    <a:ea typeface="仿宋" panose="02010609060101010101" pitchFamily="49" charset="-122"/>
                  </a:rPr>
                  <a:t>, 7} = 7</a:t>
                </a:r>
                <a:endParaRPr lang="zh-CN" altLang="en-US" dirty="0" smtClean="0">
                  <a:latin typeface="Arial" panose="020B0604020202020204" pitchFamily="34" charset="0"/>
                  <a:ea typeface="微软雅黑" panose="020B0503020204020204" pitchFamily="34" charset="-122"/>
                </a:endParaRPr>
              </a:p>
            </p:txBody>
          </p:sp>
        </mc:Choice>
        <mc:Fallback xmlns="">
          <p:sp>
            <p:nvSpPr>
              <p:cNvPr id="35" name="文本框 34"/>
              <p:cNvSpPr txBox="1">
                <a:spLocks noRot="1" noChangeAspect="1" noMove="1" noResize="1" noEditPoints="1" noAdjustHandles="1" noChangeArrowheads="1" noChangeShapeType="1" noTextEdit="1"/>
              </p:cNvSpPr>
              <p:nvPr/>
            </p:nvSpPr>
            <p:spPr>
              <a:xfrm>
                <a:off x="3420705" y="3382028"/>
                <a:ext cx="8459367" cy="1532727"/>
              </a:xfrm>
              <a:prstGeom prst="rect">
                <a:avLst/>
              </a:prstGeom>
              <a:blipFill>
                <a:blip r:embed="rId2"/>
                <a:stretch>
                  <a:fillRect l="-576" t="-398" b="-1992"/>
                </a:stretch>
              </a:blipFill>
            </p:spPr>
            <p:txBody>
              <a:bodyPr/>
              <a:lstStyle/>
              <a:p>
                <a:r>
                  <a:rPr lang="zh-CN" altLang="en-US">
                    <a:noFill/>
                  </a:rPr>
                  <a:t> </a:t>
                </a:r>
              </a:p>
            </p:txBody>
          </p:sp>
        </mc:Fallback>
      </mc:AlternateContent>
      <p:sp>
        <p:nvSpPr>
          <p:cNvPr id="36" name="文本框 35"/>
          <p:cNvSpPr txBox="1"/>
          <p:nvPr/>
        </p:nvSpPr>
        <p:spPr>
          <a:xfrm>
            <a:off x="3371143" y="4800600"/>
            <a:ext cx="5032147" cy="1892826"/>
          </a:xfrm>
          <a:prstGeom prst="rect">
            <a:avLst/>
          </a:prstGeom>
          <a:noFill/>
        </p:spPr>
        <p:txBody>
          <a:bodyPr wrap="none" rtlCol="0">
            <a:spAutoFit/>
          </a:bodyPr>
          <a:lstStyle/>
          <a:p>
            <a:pPr>
              <a:lnSpc>
                <a:spcPct val="130000"/>
              </a:lnSpc>
            </a:pPr>
            <a:r>
              <a:rPr lang="zh-CN" altLang="en-US" dirty="0" smtClean="0">
                <a:latin typeface="仿宋" panose="02010609060101010101" pitchFamily="49" charset="-122"/>
                <a:ea typeface="仿宋" panose="02010609060101010101" pitchFamily="49" charset="-122"/>
              </a:rPr>
              <a:t>允许通过两个点来尝试减小距离</a:t>
            </a:r>
            <a:endParaRPr lang="en-US" altLang="zh-CN" dirty="0" smtClean="0">
              <a:latin typeface="仿宋" panose="02010609060101010101" pitchFamily="49" charset="-122"/>
              <a:ea typeface="仿宋" panose="02010609060101010101" pitchFamily="49" charset="-122"/>
            </a:endParaRPr>
          </a:p>
          <a:p>
            <a:pPr>
              <a:lnSpc>
                <a:spcPct val="130000"/>
              </a:lnSpc>
            </a:pPr>
            <a:r>
              <a:rPr lang="en-US" altLang="zh-CN" dirty="0" smtClean="0">
                <a:latin typeface="仿宋" panose="02010609060101010101" pitchFamily="49" charset="-122"/>
                <a:ea typeface="仿宋" panose="02010609060101010101" pitchFamily="49" charset="-122"/>
              </a:rPr>
              <a:t>step_3:Distance{point(1), point(2)}</a:t>
            </a:r>
          </a:p>
          <a:p>
            <a:pPr>
              <a:lnSpc>
                <a:spcPct val="130000"/>
              </a:lnSpc>
            </a:pPr>
            <a:r>
              <a:rPr lang="en-US" altLang="zh-CN" dirty="0" smtClean="0">
                <a:latin typeface="仿宋" panose="02010609060101010101" pitchFamily="49" charset="-122"/>
                <a:ea typeface="仿宋" panose="02010609060101010101" pitchFamily="49" charset="-122"/>
              </a:rPr>
              <a:t>	+ Distance{point(2), point(3)}</a:t>
            </a:r>
          </a:p>
          <a:p>
            <a:pPr>
              <a:lnSpc>
                <a:spcPct val="130000"/>
              </a:lnSpc>
            </a:pPr>
            <a:r>
              <a:rPr lang="en-US" altLang="zh-CN" dirty="0" smtClean="0">
                <a:latin typeface="仿宋" panose="02010609060101010101" pitchFamily="49" charset="-122"/>
                <a:ea typeface="仿宋" panose="02010609060101010101" pitchFamily="49" charset="-122"/>
              </a:rPr>
              <a:t>	+ Distance{point(3), point(4)} = 6</a:t>
            </a:r>
          </a:p>
          <a:p>
            <a:pPr>
              <a:lnSpc>
                <a:spcPct val="130000"/>
              </a:lnSpc>
            </a:pPr>
            <a:r>
              <a:rPr lang="en-US" altLang="zh-CN" dirty="0" smtClean="0">
                <a:latin typeface="仿宋" panose="02010609060101010101" pitchFamily="49" charset="-122"/>
                <a:ea typeface="仿宋" panose="02010609060101010101" pitchFamily="49" charset="-122"/>
              </a:rPr>
              <a:t>min{6, 7} = 6</a:t>
            </a:r>
          </a:p>
        </p:txBody>
      </p:sp>
      <p:sp>
        <p:nvSpPr>
          <p:cNvPr id="37" name="文本框 36"/>
          <p:cNvSpPr txBox="1"/>
          <p:nvPr/>
        </p:nvSpPr>
        <p:spPr>
          <a:xfrm>
            <a:off x="3371143" y="6492762"/>
            <a:ext cx="5955476" cy="401328"/>
          </a:xfrm>
          <a:prstGeom prst="rect">
            <a:avLst/>
          </a:prstGeom>
          <a:noFill/>
        </p:spPr>
        <p:txBody>
          <a:bodyPr wrap="none" rtlCol="0">
            <a:spAutoFit/>
          </a:bodyPr>
          <a:lstStyle/>
          <a:p>
            <a:pPr>
              <a:lnSpc>
                <a:spcPct val="130000"/>
              </a:lnSpc>
            </a:pPr>
            <a:r>
              <a:rPr lang="zh-CN" altLang="en-US" dirty="0" smtClean="0">
                <a:latin typeface="仿宋" panose="02010609060101010101" pitchFamily="49" charset="-122"/>
                <a:ea typeface="仿宋" panose="02010609060101010101" pitchFamily="49" charset="-122"/>
              </a:rPr>
              <a:t>得到最终结果 </a:t>
            </a:r>
            <a:r>
              <a:rPr lang="en-US" altLang="zh-CN" dirty="0" smtClean="0">
                <a:latin typeface="仿宋" panose="02010609060101010101" pitchFamily="49" charset="-122"/>
                <a:ea typeface="仿宋" panose="02010609060101010101" pitchFamily="49" charset="-122"/>
              </a:rPr>
              <a:t>min{Distance{point(1), point(4)}} = 7</a:t>
            </a:r>
          </a:p>
        </p:txBody>
      </p:sp>
    </p:spTree>
    <p:extLst>
      <p:ext uri="{BB962C8B-B14F-4D97-AF65-F5344CB8AC3E}">
        <p14:creationId xmlns:p14="http://schemas.microsoft.com/office/powerpoint/2010/main" val="2302683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4" grpId="0"/>
      <p:bldP spid="35" grpId="0"/>
      <p:bldP spid="36" grpId="0"/>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26080" y="988995"/>
            <a:ext cx="3055332" cy="2919847"/>
            <a:chOff x="2029674" y="1361208"/>
            <a:chExt cx="3671472" cy="3508665"/>
          </a:xfrm>
        </p:grpSpPr>
        <p:sp>
          <p:nvSpPr>
            <p:cNvPr id="5" name="椭圆 4"/>
            <p:cNvSpPr/>
            <p:nvPr/>
          </p:nvSpPr>
          <p:spPr>
            <a:xfrm>
              <a:off x="2202873"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5015346"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2202873"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8" name="椭圆 7"/>
            <p:cNvSpPr/>
            <p:nvPr/>
          </p:nvSpPr>
          <p:spPr>
            <a:xfrm>
              <a:off x="5015346"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9" name="曲线连接符 8"/>
            <p:cNvCxnSpPr>
              <a:stCxn id="5" idx="4"/>
              <a:endCxn id="6" idx="4"/>
            </p:cNvCxnSpPr>
            <p:nvPr/>
          </p:nvCxnSpPr>
          <p:spPr>
            <a:xfrm rot="16200000" flipH="1">
              <a:off x="3952009" y="9836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曲线连接符 9"/>
            <p:cNvCxnSpPr>
              <a:stCxn id="6" idx="0"/>
              <a:endCxn id="5" idx="0"/>
            </p:cNvCxnSpPr>
            <p:nvPr/>
          </p:nvCxnSpPr>
          <p:spPr>
            <a:xfrm rot="16200000" flipV="1">
              <a:off x="3952010" y="2978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p:nvPr/>
          </p:nvCxnSpPr>
          <p:spPr>
            <a:xfrm rot="5400000">
              <a:off x="962891" y="3286991"/>
              <a:ext cx="24799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曲线连接符 11"/>
            <p:cNvCxnSpPr>
              <a:stCxn id="7" idx="7"/>
              <a:endCxn id="5" idx="5"/>
            </p:cNvCxnSpPr>
            <p:nvPr/>
          </p:nvCxnSpPr>
          <p:spPr>
            <a:xfrm rot="5400000" flipH="1" flipV="1">
              <a:off x="1790725" y="3286991"/>
              <a:ext cx="199503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p:cNvCxnSpPr>
              <a:stCxn id="8" idx="2"/>
            </p:cNvCxnSpPr>
            <p:nvPr/>
          </p:nvCxnSpPr>
          <p:spPr>
            <a:xfrm rot="10800000" flipV="1">
              <a:off x="2895024" y="4526973"/>
              <a:ext cx="2120323" cy="63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8" idx="1"/>
              <a:endCxn id="5" idx="6"/>
            </p:cNvCxnSpPr>
            <p:nvPr/>
          </p:nvCxnSpPr>
          <p:spPr>
            <a:xfrm rot="16200000" flipV="1">
              <a:off x="2883478" y="2052205"/>
              <a:ext cx="2237497" cy="22271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6" idx="4"/>
              <a:endCxn id="8" idx="0"/>
            </p:cNvCxnSpPr>
            <p:nvPr/>
          </p:nvCxnSpPr>
          <p:spPr>
            <a:xfrm rot="5400000">
              <a:off x="4461164" y="3286991"/>
              <a:ext cx="17941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2029674" y="3148702"/>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7" name="圆角矩形 16"/>
            <p:cNvSpPr/>
            <p:nvPr/>
          </p:nvSpPr>
          <p:spPr>
            <a:xfrm>
              <a:off x="4375457" y="136120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18" name="圆角矩形 17"/>
            <p:cNvSpPr/>
            <p:nvPr/>
          </p:nvSpPr>
          <p:spPr>
            <a:xfrm>
              <a:off x="4662660" y="315476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9" name="圆角矩形 18"/>
            <p:cNvSpPr/>
            <p:nvPr/>
          </p:nvSpPr>
          <p:spPr>
            <a:xfrm>
              <a:off x="5265296" y="291721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0" name="圆角矩形 19"/>
            <p:cNvSpPr/>
            <p:nvPr/>
          </p:nvSpPr>
          <p:spPr>
            <a:xfrm>
              <a:off x="3658459" y="2502393"/>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1" name="圆角矩形 20"/>
            <p:cNvSpPr/>
            <p:nvPr/>
          </p:nvSpPr>
          <p:spPr>
            <a:xfrm>
              <a:off x="3859059" y="4412000"/>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2" name="圆角矩形 21"/>
            <p:cNvSpPr/>
            <p:nvPr/>
          </p:nvSpPr>
          <p:spPr>
            <a:xfrm>
              <a:off x="2652557" y="3215691"/>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p:sp>
        <p:nvSpPr>
          <p:cNvPr id="23" name="文本框 22"/>
          <p:cNvSpPr txBox="1"/>
          <p:nvPr/>
        </p:nvSpPr>
        <p:spPr>
          <a:xfrm>
            <a:off x="4094018" y="207818"/>
            <a:ext cx="5530681" cy="401328"/>
          </a:xfrm>
          <a:prstGeom prst="rect">
            <a:avLst/>
          </a:prstGeom>
          <a:noFill/>
        </p:spPr>
        <p:txBody>
          <a:bodyPr wrap="none" rtlCol="0">
            <a:spAutoFit/>
          </a:bodyPr>
          <a:lstStyle/>
          <a:p>
            <a:pPr>
              <a:lnSpc>
                <a:spcPct val="130000"/>
              </a:lnSpc>
            </a:pPr>
            <a:r>
              <a:rPr lang="zh-CN" altLang="en-US" b="1" dirty="0" smtClean="0">
                <a:latin typeface="仿宋" panose="02010609060101010101" pitchFamily="49" charset="-122"/>
                <a:ea typeface="仿宋" panose="02010609060101010101" pitchFamily="49" charset="-122"/>
              </a:rPr>
              <a:t>依然是这个图，我们尝试将所有的最短路径都算出来</a:t>
            </a:r>
          </a:p>
        </p:txBody>
      </p:sp>
      <p:pic>
        <p:nvPicPr>
          <p:cNvPr id="27" name="内容占位符 4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5705" y="1097660"/>
            <a:ext cx="1859441" cy="1511939"/>
          </a:xfrm>
        </p:spPr>
      </p:pic>
      <p:pic>
        <p:nvPicPr>
          <p:cNvPr id="28" name="图片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6412" y="707877"/>
            <a:ext cx="1615580" cy="1847248"/>
          </a:xfrm>
          <a:prstGeom prst="rect">
            <a:avLst/>
          </a:prstGeom>
        </p:spPr>
      </p:pic>
      <p:pic>
        <p:nvPicPr>
          <p:cNvPr id="29" name="图片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7787" y="609592"/>
            <a:ext cx="1975275" cy="658425"/>
          </a:xfrm>
          <a:prstGeom prst="rect">
            <a:avLst/>
          </a:prstGeom>
        </p:spPr>
      </p:pic>
      <mc:AlternateContent xmlns:mc="http://schemas.openxmlformats.org/markup-compatibility/2006" xmlns:a14="http://schemas.microsoft.com/office/drawing/2010/main">
        <mc:Choice Requires="a14">
          <p:sp>
            <p:nvSpPr>
              <p:cNvPr id="30" name="文本框 29"/>
              <p:cNvSpPr txBox="1"/>
              <p:nvPr/>
            </p:nvSpPr>
            <p:spPr>
              <a:xfrm>
                <a:off x="4899109" y="1052371"/>
                <a:ext cx="179087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0      3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7</a:t>
                </a:r>
                <a:endParaRPr lang="zh-CN" altLang="en-US" sz="1400" dirty="0" smtClean="0">
                  <a:latin typeface="Arial" panose="020B0604020202020204" pitchFamily="34" charset="0"/>
                  <a:ea typeface="微软雅黑" panose="020B0503020204020204" pitchFamily="34" charset="-122"/>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4899109" y="1052371"/>
                <a:ext cx="1790875" cy="452432"/>
              </a:xfrm>
              <a:prstGeom prst="rect">
                <a:avLst/>
              </a:prstGeom>
              <a:blipFill>
                <a:blip r:embed="rId5"/>
                <a:stretch>
                  <a:fillRect l="-3072"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4906295" y="1406086"/>
                <a:ext cx="185499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8      0     2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31" name="文本框 30"/>
              <p:cNvSpPr txBox="1">
                <a:spLocks noRot="1" noChangeAspect="1" noMove="1" noResize="1" noEditPoints="1" noAdjustHandles="1" noChangeArrowheads="1" noChangeShapeType="1" noTextEdit="1"/>
              </p:cNvSpPr>
              <p:nvPr/>
            </p:nvSpPr>
            <p:spPr>
              <a:xfrm>
                <a:off x="4906295" y="1406086"/>
                <a:ext cx="1854995" cy="452432"/>
              </a:xfrm>
              <a:prstGeom prst="rect">
                <a:avLst/>
              </a:prstGeom>
              <a:blipFill>
                <a:blip r:embed="rId6"/>
                <a:stretch>
                  <a:fillRect l="-2961"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4906295" y="1822471"/>
                <a:ext cx="1752403"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5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0       1</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32" name="文本框 31"/>
              <p:cNvSpPr txBox="1">
                <a:spLocks noRot="1" noChangeAspect="1" noMove="1" noResize="1" noEditPoints="1" noAdjustHandles="1" noChangeArrowheads="1" noChangeShapeType="1" noTextEdit="1"/>
              </p:cNvSpPr>
              <p:nvPr/>
            </p:nvSpPr>
            <p:spPr>
              <a:xfrm>
                <a:off x="4906295" y="1822471"/>
                <a:ext cx="1752403" cy="414985"/>
              </a:xfrm>
              <a:prstGeom prst="rect">
                <a:avLst/>
              </a:prstGeom>
              <a:blipFill>
                <a:blip r:embed="rId7"/>
                <a:stretch>
                  <a:fillRect l="-3136"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4906348" y="2202902"/>
                <a:ext cx="1781257"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0</a:t>
                </a:r>
                <a:endParaRPr lang="zh-CN" altLang="en-US" dirty="0" smtClean="0">
                  <a:latin typeface="Arial" panose="020B0604020202020204" pitchFamily="34" charset="0"/>
                  <a:ea typeface="微软雅黑" panose="020B0503020204020204" pitchFamily="34" charset="-122"/>
                </a:endParaRPr>
              </a:p>
            </p:txBody>
          </p:sp>
        </mc:Choice>
        <mc:Fallback xmlns="">
          <p:sp>
            <p:nvSpPr>
              <p:cNvPr id="33" name="文本框 32"/>
              <p:cNvSpPr txBox="1">
                <a:spLocks noRot="1" noChangeAspect="1" noMove="1" noResize="1" noEditPoints="1" noAdjustHandles="1" noChangeArrowheads="1" noChangeShapeType="1" noTextEdit="1"/>
              </p:cNvSpPr>
              <p:nvPr/>
            </p:nvSpPr>
            <p:spPr>
              <a:xfrm>
                <a:off x="4906348" y="2202902"/>
                <a:ext cx="1781257" cy="452432"/>
              </a:xfrm>
              <a:prstGeom prst="rect">
                <a:avLst/>
              </a:prstGeom>
              <a:blipFill>
                <a:blip r:embed="rId8"/>
                <a:stretch>
                  <a:fillRect l="-3082" r="-2397" b="-12000"/>
                </a:stretch>
              </a:blipFill>
            </p:spPr>
            <p:txBody>
              <a:bodyPr/>
              <a:lstStyle/>
              <a:p>
                <a:r>
                  <a:rPr lang="zh-CN" altLang="en-US">
                    <a:noFill/>
                  </a:rPr>
                  <a:t> </a:t>
                </a:r>
              </a:p>
            </p:txBody>
          </p:sp>
        </mc:Fallback>
      </mc:AlternateContent>
      <p:pic>
        <p:nvPicPr>
          <p:cNvPr id="34" name="内容占位符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0528" y="1130521"/>
            <a:ext cx="1859441" cy="1511939"/>
          </a:xfrm>
          <a:prstGeom prst="rect">
            <a:avLst/>
          </a:prstGeom>
        </p:spPr>
      </p:pic>
      <p:pic>
        <p:nvPicPr>
          <p:cNvPr id="35" name="图片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2610" y="642453"/>
            <a:ext cx="1975275" cy="658425"/>
          </a:xfrm>
          <a:prstGeom prst="rect">
            <a:avLst/>
          </a:prstGeom>
        </p:spPr>
      </p:pic>
      <p:sp>
        <p:nvSpPr>
          <p:cNvPr id="36" name="文本框 35"/>
          <p:cNvSpPr txBox="1"/>
          <p:nvPr/>
        </p:nvSpPr>
        <p:spPr>
          <a:xfrm>
            <a:off x="8833932" y="1085232"/>
            <a:ext cx="177484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p:sp>
        <p:nvSpPr>
          <p:cNvPr id="37" name="文本框 36"/>
          <p:cNvSpPr txBox="1"/>
          <p:nvPr/>
        </p:nvSpPr>
        <p:spPr>
          <a:xfrm>
            <a:off x="8841118" y="1438947"/>
            <a:ext cx="1774845"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p:sp>
        <p:nvSpPr>
          <p:cNvPr id="38" name="文本框 37"/>
          <p:cNvSpPr txBox="1"/>
          <p:nvPr/>
        </p:nvSpPr>
        <p:spPr>
          <a:xfrm>
            <a:off x="8841118" y="1855332"/>
            <a:ext cx="1774845"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p:sp>
        <p:nvSpPr>
          <p:cNvPr id="39" name="文本框 38"/>
          <p:cNvSpPr txBox="1"/>
          <p:nvPr/>
        </p:nvSpPr>
        <p:spPr>
          <a:xfrm>
            <a:off x="8841171" y="2235763"/>
            <a:ext cx="1774845"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-1    -1    -1</a:t>
            </a:r>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-1</a:t>
            </a:r>
            <a:endParaRPr lang="zh-CN" altLang="en-US" sz="1400" dirty="0" smtClean="0">
              <a:latin typeface="Arial" panose="020B0604020202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40" name="文本框 39"/>
              <p:cNvSpPr txBox="1"/>
              <p:nvPr/>
            </p:nvSpPr>
            <p:spPr>
              <a:xfrm>
                <a:off x="7121886" y="707877"/>
                <a:ext cx="2014643" cy="1846018"/>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ea typeface="微软雅黑" panose="020B0503020204020204" pitchFamily="34" charset="-122"/>
                            </a:rPr>
                          </m:ctrlPr>
                        </m:sSupPr>
                        <m:e>
                          <m:r>
                            <a:rPr lang="en-US" altLang="zh-CN" sz="2400" b="0" i="1" smtClean="0">
                              <a:latin typeface="Cambria Math" panose="02040503050406030204" pitchFamily="18" charset="0"/>
                              <a:ea typeface="微软雅黑" panose="020B0503020204020204" pitchFamily="34" charset="-122"/>
                            </a:rPr>
                            <m:t>𝑃𝑎𝑡h</m:t>
                          </m:r>
                        </m:e>
                        <m:sup>
                          <m:r>
                            <a:rPr lang="en-US" altLang="zh-CN" sz="2400" i="1">
                              <a:latin typeface="Cambria Math" panose="02040503050406030204" pitchFamily="18" charset="0"/>
                              <a:ea typeface="微软雅黑" panose="020B0503020204020204" pitchFamily="34" charset="-122"/>
                            </a:rPr>
                            <m:t>0</m:t>
                          </m:r>
                        </m:sup>
                      </m:sSup>
                      <m:r>
                        <a:rPr lang="en-US" altLang="zh-CN" sz="2400" i="1">
                          <a:latin typeface="Cambria Math" panose="02040503050406030204" pitchFamily="18" charset="0"/>
                          <a:ea typeface="微软雅黑" panose="020B0503020204020204" pitchFamily="34" charset="-122"/>
                        </a:rPr>
                        <m:t>=</m:t>
                      </m:r>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1</m:t>
                            </m:r>
                          </m:e>
                        </m:mr>
                        <m:mr>
                          <m:e>
                            <m:r>
                              <a:rPr lang="en-US" altLang="zh-CN" sz="2400" b="0" i="1" smtClean="0">
                                <a:latin typeface="Cambria Math" panose="02040503050406030204" pitchFamily="18" charset="0"/>
                                <a:ea typeface="微软雅黑" panose="020B0503020204020204" pitchFamily="34" charset="-122"/>
                              </a:rPr>
                              <m:t>2</m:t>
                            </m:r>
                          </m:e>
                        </m:mr>
                        <m:m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3</m:t>
                                  </m:r>
                                </m:e>
                              </m:mr>
                              <m:mr>
                                <m:e>
                                  <m:r>
                                    <a:rPr lang="en-US" altLang="zh-CN" sz="2400" b="0" i="1" smtClean="0">
                                      <a:latin typeface="Cambria Math" panose="02040503050406030204" pitchFamily="18" charset="0"/>
                                      <a:ea typeface="微软雅黑" panose="020B0503020204020204" pitchFamily="34" charset="-122"/>
                                    </a:rPr>
                                    <m:t>4</m:t>
                                  </m:r>
                                </m:e>
                              </m:mr>
                            </m:m>
                          </m:e>
                        </m:mr>
                      </m:m>
                      <m:d>
                        <m:dPr>
                          <m:begChr m:val="{"/>
                          <m:endChr m:val=""/>
                          <m:ctrlPr>
                            <a:rPr lang="en-US" altLang="zh-CN" sz="2400" i="1" smtClean="0">
                              <a:latin typeface="Cambria Math" panose="02040503050406030204" pitchFamily="18" charset="0"/>
                              <a:ea typeface="微软雅黑" panose="020B0503020204020204" pitchFamily="34" charset="-122"/>
                            </a:rPr>
                          </m:ctrlPr>
                        </m:dPr>
                        <m:e>
                          <m:eqArr>
                            <m:eqArrPr>
                              <m:ctrlPr>
                                <a:rPr lang="en-US" altLang="zh-CN" sz="2400" i="1" smtClean="0">
                                  <a:latin typeface="Cambria Math" panose="02040503050406030204" pitchFamily="18" charset="0"/>
                                  <a:ea typeface="微软雅黑" panose="020B0503020204020204" pitchFamily="34" charset="-122"/>
                                </a:rPr>
                              </m:ctrlPr>
                            </m:eqArrP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mr>
                                <m:mr>
                                  <m:e/>
                                </m:mr>
                              </m:m>
                            </m:e>
                            <m:e/>
                            <m:e/>
                          </m:eqArr>
                        </m:e>
                      </m:d>
                    </m:oMath>
                  </m:oMathPara>
                </a14:m>
                <a:endParaRPr lang="zh-CN" altLang="en-US" sz="2400" dirty="0" smtClean="0">
                  <a:latin typeface="Arial" panose="020B0604020202020204" pitchFamily="34" charset="0"/>
                  <a:ea typeface="微软雅黑" panose="020B0503020204020204" pitchFamily="34" charset="-122"/>
                </a:endParaRPr>
              </a:p>
            </p:txBody>
          </p:sp>
        </mc:Choice>
        <mc:Fallback xmlns="">
          <p:sp>
            <p:nvSpPr>
              <p:cNvPr id="40" name="文本框 39"/>
              <p:cNvSpPr txBox="1">
                <a:spLocks noRot="1" noChangeAspect="1" noMove="1" noResize="1" noEditPoints="1" noAdjustHandles="1" noChangeArrowheads="1" noChangeShapeType="1" noTextEdit="1"/>
              </p:cNvSpPr>
              <p:nvPr/>
            </p:nvSpPr>
            <p:spPr>
              <a:xfrm>
                <a:off x="7121886" y="707877"/>
                <a:ext cx="2014643" cy="1846018"/>
              </a:xfrm>
              <a:prstGeom prst="rect">
                <a:avLst/>
              </a:prstGeom>
              <a:blipFill>
                <a:blip r:embed="rId9"/>
                <a:stretch>
                  <a:fillRect/>
                </a:stretch>
              </a:blipFill>
            </p:spPr>
            <p:txBody>
              <a:bodyPr/>
              <a:lstStyle/>
              <a:p>
                <a:r>
                  <a:rPr lang="zh-CN" altLang="en-US">
                    <a:noFill/>
                  </a:rPr>
                  <a:t> </a:t>
                </a:r>
              </a:p>
            </p:txBody>
          </p:sp>
        </mc:Fallback>
      </mc:AlternateContent>
      <p:pic>
        <p:nvPicPr>
          <p:cNvPr id="49" name="内容占位符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3964" y="2971216"/>
            <a:ext cx="1859441" cy="1511939"/>
          </a:xfrm>
          <a:prstGeom prst="rect">
            <a:avLst/>
          </a:prstGeom>
        </p:spPr>
      </p:pic>
      <p:pic>
        <p:nvPicPr>
          <p:cNvPr id="50" name="图片 4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87116" y="2507465"/>
            <a:ext cx="1975275" cy="658425"/>
          </a:xfrm>
          <a:prstGeom prst="rect">
            <a:avLst/>
          </a:prstGeom>
        </p:spPr>
      </p:pic>
      <mc:AlternateContent xmlns:mc="http://schemas.openxmlformats.org/markup-compatibility/2006" xmlns:a14="http://schemas.microsoft.com/office/drawing/2010/main">
        <mc:Choice Requires="a14">
          <p:sp>
            <p:nvSpPr>
              <p:cNvPr id="55" name="文本框 54"/>
              <p:cNvSpPr txBox="1"/>
              <p:nvPr/>
            </p:nvSpPr>
            <p:spPr>
              <a:xfrm>
                <a:off x="7170783" y="2553895"/>
                <a:ext cx="2014643" cy="1846018"/>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ea typeface="微软雅黑" panose="020B0503020204020204" pitchFamily="34" charset="-122"/>
                            </a:rPr>
                          </m:ctrlPr>
                        </m:sSupPr>
                        <m:e>
                          <m:r>
                            <a:rPr lang="en-US" altLang="zh-CN" sz="2400" b="0" i="1" smtClean="0">
                              <a:latin typeface="Cambria Math" panose="02040503050406030204" pitchFamily="18" charset="0"/>
                              <a:ea typeface="微软雅黑" panose="020B0503020204020204" pitchFamily="34" charset="-122"/>
                            </a:rPr>
                            <m:t>𝑃𝑎𝑡h</m:t>
                          </m:r>
                        </m:e>
                        <m:sup>
                          <m:r>
                            <a:rPr lang="en-US" altLang="zh-CN" sz="2400" b="0" i="1" smtClean="0">
                              <a:latin typeface="Cambria Math" panose="02040503050406030204" pitchFamily="18" charset="0"/>
                              <a:ea typeface="微软雅黑" panose="020B0503020204020204" pitchFamily="34" charset="-122"/>
                            </a:rPr>
                            <m:t>1</m:t>
                          </m:r>
                        </m:sup>
                      </m:sSup>
                      <m:r>
                        <a:rPr lang="en-US" altLang="zh-CN" sz="2400" i="1">
                          <a:latin typeface="Cambria Math" panose="02040503050406030204" pitchFamily="18" charset="0"/>
                          <a:ea typeface="微软雅黑" panose="020B0503020204020204" pitchFamily="34" charset="-122"/>
                        </a:rPr>
                        <m:t>=</m:t>
                      </m:r>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1</m:t>
                            </m:r>
                          </m:e>
                        </m:mr>
                        <m:mr>
                          <m:e>
                            <m:r>
                              <a:rPr lang="en-US" altLang="zh-CN" sz="2400" b="0" i="1" smtClean="0">
                                <a:latin typeface="Cambria Math" panose="02040503050406030204" pitchFamily="18" charset="0"/>
                                <a:ea typeface="微软雅黑" panose="020B0503020204020204" pitchFamily="34" charset="-122"/>
                              </a:rPr>
                              <m:t>2</m:t>
                            </m:r>
                          </m:e>
                        </m:mr>
                        <m:m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3</m:t>
                                  </m:r>
                                </m:e>
                              </m:mr>
                              <m:mr>
                                <m:e>
                                  <m:r>
                                    <a:rPr lang="en-US" altLang="zh-CN" sz="2400" b="0" i="1" smtClean="0">
                                      <a:latin typeface="Cambria Math" panose="02040503050406030204" pitchFamily="18" charset="0"/>
                                      <a:ea typeface="微软雅黑" panose="020B0503020204020204" pitchFamily="34" charset="-122"/>
                                    </a:rPr>
                                    <m:t>4</m:t>
                                  </m:r>
                                </m:e>
                              </m:mr>
                            </m:m>
                          </m:e>
                        </m:mr>
                      </m:m>
                      <m:d>
                        <m:dPr>
                          <m:begChr m:val="{"/>
                          <m:endChr m:val=""/>
                          <m:ctrlPr>
                            <a:rPr lang="en-US" altLang="zh-CN" sz="2400" i="1" smtClean="0">
                              <a:latin typeface="Cambria Math" panose="02040503050406030204" pitchFamily="18" charset="0"/>
                              <a:ea typeface="微软雅黑" panose="020B0503020204020204" pitchFamily="34" charset="-122"/>
                            </a:rPr>
                          </m:ctrlPr>
                        </m:dPr>
                        <m:e>
                          <m:eqArr>
                            <m:eqArrPr>
                              <m:ctrlPr>
                                <a:rPr lang="en-US" altLang="zh-CN" sz="2400" i="1" smtClean="0">
                                  <a:latin typeface="Cambria Math" panose="02040503050406030204" pitchFamily="18" charset="0"/>
                                  <a:ea typeface="微软雅黑" panose="020B0503020204020204" pitchFamily="34" charset="-122"/>
                                </a:rPr>
                              </m:ctrlPr>
                            </m:eqArrP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mr>
                                <m:mr>
                                  <m:e/>
                                </m:mr>
                              </m:m>
                            </m:e>
                            <m:e/>
                            <m:e/>
                          </m:eqArr>
                        </m:e>
                      </m:d>
                    </m:oMath>
                  </m:oMathPara>
                </a14:m>
                <a:endParaRPr lang="zh-CN" altLang="en-US" sz="2400" dirty="0" smtClean="0">
                  <a:latin typeface="Arial" panose="020B0604020202020204" pitchFamily="34" charset="0"/>
                  <a:ea typeface="微软雅黑" panose="020B0503020204020204" pitchFamily="34" charset="-122"/>
                </a:endParaRPr>
              </a:p>
            </p:txBody>
          </p:sp>
        </mc:Choice>
        <mc:Fallback xmlns="">
          <p:sp>
            <p:nvSpPr>
              <p:cNvPr id="55" name="文本框 54"/>
              <p:cNvSpPr txBox="1">
                <a:spLocks noRot="1" noChangeAspect="1" noMove="1" noResize="1" noEditPoints="1" noAdjustHandles="1" noChangeArrowheads="1" noChangeShapeType="1" noTextEdit="1"/>
              </p:cNvSpPr>
              <p:nvPr/>
            </p:nvSpPr>
            <p:spPr>
              <a:xfrm>
                <a:off x="7170783" y="2553895"/>
                <a:ext cx="2014643" cy="1846018"/>
              </a:xfrm>
              <a:prstGeom prst="rect">
                <a:avLst/>
              </a:prstGeom>
              <a:blipFill>
                <a:blip r:embed="rId10"/>
                <a:stretch>
                  <a:fillRect/>
                </a:stretch>
              </a:blipFill>
            </p:spPr>
            <p:txBody>
              <a:bodyPr/>
              <a:lstStyle/>
              <a:p>
                <a:r>
                  <a:rPr lang="zh-CN" altLang="en-US">
                    <a:noFill/>
                  </a:rPr>
                  <a:t> </a:t>
                </a:r>
              </a:p>
            </p:txBody>
          </p:sp>
        </mc:Fallback>
      </mc:AlternateContent>
      <p:pic>
        <p:nvPicPr>
          <p:cNvPr id="57" name="内容占位符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8444" y="4922269"/>
            <a:ext cx="1859441" cy="1511939"/>
          </a:xfrm>
          <a:prstGeom prst="rect">
            <a:avLst/>
          </a:prstGeom>
        </p:spPr>
      </p:pic>
      <p:pic>
        <p:nvPicPr>
          <p:cNvPr id="58" name="图片 5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11596" y="4458518"/>
            <a:ext cx="1975275" cy="658425"/>
          </a:xfrm>
          <a:prstGeom prst="rect">
            <a:avLst/>
          </a:prstGeom>
        </p:spPr>
      </p:pic>
      <mc:AlternateContent xmlns:mc="http://schemas.openxmlformats.org/markup-compatibility/2006" xmlns:a14="http://schemas.microsoft.com/office/drawing/2010/main">
        <mc:Choice Requires="a14">
          <p:sp>
            <p:nvSpPr>
              <p:cNvPr id="63" name="文本框 62"/>
              <p:cNvSpPr txBox="1"/>
              <p:nvPr/>
            </p:nvSpPr>
            <p:spPr>
              <a:xfrm>
                <a:off x="7195263" y="4504948"/>
                <a:ext cx="2014643" cy="1846018"/>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ea typeface="微软雅黑" panose="020B0503020204020204" pitchFamily="34" charset="-122"/>
                            </a:rPr>
                          </m:ctrlPr>
                        </m:sSupPr>
                        <m:e>
                          <m:r>
                            <a:rPr lang="en-US" altLang="zh-CN" sz="2400" b="0" i="1" smtClean="0">
                              <a:latin typeface="Cambria Math" panose="02040503050406030204" pitchFamily="18" charset="0"/>
                              <a:ea typeface="微软雅黑" panose="020B0503020204020204" pitchFamily="34" charset="-122"/>
                            </a:rPr>
                            <m:t>𝑃𝑎𝑡h</m:t>
                          </m:r>
                        </m:e>
                        <m:sup>
                          <m:r>
                            <a:rPr lang="en-US" altLang="zh-CN" sz="2400" b="0" i="1" smtClean="0">
                              <a:latin typeface="Cambria Math" panose="02040503050406030204" pitchFamily="18" charset="0"/>
                              <a:ea typeface="微软雅黑" panose="020B0503020204020204" pitchFamily="34" charset="-122"/>
                            </a:rPr>
                            <m:t>2</m:t>
                          </m:r>
                        </m:sup>
                      </m:sSup>
                      <m:r>
                        <a:rPr lang="en-US" altLang="zh-CN" sz="2400" i="1">
                          <a:latin typeface="Cambria Math" panose="02040503050406030204" pitchFamily="18" charset="0"/>
                          <a:ea typeface="微软雅黑" panose="020B0503020204020204" pitchFamily="34" charset="-122"/>
                        </a:rPr>
                        <m:t>=</m:t>
                      </m:r>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1</m:t>
                            </m:r>
                          </m:e>
                        </m:mr>
                        <m:mr>
                          <m:e>
                            <m:r>
                              <a:rPr lang="en-US" altLang="zh-CN" sz="2400" b="0" i="1" smtClean="0">
                                <a:latin typeface="Cambria Math" panose="02040503050406030204" pitchFamily="18" charset="0"/>
                                <a:ea typeface="微软雅黑" panose="020B0503020204020204" pitchFamily="34" charset="-122"/>
                              </a:rPr>
                              <m:t>2</m:t>
                            </m:r>
                          </m:e>
                        </m:mr>
                        <m:m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3</m:t>
                                  </m:r>
                                </m:e>
                              </m:mr>
                              <m:mr>
                                <m:e>
                                  <m:r>
                                    <a:rPr lang="en-US" altLang="zh-CN" sz="2400" b="0" i="1" smtClean="0">
                                      <a:latin typeface="Cambria Math" panose="02040503050406030204" pitchFamily="18" charset="0"/>
                                      <a:ea typeface="微软雅黑" panose="020B0503020204020204" pitchFamily="34" charset="-122"/>
                                    </a:rPr>
                                    <m:t>4</m:t>
                                  </m:r>
                                </m:e>
                              </m:mr>
                            </m:m>
                          </m:e>
                        </m:mr>
                      </m:m>
                      <m:d>
                        <m:dPr>
                          <m:begChr m:val="{"/>
                          <m:endChr m:val=""/>
                          <m:ctrlPr>
                            <a:rPr lang="en-US" altLang="zh-CN" sz="2400" i="1" smtClean="0">
                              <a:latin typeface="Cambria Math" panose="02040503050406030204" pitchFamily="18" charset="0"/>
                              <a:ea typeface="微软雅黑" panose="020B0503020204020204" pitchFamily="34" charset="-122"/>
                            </a:rPr>
                          </m:ctrlPr>
                        </m:dPr>
                        <m:e>
                          <m:eqArr>
                            <m:eqArrPr>
                              <m:ctrlPr>
                                <a:rPr lang="en-US" altLang="zh-CN" sz="2400" i="1" smtClean="0">
                                  <a:latin typeface="Cambria Math" panose="02040503050406030204" pitchFamily="18" charset="0"/>
                                  <a:ea typeface="微软雅黑" panose="020B0503020204020204" pitchFamily="34" charset="-122"/>
                                </a:rPr>
                              </m:ctrlPr>
                            </m:eqArrP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mr>
                                <m:mr>
                                  <m:e/>
                                </m:mr>
                              </m:m>
                            </m:e>
                            <m:e/>
                            <m:e/>
                          </m:eqArr>
                        </m:e>
                      </m:d>
                    </m:oMath>
                  </m:oMathPara>
                </a14:m>
                <a:endParaRPr lang="zh-CN" altLang="en-US" sz="2400" dirty="0" smtClean="0">
                  <a:latin typeface="Arial" panose="020B0604020202020204" pitchFamily="34" charset="0"/>
                  <a:ea typeface="微软雅黑" panose="020B0503020204020204" pitchFamily="34" charset="-122"/>
                </a:endParaRPr>
              </a:p>
            </p:txBody>
          </p:sp>
        </mc:Choice>
        <mc:Fallback xmlns="">
          <p:sp>
            <p:nvSpPr>
              <p:cNvPr id="63" name="文本框 62"/>
              <p:cNvSpPr txBox="1">
                <a:spLocks noRot="1" noChangeAspect="1" noMove="1" noResize="1" noEditPoints="1" noAdjustHandles="1" noChangeArrowheads="1" noChangeShapeType="1" noTextEdit="1"/>
              </p:cNvSpPr>
              <p:nvPr/>
            </p:nvSpPr>
            <p:spPr>
              <a:xfrm>
                <a:off x="7195263" y="4504948"/>
                <a:ext cx="2014643" cy="184601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p:cNvSpPr txBox="1"/>
              <p:nvPr/>
            </p:nvSpPr>
            <p:spPr>
              <a:xfrm>
                <a:off x="8849239" y="2931250"/>
                <a:ext cx="179087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0      3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7</a:t>
                </a:r>
                <a:endParaRPr lang="zh-CN" altLang="en-US" sz="1400" dirty="0" smtClean="0">
                  <a:latin typeface="Arial" panose="020B0604020202020204" pitchFamily="34" charset="0"/>
                  <a:ea typeface="微软雅黑" panose="020B0503020204020204" pitchFamily="34" charset="-122"/>
                </a:endParaRPr>
              </a:p>
            </p:txBody>
          </p:sp>
        </mc:Choice>
        <mc:Fallback xmlns="">
          <p:sp>
            <p:nvSpPr>
              <p:cNvPr id="66" name="文本框 65"/>
              <p:cNvSpPr txBox="1">
                <a:spLocks noRot="1" noChangeAspect="1" noMove="1" noResize="1" noEditPoints="1" noAdjustHandles="1" noChangeArrowheads="1" noChangeShapeType="1" noTextEdit="1"/>
              </p:cNvSpPr>
              <p:nvPr/>
            </p:nvSpPr>
            <p:spPr>
              <a:xfrm>
                <a:off x="8849239" y="2931250"/>
                <a:ext cx="1790875" cy="452432"/>
              </a:xfrm>
              <a:prstGeom prst="rect">
                <a:avLst/>
              </a:prstGeom>
              <a:blipFill>
                <a:blip r:embed="rId12"/>
                <a:stretch>
                  <a:fillRect l="-3072"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p:cNvSpPr txBox="1"/>
              <p:nvPr/>
            </p:nvSpPr>
            <p:spPr>
              <a:xfrm>
                <a:off x="8831876" y="3336729"/>
                <a:ext cx="1854995"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8      0     2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67" name="文本框 66"/>
              <p:cNvSpPr txBox="1">
                <a:spLocks noRot="1" noChangeAspect="1" noMove="1" noResize="1" noEditPoints="1" noAdjustHandles="1" noChangeArrowheads="1" noChangeShapeType="1" noTextEdit="1"/>
              </p:cNvSpPr>
              <p:nvPr/>
            </p:nvSpPr>
            <p:spPr>
              <a:xfrm>
                <a:off x="8831876" y="3336729"/>
                <a:ext cx="1854995" cy="452432"/>
              </a:xfrm>
              <a:prstGeom prst="rect">
                <a:avLst/>
              </a:prstGeom>
              <a:blipFill>
                <a:blip r:embed="rId13"/>
                <a:stretch>
                  <a:fillRect l="-2961"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p:cNvSpPr txBox="1"/>
              <p:nvPr/>
            </p:nvSpPr>
            <p:spPr>
              <a:xfrm>
                <a:off x="8856425" y="3701350"/>
                <a:ext cx="1752403" cy="414985"/>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5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0       1</m:t>
                    </m:r>
                  </m:oMath>
                </a14:m>
                <a:endParaRPr lang="zh-CN" altLang="en-US" dirty="0" smtClean="0">
                  <a:latin typeface="Arial" panose="020B0604020202020204" pitchFamily="34" charset="0"/>
                  <a:ea typeface="微软雅黑" panose="020B0503020204020204" pitchFamily="34" charset="-122"/>
                </a:endParaRPr>
              </a:p>
            </p:txBody>
          </p:sp>
        </mc:Choice>
        <mc:Fallback xmlns="">
          <p:sp>
            <p:nvSpPr>
              <p:cNvPr id="68" name="文本框 67"/>
              <p:cNvSpPr txBox="1">
                <a:spLocks noRot="1" noChangeAspect="1" noMove="1" noResize="1" noEditPoints="1" noAdjustHandles="1" noChangeArrowheads="1" noChangeShapeType="1" noTextEdit="1"/>
              </p:cNvSpPr>
              <p:nvPr/>
            </p:nvSpPr>
            <p:spPr>
              <a:xfrm>
                <a:off x="8856425" y="3701350"/>
                <a:ext cx="1752403" cy="414985"/>
              </a:xfrm>
              <a:prstGeom prst="rect">
                <a:avLst/>
              </a:prstGeom>
              <a:blipFill>
                <a:blip r:embed="rId14"/>
                <a:stretch>
                  <a:fillRect l="-3136"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p:cNvSpPr txBox="1"/>
              <p:nvPr/>
            </p:nvSpPr>
            <p:spPr>
              <a:xfrm>
                <a:off x="8856478" y="4081781"/>
                <a:ext cx="1781257" cy="452432"/>
              </a:xfrm>
              <a:prstGeom prst="rect">
                <a:avLst/>
              </a:prstGeom>
              <a:noFill/>
            </p:spPr>
            <p:txBody>
              <a:bodyPr wrap="none" rtlCol="0">
                <a:spAutoFit/>
              </a:bodyPr>
              <a:lstStyle/>
              <a:p>
                <a:pPr>
                  <a:lnSpc>
                    <a:spcPct val="130000"/>
                  </a:lnSpc>
                </a:pPr>
                <a:r>
                  <a:rPr lang="en-US" altLang="zh-CN" dirty="0" smtClean="0">
                    <a:latin typeface="Arial" panose="020B0604020202020204" pitchFamily="34" charset="0"/>
                    <a:ea typeface="微软雅黑" panose="020B0503020204020204" pitchFamily="34" charset="-122"/>
                  </a:rPr>
                  <a:t>2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Arial" panose="020B0604020202020204" pitchFamily="34" charset="0"/>
                    <a:ea typeface="微软雅黑" panose="020B0503020204020204" pitchFamily="34" charset="-122"/>
                  </a:rPr>
                  <a:t>      </a:t>
                </a:r>
                <a:r>
                  <a:rPr lang="en-US" altLang="zh-CN" dirty="0" smtClean="0">
                    <a:latin typeface="Arial" panose="020B0604020202020204" pitchFamily="34" charset="0"/>
                    <a:ea typeface="微软雅黑" panose="020B0503020204020204" pitchFamily="34" charset="-122"/>
                  </a:rPr>
                  <a:t>0</a:t>
                </a:r>
                <a:endParaRPr lang="zh-CN" altLang="en-US" dirty="0" smtClean="0">
                  <a:latin typeface="Arial" panose="020B0604020202020204" pitchFamily="34" charset="0"/>
                  <a:ea typeface="微软雅黑" panose="020B0503020204020204" pitchFamily="34" charset="-122"/>
                </a:endParaRPr>
              </a:p>
            </p:txBody>
          </p:sp>
        </mc:Choice>
        <mc:Fallback xmlns="">
          <p:sp>
            <p:nvSpPr>
              <p:cNvPr id="69" name="文本框 68"/>
              <p:cNvSpPr txBox="1">
                <a:spLocks noRot="1" noChangeAspect="1" noMove="1" noResize="1" noEditPoints="1" noAdjustHandles="1" noChangeArrowheads="1" noChangeShapeType="1" noTextEdit="1"/>
              </p:cNvSpPr>
              <p:nvPr/>
            </p:nvSpPr>
            <p:spPr>
              <a:xfrm>
                <a:off x="8856478" y="4081781"/>
                <a:ext cx="1781257" cy="452432"/>
              </a:xfrm>
              <a:prstGeom prst="rect">
                <a:avLst/>
              </a:prstGeom>
              <a:blipFill>
                <a:blip r:embed="rId15"/>
                <a:stretch>
                  <a:fillRect l="-3082" r="-2397" b="-13514"/>
                </a:stretch>
              </a:blipFill>
            </p:spPr>
            <p:txBody>
              <a:bodyPr/>
              <a:lstStyle/>
              <a:p>
                <a:r>
                  <a:rPr lang="zh-CN" altLang="en-US">
                    <a:noFill/>
                  </a:rPr>
                  <a:t> </a:t>
                </a:r>
              </a:p>
            </p:txBody>
          </p:sp>
        </mc:Fallback>
      </mc:AlternateContent>
      <p:sp>
        <p:nvSpPr>
          <p:cNvPr id="70" name="圆角矩形 69"/>
          <p:cNvSpPr/>
          <p:nvPr/>
        </p:nvSpPr>
        <p:spPr>
          <a:xfrm>
            <a:off x="8940800" y="5039360"/>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71" name="圆角矩形 70"/>
          <p:cNvSpPr/>
          <p:nvPr/>
        </p:nvSpPr>
        <p:spPr>
          <a:xfrm>
            <a:off x="9454607" y="5402371"/>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72" name="圆角矩形 71"/>
          <p:cNvSpPr/>
          <p:nvPr/>
        </p:nvSpPr>
        <p:spPr>
          <a:xfrm>
            <a:off x="9871940" y="574023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73" name="圆角矩形 72"/>
          <p:cNvSpPr/>
          <p:nvPr/>
        </p:nvSpPr>
        <p:spPr>
          <a:xfrm>
            <a:off x="10364151" y="6119197"/>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74" name="圆角矩形 73"/>
          <p:cNvSpPr/>
          <p:nvPr/>
        </p:nvSpPr>
        <p:spPr>
          <a:xfrm>
            <a:off x="10332172" y="5039360"/>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mc:AlternateContent xmlns:mc="http://schemas.openxmlformats.org/markup-compatibility/2006">
        <mc:Choice xmlns:a14="http://schemas.microsoft.com/office/drawing/2010/main" Requires="a14">
          <p:sp>
            <p:nvSpPr>
              <p:cNvPr id="75" name="矩形 74"/>
              <p:cNvSpPr/>
              <p:nvPr/>
            </p:nvSpPr>
            <p:spPr>
              <a:xfrm>
                <a:off x="2135214" y="4399913"/>
                <a:ext cx="5198924" cy="452432"/>
              </a:xfrm>
              <a:prstGeom prst="rect">
                <a:avLst/>
              </a:prstGeom>
            </p:spPr>
            <p:txBody>
              <a:bodyPr wrap="none">
                <a:spAutoFit/>
              </a:bodyPr>
              <a:lstStyle/>
              <a:p>
                <a:pPr>
                  <a:lnSpc>
                    <a:spcPct val="130000"/>
                  </a:lnSpc>
                </a:pPr>
                <a:r>
                  <a:rPr lang="en-US" altLang="zh-CN" dirty="0">
                    <a:latin typeface="Arial" panose="020B0604020202020204" pitchFamily="34" charset="0"/>
                    <a:ea typeface="微软雅黑" panose="020B0503020204020204" pitchFamily="34" charset="-122"/>
                  </a:rPr>
                  <a:t>A{1,2} = A{1,3}+A{3,2}  =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latin typeface="Arial" panose="020B0604020202020204" pitchFamily="34" charset="0"/>
                    <a:ea typeface="微软雅黑" panose="020B0503020204020204" pitchFamily="34" charset="-122"/>
                  </a:rPr>
                  <a:t>+</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min{</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,3} = 3</a:t>
                </a:r>
              </a:p>
            </p:txBody>
          </p:sp>
        </mc:Choice>
        <mc:Fallback>
          <p:sp>
            <p:nvSpPr>
              <p:cNvPr id="75" name="矩形 74"/>
              <p:cNvSpPr>
                <a:spLocks noRot="1" noChangeAspect="1" noMove="1" noResize="1" noEditPoints="1" noAdjustHandles="1" noChangeArrowheads="1" noChangeShapeType="1" noTextEdit="1"/>
              </p:cNvSpPr>
              <p:nvPr/>
            </p:nvSpPr>
            <p:spPr>
              <a:xfrm>
                <a:off x="2135214" y="4399913"/>
                <a:ext cx="5198924" cy="452432"/>
              </a:xfrm>
              <a:prstGeom prst="rect">
                <a:avLst/>
              </a:prstGeom>
              <a:blipFill>
                <a:blip r:embed="rId16"/>
                <a:stretch>
                  <a:fillRect l="-938" r="-234" b="-13514"/>
                </a:stretch>
              </a:blipFill>
            </p:spPr>
            <p:txBody>
              <a:bodyPr/>
              <a:lstStyle/>
              <a:p>
                <a:r>
                  <a:rPr lang="zh-CN" altLang="en-US">
                    <a:noFill/>
                  </a:rPr>
                  <a:t> </a:t>
                </a:r>
              </a:p>
            </p:txBody>
          </p:sp>
        </mc:Fallback>
      </mc:AlternateContent>
      <p:sp>
        <p:nvSpPr>
          <p:cNvPr id="76" name="圆角矩形 75"/>
          <p:cNvSpPr/>
          <p:nvPr/>
        </p:nvSpPr>
        <p:spPr>
          <a:xfrm>
            <a:off x="9404049" y="5020952"/>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mc:AlternateContent xmlns:mc="http://schemas.openxmlformats.org/markup-compatibility/2006" xmlns:a14="http://schemas.microsoft.com/office/drawing/2010/main">
        <mc:Choice Requires="a14">
          <p:sp>
            <p:nvSpPr>
              <p:cNvPr id="77" name="矩形 76"/>
              <p:cNvSpPr/>
              <p:nvPr/>
            </p:nvSpPr>
            <p:spPr>
              <a:xfrm>
                <a:off x="2115080" y="4701655"/>
                <a:ext cx="5131598" cy="452432"/>
              </a:xfrm>
              <a:prstGeom prst="rect">
                <a:avLst/>
              </a:prstGeom>
            </p:spPr>
            <p:txBody>
              <a:bodyPr wrap="none">
                <a:spAutoFit/>
              </a:bodyPr>
              <a:lstStyle/>
              <a:p>
                <a:pPr>
                  <a:lnSpc>
                    <a:spcPct val="130000"/>
                  </a:lnSpc>
                </a:pPr>
                <a:r>
                  <a:rPr lang="en-US" altLang="zh-CN" dirty="0">
                    <a:latin typeface="Arial" panose="020B0604020202020204" pitchFamily="34" charset="0"/>
                    <a:ea typeface="微软雅黑" panose="020B0503020204020204" pitchFamily="34" charset="-122"/>
                  </a:rPr>
                  <a:t>A{1,2} = A{1,4}+A{4,2}  = 7+</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min{</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3} = 3</a:t>
                </a:r>
              </a:p>
            </p:txBody>
          </p:sp>
        </mc:Choice>
        <mc:Fallback xmlns="">
          <p:sp>
            <p:nvSpPr>
              <p:cNvPr id="77" name="矩形 76"/>
              <p:cNvSpPr>
                <a:spLocks noRot="1" noChangeAspect="1" noMove="1" noResize="1" noEditPoints="1" noAdjustHandles="1" noChangeArrowheads="1" noChangeShapeType="1" noTextEdit="1"/>
              </p:cNvSpPr>
              <p:nvPr/>
            </p:nvSpPr>
            <p:spPr>
              <a:xfrm>
                <a:off x="2115080" y="4701655"/>
                <a:ext cx="5131598" cy="452432"/>
              </a:xfrm>
              <a:prstGeom prst="rect">
                <a:avLst/>
              </a:prstGeom>
              <a:blipFill>
                <a:blip r:embed="rId17"/>
                <a:stretch>
                  <a:fillRect l="-1069" b="-13514"/>
                </a:stretch>
              </a:blipFill>
            </p:spPr>
            <p:txBody>
              <a:bodyPr/>
              <a:lstStyle/>
              <a:p>
                <a:r>
                  <a:rPr lang="zh-CN" altLang="en-US">
                    <a:noFill/>
                  </a:rPr>
                  <a:t> </a:t>
                </a:r>
              </a:p>
            </p:txBody>
          </p:sp>
        </mc:Fallback>
      </mc:AlternateContent>
      <p:sp>
        <p:nvSpPr>
          <p:cNvPr id="78" name="圆角矩形 77"/>
          <p:cNvSpPr/>
          <p:nvPr/>
        </p:nvSpPr>
        <p:spPr>
          <a:xfrm>
            <a:off x="9861114" y="501651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mc:AlternateContent xmlns:mc="http://schemas.openxmlformats.org/markup-compatibility/2006" xmlns:a14="http://schemas.microsoft.com/office/drawing/2010/main">
        <mc:Choice Requires="a14">
          <p:sp>
            <p:nvSpPr>
              <p:cNvPr id="79" name="矩形 78"/>
              <p:cNvSpPr/>
              <p:nvPr/>
            </p:nvSpPr>
            <p:spPr>
              <a:xfrm>
                <a:off x="2121875" y="4971830"/>
                <a:ext cx="5061065" cy="452432"/>
              </a:xfrm>
              <a:prstGeom prst="rect">
                <a:avLst/>
              </a:prstGeom>
            </p:spPr>
            <p:txBody>
              <a:bodyPr wrap="none">
                <a:spAutoFit/>
              </a:bodyPr>
              <a:lstStyle/>
              <a:p>
                <a:pPr>
                  <a:lnSpc>
                    <a:spcPct val="130000"/>
                  </a:lnSpc>
                </a:pPr>
                <a:r>
                  <a:rPr lang="en-US" altLang="zh-CN" dirty="0">
                    <a:latin typeface="Arial" panose="020B0604020202020204" pitchFamily="34" charset="0"/>
                    <a:ea typeface="微软雅黑" panose="020B0503020204020204" pitchFamily="34" charset="-122"/>
                  </a:rPr>
                  <a:t>A{1,3} = A{1,2}+A{2,3} = 3+2 = </a:t>
                </a:r>
                <a:r>
                  <a:rPr lang="en-US" altLang="zh-CN" dirty="0" smtClean="0">
                    <a:latin typeface="Arial" panose="020B0604020202020204" pitchFamily="34" charset="0"/>
                    <a:ea typeface="微软雅黑" panose="020B0503020204020204" pitchFamily="34" charset="-122"/>
                  </a:rPr>
                  <a:t>5    min{5,</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 </a:t>
                </a:r>
                <a:r>
                  <a:rPr lang="en-US" altLang="zh-CN" dirty="0" smtClean="0">
                    <a:latin typeface="Arial" panose="020B0604020202020204" pitchFamily="34" charset="0"/>
                    <a:ea typeface="微软雅黑" panose="020B0503020204020204" pitchFamily="34" charset="-122"/>
                  </a:rPr>
                  <a:t>5</a:t>
                </a:r>
                <a:endParaRPr lang="en-US" altLang="zh-CN" dirty="0">
                  <a:latin typeface="Arial" panose="020B0604020202020204" pitchFamily="34" charset="0"/>
                  <a:ea typeface="微软雅黑" panose="020B0503020204020204" pitchFamily="34" charset="-122"/>
                </a:endParaRPr>
              </a:p>
            </p:txBody>
          </p:sp>
        </mc:Choice>
        <mc:Fallback xmlns="">
          <p:sp>
            <p:nvSpPr>
              <p:cNvPr id="79" name="矩形 78"/>
              <p:cNvSpPr>
                <a:spLocks noRot="1" noChangeAspect="1" noMove="1" noResize="1" noEditPoints="1" noAdjustHandles="1" noChangeArrowheads="1" noChangeShapeType="1" noTextEdit="1"/>
              </p:cNvSpPr>
              <p:nvPr/>
            </p:nvSpPr>
            <p:spPr>
              <a:xfrm>
                <a:off x="2121875" y="4971830"/>
                <a:ext cx="5061065" cy="452432"/>
              </a:xfrm>
              <a:prstGeom prst="rect">
                <a:avLst/>
              </a:prstGeom>
              <a:blipFill>
                <a:blip r:embed="rId18"/>
                <a:stretch>
                  <a:fillRect l="-964" r="-241"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矩形 79"/>
              <p:cNvSpPr/>
              <p:nvPr/>
            </p:nvSpPr>
            <p:spPr>
              <a:xfrm>
                <a:off x="2115080" y="5269168"/>
                <a:ext cx="4996945" cy="452432"/>
              </a:xfrm>
              <a:prstGeom prst="rect">
                <a:avLst/>
              </a:prstGeom>
            </p:spPr>
            <p:txBody>
              <a:bodyPr wrap="none">
                <a:spAutoFit/>
              </a:bodyPr>
              <a:lstStyle/>
              <a:p>
                <a:pPr>
                  <a:lnSpc>
                    <a:spcPct val="130000"/>
                  </a:lnSpc>
                </a:pPr>
                <a:r>
                  <a:rPr lang="en-US" altLang="zh-CN" dirty="0" smtClean="0">
                    <a:latin typeface="Arial" panose="020B0604020202020204" pitchFamily="34" charset="0"/>
                    <a:ea typeface="微软雅黑" panose="020B0503020204020204" pitchFamily="34" charset="-122"/>
                  </a:rPr>
                  <a:t>A{1,3} = A{1,4}+A{4,3} = 7+</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 7   min{7,</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5</m:t>
                    </m:r>
                  </m:oMath>
                </a14:m>
                <a:r>
                  <a:rPr lang="en-US" altLang="zh-CN" dirty="0">
                    <a:latin typeface="Arial" panose="020B0604020202020204" pitchFamily="34" charset="0"/>
                    <a:ea typeface="微软雅黑" panose="020B0503020204020204" pitchFamily="34" charset="-122"/>
                  </a:rPr>
                  <a:t>} = </a:t>
                </a:r>
                <a:r>
                  <a:rPr lang="en-US" altLang="zh-CN" dirty="0" smtClean="0">
                    <a:latin typeface="Arial" panose="020B0604020202020204" pitchFamily="34" charset="0"/>
                    <a:ea typeface="微软雅黑" panose="020B0503020204020204" pitchFamily="34" charset="-122"/>
                  </a:rPr>
                  <a:t>5</a:t>
                </a:r>
                <a:endParaRPr lang="en-US" altLang="zh-CN" dirty="0">
                  <a:latin typeface="Arial" panose="020B0604020202020204" pitchFamily="34" charset="0"/>
                  <a:ea typeface="微软雅黑" panose="020B0503020204020204" pitchFamily="34" charset="-122"/>
                </a:endParaRPr>
              </a:p>
            </p:txBody>
          </p:sp>
        </mc:Choice>
        <mc:Fallback xmlns="">
          <p:sp>
            <p:nvSpPr>
              <p:cNvPr id="80" name="矩形 79"/>
              <p:cNvSpPr>
                <a:spLocks noRot="1" noChangeAspect="1" noMove="1" noResize="1" noEditPoints="1" noAdjustHandles="1" noChangeArrowheads="1" noChangeShapeType="1" noTextEdit="1"/>
              </p:cNvSpPr>
              <p:nvPr/>
            </p:nvSpPr>
            <p:spPr>
              <a:xfrm>
                <a:off x="2115080" y="5269168"/>
                <a:ext cx="4996945" cy="452432"/>
              </a:xfrm>
              <a:prstGeom prst="rect">
                <a:avLst/>
              </a:prstGeom>
              <a:blipFill>
                <a:blip r:embed="rId19"/>
                <a:stretch>
                  <a:fillRect l="-1098"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矩形 80"/>
              <p:cNvSpPr/>
              <p:nvPr/>
            </p:nvSpPr>
            <p:spPr>
              <a:xfrm>
                <a:off x="2095607" y="5585671"/>
                <a:ext cx="5131598" cy="452432"/>
              </a:xfrm>
              <a:prstGeom prst="rect">
                <a:avLst/>
              </a:prstGeom>
            </p:spPr>
            <p:txBody>
              <a:bodyPr wrap="none">
                <a:spAutoFit/>
              </a:bodyPr>
              <a:lstStyle/>
              <a:p>
                <a:pPr>
                  <a:lnSpc>
                    <a:spcPct val="130000"/>
                  </a:lnSpc>
                </a:pPr>
                <a:r>
                  <a:rPr lang="en-US" altLang="zh-CN" dirty="0">
                    <a:latin typeface="Arial" panose="020B0604020202020204" pitchFamily="34" charset="0"/>
                    <a:ea typeface="微软雅黑" panose="020B0503020204020204" pitchFamily="34" charset="-122"/>
                  </a:rPr>
                  <a:t>A{1,4} = A{1,2}+A{2,4} = 3+</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min{</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7} = 7</a:t>
                </a:r>
              </a:p>
            </p:txBody>
          </p:sp>
        </mc:Choice>
        <mc:Fallback xmlns="">
          <p:sp>
            <p:nvSpPr>
              <p:cNvPr id="81" name="矩形 80"/>
              <p:cNvSpPr>
                <a:spLocks noRot="1" noChangeAspect="1" noMove="1" noResize="1" noEditPoints="1" noAdjustHandles="1" noChangeArrowheads="1" noChangeShapeType="1" noTextEdit="1"/>
              </p:cNvSpPr>
              <p:nvPr/>
            </p:nvSpPr>
            <p:spPr>
              <a:xfrm>
                <a:off x="2095607" y="5585671"/>
                <a:ext cx="5131598" cy="452432"/>
              </a:xfrm>
              <a:prstGeom prst="rect">
                <a:avLst/>
              </a:prstGeom>
              <a:blipFill>
                <a:blip r:embed="rId20"/>
                <a:stretch>
                  <a:fillRect l="-1069" b="-12000"/>
                </a:stretch>
              </a:blipFill>
            </p:spPr>
            <p:txBody>
              <a:bodyPr/>
              <a:lstStyle/>
              <a:p>
                <a:r>
                  <a:rPr lang="zh-CN" altLang="en-US">
                    <a:noFill/>
                  </a:rPr>
                  <a:t> </a:t>
                </a:r>
              </a:p>
            </p:txBody>
          </p:sp>
        </mc:Fallback>
      </mc:AlternateContent>
      <p:sp>
        <p:nvSpPr>
          <p:cNvPr id="82" name="圆角矩形 81"/>
          <p:cNvSpPr/>
          <p:nvPr/>
        </p:nvSpPr>
        <p:spPr>
          <a:xfrm>
            <a:off x="8965280" y="5720578"/>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83" name="矩形 82"/>
          <p:cNvSpPr/>
          <p:nvPr/>
        </p:nvSpPr>
        <p:spPr>
          <a:xfrm>
            <a:off x="2087133" y="5865741"/>
            <a:ext cx="5057859" cy="452432"/>
          </a:xfrm>
          <a:prstGeom prst="rect">
            <a:avLst/>
          </a:prstGeom>
        </p:spPr>
        <p:txBody>
          <a:bodyPr wrap="none">
            <a:spAutoFit/>
          </a:bodyPr>
          <a:lstStyle/>
          <a:p>
            <a:pPr>
              <a:lnSpc>
                <a:spcPct val="130000"/>
              </a:lnSpc>
            </a:pPr>
            <a:r>
              <a:rPr lang="en-US" altLang="zh-CN" dirty="0">
                <a:latin typeface="Arial" panose="020B0604020202020204" pitchFamily="34" charset="0"/>
                <a:ea typeface="微软雅黑" panose="020B0503020204020204" pitchFamily="34" charset="-122"/>
              </a:rPr>
              <a:t>A{1,4} = A{1,3}+A{3,4} = </a:t>
            </a:r>
            <a:r>
              <a:rPr lang="en-US" altLang="zh-CN" dirty="0" smtClean="0">
                <a:latin typeface="Arial" panose="020B0604020202020204" pitchFamily="34" charset="0"/>
                <a:ea typeface="微软雅黑" panose="020B0503020204020204" pitchFamily="34" charset="-122"/>
              </a:rPr>
              <a:t>2+1 = 6    min{6, 7} = 6</a:t>
            </a:r>
            <a:endParaRPr lang="zh-CN" altLang="en-US" dirty="0">
              <a:latin typeface="Arial" panose="020B0604020202020204" pitchFamily="34" charset="0"/>
              <a:ea typeface="微软雅黑" panose="020B0503020204020204" pitchFamily="34" charset="-122"/>
            </a:endParaRPr>
          </a:p>
        </p:txBody>
      </p:sp>
      <p:sp>
        <p:nvSpPr>
          <p:cNvPr id="84" name="圆角矩形 83"/>
          <p:cNvSpPr/>
          <p:nvPr/>
        </p:nvSpPr>
        <p:spPr>
          <a:xfrm>
            <a:off x="10323199" y="5022607"/>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6</a:t>
            </a:r>
            <a:endParaRPr lang="zh-CN" altLang="en-US" dirty="0">
              <a:solidFill>
                <a:srgbClr val="FF0000"/>
              </a:solidFill>
            </a:endParaRPr>
          </a:p>
        </p:txBody>
      </p:sp>
      <mc:AlternateContent xmlns:mc="http://schemas.openxmlformats.org/markup-compatibility/2006">
        <mc:Choice xmlns:a14="http://schemas.microsoft.com/office/drawing/2010/main" Requires="a14">
          <p:sp>
            <p:nvSpPr>
              <p:cNvPr id="86" name="矩形 85"/>
              <p:cNvSpPr/>
              <p:nvPr/>
            </p:nvSpPr>
            <p:spPr>
              <a:xfrm>
                <a:off x="2104993" y="4367218"/>
                <a:ext cx="6096000" cy="2252924"/>
              </a:xfrm>
              <a:prstGeom prst="rect">
                <a:avLst/>
              </a:prstGeom>
            </p:spPr>
            <p:txBody>
              <a:bodyPr>
                <a:spAutoFit/>
              </a:bodyPr>
              <a:lstStyle/>
              <a:p>
                <a:pPr>
                  <a:lnSpc>
                    <a:spcPct val="130000"/>
                  </a:lnSpc>
                </a:pPr>
                <a:r>
                  <a:rPr lang="en-US" altLang="zh-CN" dirty="0">
                    <a:latin typeface="Arial" panose="020B0604020202020204" pitchFamily="34" charset="0"/>
                    <a:ea typeface="微软雅黑" panose="020B0503020204020204" pitchFamily="34" charset="-122"/>
                  </a:rPr>
                  <a:t>A{2,1} = A{2,3}+A{3,1} = 2+5 = 7  min{7,8} = 7 </a:t>
                </a:r>
              </a:p>
              <a:p>
                <a:pPr>
                  <a:lnSpc>
                    <a:spcPct val="130000"/>
                  </a:lnSpc>
                </a:pPr>
                <a:r>
                  <a:rPr lang="en-US" altLang="zh-CN" dirty="0">
                    <a:latin typeface="Arial" panose="020B0604020202020204" pitchFamily="34" charset="0"/>
                    <a:ea typeface="微软雅黑" panose="020B0503020204020204" pitchFamily="34" charset="-122"/>
                  </a:rPr>
                  <a:t>A{2,1} = A{2,4}+A{4,1} =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+2 =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min{</a:t>
                </a:r>
                <a14:m>
                  <m:oMath xmlns:m="http://schemas.openxmlformats.org/officeDocument/2006/math">
                    <m:r>
                      <a:rPr lang="en-US" altLang="zh-CN" i="1">
                        <a:latin typeface="Cambria Math" panose="02040503050406030204" pitchFamily="18" charset="0"/>
                        <a:ea typeface="微软雅黑" panose="020B0503020204020204" pitchFamily="34" charset="-122"/>
                      </a:rPr>
                      <m:t>7</m:t>
                    </m:r>
                  </m:oMath>
                </a14:m>
                <a:r>
                  <a:rPr lang="en-US" altLang="zh-CN" dirty="0">
                    <a:latin typeface="Arial" panose="020B0604020202020204" pitchFamily="34" charset="0"/>
                    <a:ea typeface="微软雅黑" panose="020B0503020204020204" pitchFamily="34" charset="-122"/>
                  </a:rPr>
                  <a:t>,8} = 7   </a:t>
                </a:r>
              </a:p>
              <a:p>
                <a:pPr>
                  <a:lnSpc>
                    <a:spcPct val="130000"/>
                  </a:lnSpc>
                </a:pPr>
                <a:r>
                  <a:rPr lang="en-US" altLang="zh-CN" dirty="0">
                    <a:latin typeface="Arial" panose="020B0604020202020204" pitchFamily="34" charset="0"/>
                    <a:ea typeface="微软雅黑" panose="020B0503020204020204" pitchFamily="34" charset="-122"/>
                  </a:rPr>
                  <a:t>A{2,3} = A{2,1}+A{1,3} = 7 + 2 = 9  min{9,2} = 2</a:t>
                </a:r>
              </a:p>
              <a:p>
                <a:pPr>
                  <a:lnSpc>
                    <a:spcPct val="130000"/>
                  </a:lnSpc>
                </a:pPr>
                <a:r>
                  <a:rPr lang="en-US" altLang="zh-CN" dirty="0">
                    <a:latin typeface="Arial" panose="020B0604020202020204" pitchFamily="34" charset="0"/>
                    <a:ea typeface="微软雅黑" panose="020B0503020204020204" pitchFamily="34" charset="-122"/>
                  </a:rPr>
                  <a:t>A{2,3} = A{2,4}+A{4,3} =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min{</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2} = 2</a:t>
                </a:r>
              </a:p>
              <a:p>
                <a:pPr>
                  <a:lnSpc>
                    <a:spcPct val="130000"/>
                  </a:lnSpc>
                </a:pPr>
                <a:r>
                  <a:rPr lang="en-US" altLang="zh-CN" dirty="0">
                    <a:latin typeface="Arial" panose="020B0604020202020204" pitchFamily="34" charset="0"/>
                    <a:ea typeface="微软雅黑" panose="020B0503020204020204" pitchFamily="34" charset="-122"/>
                  </a:rPr>
                  <a:t>A{2,4} = A{2,1}+A{1,4} = 7+6 = 13 min{13,</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Arial" panose="020B0604020202020204" pitchFamily="34" charset="0"/>
                    <a:ea typeface="微软雅黑" panose="020B0503020204020204" pitchFamily="34" charset="-122"/>
                  </a:rPr>
                  <a:t>} = 13</a:t>
                </a:r>
              </a:p>
              <a:p>
                <a:pPr>
                  <a:lnSpc>
                    <a:spcPct val="130000"/>
                  </a:lnSpc>
                </a:pPr>
                <a:r>
                  <a:rPr lang="en-US" altLang="zh-CN" dirty="0">
                    <a:latin typeface="Arial" panose="020B0604020202020204" pitchFamily="34" charset="0"/>
                    <a:ea typeface="微软雅黑" panose="020B0503020204020204" pitchFamily="34" charset="-122"/>
                  </a:rPr>
                  <a:t>A{2,4} = A{2,3}+A{3,4} = 2+1 = 3 min{3, 13}=3</a:t>
                </a:r>
                <a:endParaRPr lang="zh-CN" altLang="en-US" dirty="0">
                  <a:latin typeface="Arial" panose="020B0604020202020204" pitchFamily="34" charset="0"/>
                  <a:ea typeface="微软雅黑" panose="020B0503020204020204" pitchFamily="34" charset="-122"/>
                </a:endParaRPr>
              </a:p>
            </p:txBody>
          </p:sp>
        </mc:Choice>
        <mc:Fallback>
          <p:sp>
            <p:nvSpPr>
              <p:cNvPr id="86" name="矩形 85"/>
              <p:cNvSpPr>
                <a:spLocks noRot="1" noChangeAspect="1" noMove="1" noResize="1" noEditPoints="1" noAdjustHandles="1" noChangeArrowheads="1" noChangeShapeType="1" noTextEdit="1"/>
              </p:cNvSpPr>
              <p:nvPr/>
            </p:nvSpPr>
            <p:spPr>
              <a:xfrm>
                <a:off x="2104993" y="4367218"/>
                <a:ext cx="6096000" cy="2252924"/>
              </a:xfrm>
              <a:prstGeom prst="rect">
                <a:avLst/>
              </a:prstGeom>
              <a:blipFill>
                <a:blip r:embed="rId21"/>
                <a:stretch>
                  <a:fillRect l="-800" b="-1622"/>
                </a:stretch>
              </a:blipFill>
            </p:spPr>
            <p:txBody>
              <a:bodyPr/>
              <a:lstStyle/>
              <a:p>
                <a:r>
                  <a:rPr lang="zh-CN" altLang="en-US">
                    <a:noFill/>
                  </a:rPr>
                  <a:t> </a:t>
                </a:r>
              </a:p>
            </p:txBody>
          </p:sp>
        </mc:Fallback>
      </mc:AlternateContent>
      <p:sp>
        <p:nvSpPr>
          <p:cNvPr id="87" name="圆角矩形 86"/>
          <p:cNvSpPr/>
          <p:nvPr/>
        </p:nvSpPr>
        <p:spPr>
          <a:xfrm>
            <a:off x="10334150" y="538293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88" name="圆角矩形 87"/>
          <p:cNvSpPr/>
          <p:nvPr/>
        </p:nvSpPr>
        <p:spPr>
          <a:xfrm>
            <a:off x="9884261" y="5402371"/>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89" name="圆角矩形 88"/>
          <p:cNvSpPr/>
          <p:nvPr/>
        </p:nvSpPr>
        <p:spPr>
          <a:xfrm>
            <a:off x="8931880" y="538401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90" name="圆角矩形 89"/>
          <p:cNvSpPr/>
          <p:nvPr/>
        </p:nvSpPr>
        <p:spPr>
          <a:xfrm>
            <a:off x="10323199" y="574023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91" name="圆角矩形 90"/>
          <p:cNvSpPr/>
          <p:nvPr/>
        </p:nvSpPr>
        <p:spPr>
          <a:xfrm>
            <a:off x="9420714" y="5727580"/>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sp>
        <p:nvSpPr>
          <p:cNvPr id="93" name="圆角矩形 92"/>
          <p:cNvSpPr/>
          <p:nvPr/>
        </p:nvSpPr>
        <p:spPr>
          <a:xfrm>
            <a:off x="9868392" y="6115132"/>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94" name="圆角矩形 93"/>
          <p:cNvSpPr/>
          <p:nvPr/>
        </p:nvSpPr>
        <p:spPr>
          <a:xfrm>
            <a:off x="9420089" y="6115132"/>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95" name="圆角矩形 94"/>
          <p:cNvSpPr/>
          <p:nvPr/>
        </p:nvSpPr>
        <p:spPr>
          <a:xfrm>
            <a:off x="8931880" y="6119197"/>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96" name="圆角矩形 95"/>
          <p:cNvSpPr/>
          <p:nvPr/>
        </p:nvSpPr>
        <p:spPr>
          <a:xfrm>
            <a:off x="8930390" y="537592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5</a:t>
            </a:r>
            <a:endParaRPr lang="zh-CN" altLang="en-US" dirty="0">
              <a:solidFill>
                <a:srgbClr val="FF0000"/>
              </a:solidFill>
            </a:endParaRPr>
          </a:p>
        </p:txBody>
      </p:sp>
    </p:spTree>
    <p:extLst>
      <p:ext uri="{BB962C8B-B14F-4D97-AF65-F5344CB8AC3E}">
        <p14:creationId xmlns:p14="http://schemas.microsoft.com/office/powerpoint/2010/main" val="400601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7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8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1" nodeType="clickEffect">
                                  <p:stCondLst>
                                    <p:cond delay="0"/>
                                  </p:stCondLst>
                                  <p:childTnLst>
                                    <p:set>
                                      <p:cBhvr>
                                        <p:cTn id="84" dur="1" fill="hold">
                                          <p:stCondLst>
                                            <p:cond delay="0"/>
                                          </p:stCondLst>
                                        </p:cTn>
                                        <p:tgtEl>
                                          <p:spTgt spid="7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8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8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xit" presetSubtype="4" fill="hold" grpId="1" nodeType="clickEffect">
                                  <p:stCondLst>
                                    <p:cond delay="0"/>
                                  </p:stCondLst>
                                  <p:childTnLst>
                                    <p:animEffect transition="out" filter="wipe(down)">
                                      <p:cBhvr>
                                        <p:cTn id="100" dur="500"/>
                                        <p:tgtEl>
                                          <p:spTgt spid="75"/>
                                        </p:tgtEl>
                                      </p:cBhvr>
                                    </p:animEffect>
                                    <p:set>
                                      <p:cBhvr>
                                        <p:cTn id="101" dur="1" fill="hold">
                                          <p:stCondLst>
                                            <p:cond delay="499"/>
                                          </p:stCondLst>
                                        </p:cTn>
                                        <p:tgtEl>
                                          <p:spTgt spid="75"/>
                                        </p:tgtEl>
                                        <p:attrNameLst>
                                          <p:attrName>style.visibility</p:attrName>
                                        </p:attrNameLst>
                                      </p:cBhvr>
                                      <p:to>
                                        <p:strVal val="hidden"/>
                                      </p:to>
                                    </p:set>
                                  </p:childTnLst>
                                </p:cTn>
                              </p:par>
                              <p:par>
                                <p:cTn id="102" presetID="22" presetClass="exit" presetSubtype="4" fill="hold" grpId="1" nodeType="withEffect">
                                  <p:stCondLst>
                                    <p:cond delay="0"/>
                                  </p:stCondLst>
                                  <p:childTnLst>
                                    <p:animEffect transition="out" filter="wipe(down)">
                                      <p:cBhvr>
                                        <p:cTn id="103" dur="500"/>
                                        <p:tgtEl>
                                          <p:spTgt spid="77"/>
                                        </p:tgtEl>
                                      </p:cBhvr>
                                    </p:animEffect>
                                    <p:set>
                                      <p:cBhvr>
                                        <p:cTn id="104" dur="1" fill="hold">
                                          <p:stCondLst>
                                            <p:cond delay="499"/>
                                          </p:stCondLst>
                                        </p:cTn>
                                        <p:tgtEl>
                                          <p:spTgt spid="77"/>
                                        </p:tgtEl>
                                        <p:attrNameLst>
                                          <p:attrName>style.visibility</p:attrName>
                                        </p:attrNameLst>
                                      </p:cBhvr>
                                      <p:to>
                                        <p:strVal val="hidden"/>
                                      </p:to>
                                    </p:set>
                                  </p:childTnLst>
                                </p:cTn>
                              </p:par>
                              <p:par>
                                <p:cTn id="105" presetID="22" presetClass="exit" presetSubtype="4" fill="hold" grpId="1" nodeType="withEffect">
                                  <p:stCondLst>
                                    <p:cond delay="0"/>
                                  </p:stCondLst>
                                  <p:childTnLst>
                                    <p:animEffect transition="out" filter="wipe(down)">
                                      <p:cBhvr>
                                        <p:cTn id="106" dur="500"/>
                                        <p:tgtEl>
                                          <p:spTgt spid="79"/>
                                        </p:tgtEl>
                                      </p:cBhvr>
                                    </p:animEffect>
                                    <p:set>
                                      <p:cBhvr>
                                        <p:cTn id="107" dur="1" fill="hold">
                                          <p:stCondLst>
                                            <p:cond delay="499"/>
                                          </p:stCondLst>
                                        </p:cTn>
                                        <p:tgtEl>
                                          <p:spTgt spid="79"/>
                                        </p:tgtEl>
                                        <p:attrNameLst>
                                          <p:attrName>style.visibility</p:attrName>
                                        </p:attrNameLst>
                                      </p:cBhvr>
                                      <p:to>
                                        <p:strVal val="hidden"/>
                                      </p:to>
                                    </p:set>
                                  </p:childTnLst>
                                </p:cTn>
                              </p:par>
                              <p:par>
                                <p:cTn id="108" presetID="22" presetClass="exit" presetSubtype="4" fill="hold" grpId="1" nodeType="withEffect">
                                  <p:stCondLst>
                                    <p:cond delay="0"/>
                                  </p:stCondLst>
                                  <p:childTnLst>
                                    <p:animEffect transition="out" filter="wipe(down)">
                                      <p:cBhvr>
                                        <p:cTn id="109" dur="500"/>
                                        <p:tgtEl>
                                          <p:spTgt spid="80"/>
                                        </p:tgtEl>
                                      </p:cBhvr>
                                    </p:animEffect>
                                    <p:set>
                                      <p:cBhvr>
                                        <p:cTn id="110" dur="1" fill="hold">
                                          <p:stCondLst>
                                            <p:cond delay="499"/>
                                          </p:stCondLst>
                                        </p:cTn>
                                        <p:tgtEl>
                                          <p:spTgt spid="80"/>
                                        </p:tgtEl>
                                        <p:attrNameLst>
                                          <p:attrName>style.visibility</p:attrName>
                                        </p:attrNameLst>
                                      </p:cBhvr>
                                      <p:to>
                                        <p:strVal val="hidden"/>
                                      </p:to>
                                    </p:set>
                                  </p:childTnLst>
                                </p:cTn>
                              </p:par>
                              <p:par>
                                <p:cTn id="111" presetID="22" presetClass="exit" presetSubtype="4" fill="hold" grpId="1" nodeType="withEffect">
                                  <p:stCondLst>
                                    <p:cond delay="0"/>
                                  </p:stCondLst>
                                  <p:childTnLst>
                                    <p:animEffect transition="out" filter="wipe(down)">
                                      <p:cBhvr>
                                        <p:cTn id="112" dur="500"/>
                                        <p:tgtEl>
                                          <p:spTgt spid="81"/>
                                        </p:tgtEl>
                                      </p:cBhvr>
                                    </p:animEffect>
                                    <p:set>
                                      <p:cBhvr>
                                        <p:cTn id="113" dur="1" fill="hold">
                                          <p:stCondLst>
                                            <p:cond delay="499"/>
                                          </p:stCondLst>
                                        </p:cTn>
                                        <p:tgtEl>
                                          <p:spTgt spid="81"/>
                                        </p:tgtEl>
                                        <p:attrNameLst>
                                          <p:attrName>style.visibility</p:attrName>
                                        </p:attrNameLst>
                                      </p:cBhvr>
                                      <p:to>
                                        <p:strVal val="hidden"/>
                                      </p:to>
                                    </p:set>
                                  </p:childTnLst>
                                </p:cTn>
                              </p:par>
                              <p:par>
                                <p:cTn id="114" presetID="22" presetClass="exit" presetSubtype="4" fill="hold" grpId="1" nodeType="withEffect">
                                  <p:stCondLst>
                                    <p:cond delay="0"/>
                                  </p:stCondLst>
                                  <p:childTnLst>
                                    <p:animEffect transition="out" filter="wipe(down)">
                                      <p:cBhvr>
                                        <p:cTn id="115" dur="500"/>
                                        <p:tgtEl>
                                          <p:spTgt spid="83"/>
                                        </p:tgtEl>
                                      </p:cBhvr>
                                    </p:animEffect>
                                    <p:set>
                                      <p:cBhvr>
                                        <p:cTn id="116" dur="1" fill="hold">
                                          <p:stCondLst>
                                            <p:cond delay="499"/>
                                          </p:stCondLst>
                                        </p:cTn>
                                        <p:tgtEl>
                                          <p:spTgt spid="83"/>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8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8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8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91"/>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0"/>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93"/>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5"/>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96"/>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55" grpId="1"/>
      <p:bldP spid="63" grpId="0"/>
      <p:bldP spid="66" grpId="0"/>
      <p:bldP spid="67" grpId="0"/>
      <p:bldP spid="68" grpId="0"/>
      <p:bldP spid="69" grpId="0"/>
      <p:bldP spid="70" grpId="0" animBg="1"/>
      <p:bldP spid="71" grpId="0" animBg="1"/>
      <p:bldP spid="72" grpId="0" animBg="1"/>
      <p:bldP spid="73" grpId="0" animBg="1"/>
      <p:bldP spid="74" grpId="0" animBg="1"/>
      <p:bldP spid="75" grpId="0"/>
      <p:bldP spid="75" grpId="1"/>
      <p:bldP spid="76" grpId="0" animBg="1"/>
      <p:bldP spid="77" grpId="0"/>
      <p:bldP spid="77" grpId="1"/>
      <p:bldP spid="78" grpId="0" animBg="1"/>
      <p:bldP spid="78" grpId="1" animBg="1"/>
      <p:bldP spid="79" grpId="0"/>
      <p:bldP spid="79" grpId="1"/>
      <p:bldP spid="80" grpId="0"/>
      <p:bldP spid="80" grpId="1"/>
      <p:bldP spid="81" grpId="0"/>
      <p:bldP spid="81" grpId="1"/>
      <p:bldP spid="82" grpId="0" animBg="1"/>
      <p:bldP spid="83" grpId="0"/>
      <p:bldP spid="83" grpId="1"/>
      <p:bldP spid="84" grpId="0" animBg="1"/>
      <p:bldP spid="86" grpId="0"/>
      <p:bldP spid="87" grpId="0" animBg="1"/>
      <p:bldP spid="88" grpId="0" animBg="1"/>
      <p:bldP spid="89" grpId="0" animBg="1"/>
      <p:bldP spid="90" grpId="0" animBg="1"/>
      <p:bldP spid="91" grpId="0" animBg="1"/>
      <p:bldP spid="93" grpId="0" animBg="1"/>
      <p:bldP spid="94" grpId="0" animBg="1"/>
      <p:bldP spid="95" grpId="0" animBg="1"/>
      <p:bldP spid="9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26080" y="988995"/>
            <a:ext cx="3055332" cy="2919847"/>
            <a:chOff x="2029674" y="1361208"/>
            <a:chExt cx="3671472" cy="3508665"/>
          </a:xfrm>
        </p:grpSpPr>
        <p:sp>
          <p:nvSpPr>
            <p:cNvPr id="6" name="椭圆 5"/>
            <p:cNvSpPr/>
            <p:nvPr/>
          </p:nvSpPr>
          <p:spPr>
            <a:xfrm>
              <a:off x="2202873"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7" name="椭圆 6"/>
            <p:cNvSpPr/>
            <p:nvPr/>
          </p:nvSpPr>
          <p:spPr>
            <a:xfrm>
              <a:off x="5015346" y="1704109"/>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8" name="椭圆 7"/>
            <p:cNvSpPr/>
            <p:nvPr/>
          </p:nvSpPr>
          <p:spPr>
            <a:xfrm>
              <a:off x="2202873"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9" name="椭圆 8"/>
            <p:cNvSpPr/>
            <p:nvPr/>
          </p:nvSpPr>
          <p:spPr>
            <a:xfrm>
              <a:off x="5015346" y="4184073"/>
              <a:ext cx="685800" cy="685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10" name="曲线连接符 9"/>
            <p:cNvCxnSpPr>
              <a:stCxn id="6" idx="4"/>
              <a:endCxn id="7" idx="4"/>
            </p:cNvCxnSpPr>
            <p:nvPr/>
          </p:nvCxnSpPr>
          <p:spPr>
            <a:xfrm rot="16200000" flipH="1">
              <a:off x="3952009" y="9836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p:cNvCxnSpPr>
              <a:stCxn id="7" idx="0"/>
              <a:endCxn id="6" idx="0"/>
            </p:cNvCxnSpPr>
            <p:nvPr/>
          </p:nvCxnSpPr>
          <p:spPr>
            <a:xfrm rot="16200000" flipV="1">
              <a:off x="3952010" y="297872"/>
              <a:ext cx="12700" cy="2812473"/>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曲线连接符 11"/>
            <p:cNvCxnSpPr/>
            <p:nvPr/>
          </p:nvCxnSpPr>
          <p:spPr>
            <a:xfrm rot="5400000">
              <a:off x="962891" y="3286991"/>
              <a:ext cx="24799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p:cNvCxnSpPr>
              <a:stCxn id="8" idx="7"/>
              <a:endCxn id="6" idx="5"/>
            </p:cNvCxnSpPr>
            <p:nvPr/>
          </p:nvCxnSpPr>
          <p:spPr>
            <a:xfrm rot="5400000" flipH="1" flipV="1">
              <a:off x="1790725" y="3286991"/>
              <a:ext cx="199503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9" idx="2"/>
            </p:cNvCxnSpPr>
            <p:nvPr/>
          </p:nvCxnSpPr>
          <p:spPr>
            <a:xfrm rot="10800000" flipV="1">
              <a:off x="2895024" y="4526973"/>
              <a:ext cx="2120323" cy="63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9" idx="1"/>
              <a:endCxn id="6" idx="6"/>
            </p:cNvCxnSpPr>
            <p:nvPr/>
          </p:nvCxnSpPr>
          <p:spPr>
            <a:xfrm rot="16200000" flipV="1">
              <a:off x="2883478" y="2052205"/>
              <a:ext cx="2237497" cy="22271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曲线连接符 15"/>
            <p:cNvCxnSpPr>
              <a:stCxn id="7" idx="4"/>
              <a:endCxn id="9" idx="0"/>
            </p:cNvCxnSpPr>
            <p:nvPr/>
          </p:nvCxnSpPr>
          <p:spPr>
            <a:xfrm rot="5400000">
              <a:off x="4461164" y="3286991"/>
              <a:ext cx="1794164"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圆角矩形 16"/>
            <p:cNvSpPr/>
            <p:nvPr/>
          </p:nvSpPr>
          <p:spPr>
            <a:xfrm>
              <a:off x="2029674" y="3148702"/>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8" name="圆角矩形 17"/>
            <p:cNvSpPr/>
            <p:nvPr/>
          </p:nvSpPr>
          <p:spPr>
            <a:xfrm>
              <a:off x="4375457" y="136120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19" name="圆角矩形 18"/>
            <p:cNvSpPr/>
            <p:nvPr/>
          </p:nvSpPr>
          <p:spPr>
            <a:xfrm>
              <a:off x="4662660" y="315476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20" name="圆角矩形 19"/>
            <p:cNvSpPr/>
            <p:nvPr/>
          </p:nvSpPr>
          <p:spPr>
            <a:xfrm>
              <a:off x="5265296" y="2917218"/>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1" name="圆角矩形 20"/>
            <p:cNvSpPr/>
            <p:nvPr/>
          </p:nvSpPr>
          <p:spPr>
            <a:xfrm>
              <a:off x="3658459" y="2502393"/>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2" name="圆角矩形 21"/>
            <p:cNvSpPr/>
            <p:nvPr/>
          </p:nvSpPr>
          <p:spPr>
            <a:xfrm>
              <a:off x="3859059" y="4412000"/>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3" name="圆角矩形 22"/>
            <p:cNvSpPr/>
            <p:nvPr/>
          </p:nvSpPr>
          <p:spPr>
            <a:xfrm>
              <a:off x="2652557" y="3215691"/>
              <a:ext cx="286333" cy="24938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p:pic>
        <p:nvPicPr>
          <p:cNvPr id="24" name="内容占位符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8204" y="634261"/>
            <a:ext cx="1859441" cy="1511939"/>
          </a:xfrm>
          <a:prstGeom prst="rect">
            <a:avLst/>
          </a:prstGeom>
        </p:spPr>
      </p:pic>
      <p:pic>
        <p:nvPicPr>
          <p:cNvPr id="25"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1356" y="170510"/>
            <a:ext cx="1975275" cy="658425"/>
          </a:xfrm>
          <a:prstGeom prst="rect">
            <a:avLst/>
          </a:prstGeom>
        </p:spPr>
      </p:pic>
      <mc:AlternateContent xmlns:mc="http://schemas.openxmlformats.org/markup-compatibility/2006" xmlns:a14="http://schemas.microsoft.com/office/drawing/2010/main">
        <mc:Choice Requires="a14">
          <p:sp>
            <p:nvSpPr>
              <p:cNvPr id="26" name="文本框 25"/>
              <p:cNvSpPr txBox="1"/>
              <p:nvPr/>
            </p:nvSpPr>
            <p:spPr>
              <a:xfrm>
                <a:off x="7815023" y="216940"/>
                <a:ext cx="2014643" cy="1846018"/>
              </a:xfrm>
              <a:prstGeom prst="rect">
                <a:avLst/>
              </a:prstGeom>
              <a:noFill/>
            </p:spPr>
            <p:txBody>
              <a:bodyPr wrap="square" lIns="0" tIns="0" rIns="0" bIns="0" rtlCol="0">
                <a:spAutoFit/>
              </a:bodyPr>
              <a:lstStyle/>
              <a:p>
                <a:pPr>
                  <a:lnSpc>
                    <a:spcPct val="130000"/>
                  </a:lnSpc>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ea typeface="微软雅黑" panose="020B0503020204020204" pitchFamily="34" charset="-122"/>
                            </a:rPr>
                          </m:ctrlPr>
                        </m:sSupPr>
                        <m:e>
                          <m:r>
                            <a:rPr lang="en-US" altLang="zh-CN" sz="2400" b="0" i="1" smtClean="0">
                              <a:latin typeface="Cambria Math" panose="02040503050406030204" pitchFamily="18" charset="0"/>
                              <a:ea typeface="微软雅黑" panose="020B0503020204020204" pitchFamily="34" charset="-122"/>
                            </a:rPr>
                            <m:t>𝑃𝑎𝑡h</m:t>
                          </m:r>
                        </m:e>
                        <m:sup>
                          <m:r>
                            <a:rPr lang="en-US" altLang="zh-CN" sz="2400" b="0" i="1" smtClean="0">
                              <a:latin typeface="Cambria Math" panose="02040503050406030204" pitchFamily="18" charset="0"/>
                              <a:ea typeface="微软雅黑" panose="020B0503020204020204" pitchFamily="34" charset="-122"/>
                            </a:rPr>
                            <m:t>2</m:t>
                          </m:r>
                        </m:sup>
                      </m:sSup>
                      <m:r>
                        <a:rPr lang="en-US" altLang="zh-CN" sz="2400" i="1">
                          <a:latin typeface="Cambria Math" panose="02040503050406030204" pitchFamily="18" charset="0"/>
                          <a:ea typeface="微软雅黑" panose="020B0503020204020204" pitchFamily="34" charset="-122"/>
                        </a:rPr>
                        <m:t>=</m:t>
                      </m:r>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1</m:t>
                            </m:r>
                          </m:e>
                        </m:mr>
                        <m:mr>
                          <m:e>
                            <m:r>
                              <a:rPr lang="en-US" altLang="zh-CN" sz="2400" b="0" i="1" smtClean="0">
                                <a:latin typeface="Cambria Math" panose="02040503050406030204" pitchFamily="18" charset="0"/>
                                <a:ea typeface="微软雅黑" panose="020B0503020204020204" pitchFamily="34" charset="-122"/>
                              </a:rPr>
                              <m:t>2</m:t>
                            </m:r>
                          </m:e>
                        </m:mr>
                        <m:m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r>
                                    <m:rPr>
                                      <m:brk m:alnAt="7"/>
                                    </m:rPr>
                                    <a:rPr lang="en-US" altLang="zh-CN" sz="2400" b="0" i="1" smtClean="0">
                                      <a:latin typeface="Cambria Math" panose="02040503050406030204" pitchFamily="18" charset="0"/>
                                      <a:ea typeface="微软雅黑" panose="020B0503020204020204" pitchFamily="34" charset="-122"/>
                                    </a:rPr>
                                    <m:t>3</m:t>
                                  </m:r>
                                </m:e>
                              </m:mr>
                              <m:mr>
                                <m:e>
                                  <m:r>
                                    <a:rPr lang="en-US" altLang="zh-CN" sz="2400" b="0" i="1" smtClean="0">
                                      <a:latin typeface="Cambria Math" panose="02040503050406030204" pitchFamily="18" charset="0"/>
                                      <a:ea typeface="微软雅黑" panose="020B0503020204020204" pitchFamily="34" charset="-122"/>
                                    </a:rPr>
                                    <m:t>4</m:t>
                                  </m:r>
                                </m:e>
                              </m:mr>
                            </m:m>
                          </m:e>
                        </m:mr>
                      </m:m>
                      <m:d>
                        <m:dPr>
                          <m:begChr m:val="{"/>
                          <m:endChr m:val=""/>
                          <m:ctrlPr>
                            <a:rPr lang="en-US" altLang="zh-CN" sz="2400" i="1" smtClean="0">
                              <a:latin typeface="Cambria Math" panose="02040503050406030204" pitchFamily="18" charset="0"/>
                              <a:ea typeface="微软雅黑" panose="020B0503020204020204" pitchFamily="34" charset="-122"/>
                            </a:rPr>
                          </m:ctrlPr>
                        </m:dPr>
                        <m:e>
                          <m:eqArr>
                            <m:eqArrPr>
                              <m:ctrlPr>
                                <a:rPr lang="en-US" altLang="zh-CN" sz="2400" i="1" smtClean="0">
                                  <a:latin typeface="Cambria Math" panose="02040503050406030204" pitchFamily="18" charset="0"/>
                                  <a:ea typeface="微软雅黑" panose="020B0503020204020204" pitchFamily="34" charset="-122"/>
                                </a:rPr>
                              </m:ctrlPr>
                            </m:eqArrPr>
                            <m:e>
                              <m:m>
                                <m:mPr>
                                  <m:mcs>
                                    <m:mc>
                                      <m:mcPr>
                                        <m:count m:val="1"/>
                                        <m:mcJc m:val="center"/>
                                      </m:mcPr>
                                    </m:mc>
                                  </m:mcs>
                                  <m:ctrlPr>
                                    <a:rPr lang="en-US" altLang="zh-CN" sz="2400" i="1" smtClean="0">
                                      <a:latin typeface="Cambria Math" panose="02040503050406030204" pitchFamily="18" charset="0"/>
                                      <a:ea typeface="微软雅黑" panose="020B0503020204020204" pitchFamily="34" charset="-122"/>
                                    </a:rPr>
                                  </m:ctrlPr>
                                </m:mPr>
                                <m:mr>
                                  <m:e/>
                                </m:mr>
                                <m:mr>
                                  <m:e/>
                                </m:mr>
                              </m:m>
                            </m:e>
                            <m:e/>
                            <m:e/>
                          </m:eqArr>
                        </m:e>
                      </m:d>
                    </m:oMath>
                  </m:oMathPara>
                </a14:m>
                <a:endParaRPr lang="zh-CN" altLang="en-US" sz="2400" dirty="0" smtClean="0">
                  <a:latin typeface="Arial" panose="020B0604020202020204" pitchFamily="34" charset="0"/>
                  <a:ea typeface="微软雅黑" panose="020B0503020204020204" pitchFamily="34" charset="-122"/>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7815023" y="216940"/>
                <a:ext cx="2014643" cy="1846018"/>
              </a:xfrm>
              <a:prstGeom prst="rect">
                <a:avLst/>
              </a:prstGeom>
              <a:blipFill>
                <a:blip r:embed="rId4"/>
                <a:stretch>
                  <a:fillRect/>
                </a:stretch>
              </a:blipFill>
            </p:spPr>
            <p:txBody>
              <a:bodyPr/>
              <a:lstStyle/>
              <a:p>
                <a:r>
                  <a:rPr lang="zh-CN" altLang="en-US">
                    <a:noFill/>
                  </a:rPr>
                  <a:t> </a:t>
                </a:r>
              </a:p>
            </p:txBody>
          </p:sp>
        </mc:Fallback>
      </mc:AlternateContent>
      <p:sp>
        <p:nvSpPr>
          <p:cNvPr id="27" name="圆角矩形 26"/>
          <p:cNvSpPr/>
          <p:nvPr/>
        </p:nvSpPr>
        <p:spPr>
          <a:xfrm>
            <a:off x="9560560" y="751352"/>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28" name="圆角矩形 27"/>
          <p:cNvSpPr/>
          <p:nvPr/>
        </p:nvSpPr>
        <p:spPr>
          <a:xfrm>
            <a:off x="10074367" y="1114363"/>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29" name="圆角矩形 28"/>
          <p:cNvSpPr/>
          <p:nvPr/>
        </p:nvSpPr>
        <p:spPr>
          <a:xfrm>
            <a:off x="10491700" y="1452226"/>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30" name="圆角矩形 29"/>
          <p:cNvSpPr/>
          <p:nvPr/>
        </p:nvSpPr>
        <p:spPr>
          <a:xfrm>
            <a:off x="10983911" y="1831189"/>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31" name="圆角矩形 30"/>
          <p:cNvSpPr/>
          <p:nvPr/>
        </p:nvSpPr>
        <p:spPr>
          <a:xfrm>
            <a:off x="10951932" y="751352"/>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32" name="圆角矩形 31"/>
          <p:cNvSpPr/>
          <p:nvPr/>
        </p:nvSpPr>
        <p:spPr>
          <a:xfrm>
            <a:off x="10023809" y="73294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33" name="圆角矩形 32"/>
          <p:cNvSpPr/>
          <p:nvPr/>
        </p:nvSpPr>
        <p:spPr>
          <a:xfrm>
            <a:off x="10480874" y="728506"/>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34" name="圆角矩形 33"/>
          <p:cNvSpPr/>
          <p:nvPr/>
        </p:nvSpPr>
        <p:spPr>
          <a:xfrm>
            <a:off x="9585040" y="1432570"/>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35" name="圆角矩形 34"/>
          <p:cNvSpPr/>
          <p:nvPr/>
        </p:nvSpPr>
        <p:spPr>
          <a:xfrm>
            <a:off x="10942959" y="734599"/>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6</a:t>
            </a:r>
            <a:endParaRPr lang="zh-CN" altLang="en-US" dirty="0">
              <a:solidFill>
                <a:srgbClr val="FF0000"/>
              </a:solidFill>
            </a:endParaRPr>
          </a:p>
        </p:txBody>
      </p:sp>
      <p:sp>
        <p:nvSpPr>
          <p:cNvPr id="36" name="圆角矩形 35"/>
          <p:cNvSpPr/>
          <p:nvPr/>
        </p:nvSpPr>
        <p:spPr>
          <a:xfrm>
            <a:off x="10953910" y="1094926"/>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37" name="圆角矩形 36"/>
          <p:cNvSpPr/>
          <p:nvPr/>
        </p:nvSpPr>
        <p:spPr>
          <a:xfrm>
            <a:off x="10504021" y="1114363"/>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38" name="圆角矩形 37"/>
          <p:cNvSpPr/>
          <p:nvPr/>
        </p:nvSpPr>
        <p:spPr>
          <a:xfrm>
            <a:off x="9551640" y="1096006"/>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39" name="圆角矩形 38"/>
          <p:cNvSpPr/>
          <p:nvPr/>
        </p:nvSpPr>
        <p:spPr>
          <a:xfrm>
            <a:off x="10942959" y="1452226"/>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40" name="圆角矩形 39"/>
          <p:cNvSpPr/>
          <p:nvPr/>
        </p:nvSpPr>
        <p:spPr>
          <a:xfrm>
            <a:off x="10040474" y="1439572"/>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sp>
        <p:nvSpPr>
          <p:cNvPr id="41" name="圆角矩形 40"/>
          <p:cNvSpPr/>
          <p:nvPr/>
        </p:nvSpPr>
        <p:spPr>
          <a:xfrm>
            <a:off x="10488152" y="182712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42" name="圆角矩形 41"/>
          <p:cNvSpPr/>
          <p:nvPr/>
        </p:nvSpPr>
        <p:spPr>
          <a:xfrm>
            <a:off x="10039849" y="1827124"/>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43" name="圆角矩形 42"/>
          <p:cNvSpPr/>
          <p:nvPr/>
        </p:nvSpPr>
        <p:spPr>
          <a:xfrm>
            <a:off x="9551640" y="1831189"/>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44" name="圆角矩形 43"/>
          <p:cNvSpPr/>
          <p:nvPr/>
        </p:nvSpPr>
        <p:spPr>
          <a:xfrm>
            <a:off x="9550150" y="1087916"/>
            <a:ext cx="244626" cy="1826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5</a:t>
            </a:r>
            <a:endParaRPr lang="zh-CN" altLang="en-US" dirty="0">
              <a:solidFill>
                <a:srgbClr val="FF0000"/>
              </a:solidFill>
            </a:endParaRPr>
          </a:p>
        </p:txBody>
      </p:sp>
      <p:sp>
        <p:nvSpPr>
          <p:cNvPr id="45" name="文本框 44"/>
          <p:cNvSpPr txBox="1"/>
          <p:nvPr/>
        </p:nvSpPr>
        <p:spPr>
          <a:xfrm>
            <a:off x="3485887" y="170510"/>
            <a:ext cx="4368504" cy="692497"/>
          </a:xfrm>
          <a:prstGeom prst="rect">
            <a:avLst/>
          </a:prstGeom>
          <a:noFill/>
        </p:spPr>
        <p:txBody>
          <a:bodyPr wrap="none" rtlCol="0">
            <a:spAutoFit/>
          </a:bodyPr>
          <a:lstStyle/>
          <a:p>
            <a:pPr>
              <a:lnSpc>
                <a:spcPct val="130000"/>
              </a:lnSpc>
            </a:pPr>
            <a:r>
              <a:rPr lang="zh-CN" altLang="en-US" sz="1400" b="1" dirty="0" smtClean="0">
                <a:latin typeface="仿宋" panose="02010609060101010101" pitchFamily="49" charset="-122"/>
                <a:ea typeface="仿宋" panose="02010609060101010101" pitchFamily="49" charset="-122"/>
              </a:rPr>
              <a:t>从执行过程来看，</a:t>
            </a:r>
            <a:r>
              <a:rPr lang="zh-CN" altLang="en-US" sz="1600" b="1" dirty="0" smtClean="0">
                <a:latin typeface="仿宋" panose="02010609060101010101" pitchFamily="49" charset="-122"/>
                <a:ea typeface="仿宋" panose="02010609060101010101" pitchFamily="49" charset="-122"/>
              </a:rPr>
              <a:t>我们</a:t>
            </a:r>
            <a:r>
              <a:rPr lang="zh-CN" altLang="en-US" sz="1400" b="1" dirty="0" smtClean="0">
                <a:latin typeface="仿宋" panose="02010609060101010101" pitchFamily="49" charset="-122"/>
                <a:ea typeface="仿宋" panose="02010609060101010101" pitchFamily="49" charset="-122"/>
              </a:rPr>
              <a:t>每次只需要考虑本次计算结果</a:t>
            </a:r>
            <a:endParaRPr lang="en-US" altLang="zh-CN" sz="1400" b="1" dirty="0" smtClean="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与上次计算结果比较，并选择最小值</a:t>
            </a:r>
            <a:endParaRPr lang="en-US" altLang="zh-CN" sz="1400" b="1" dirty="0" smtClean="0">
              <a:latin typeface="仿宋" panose="02010609060101010101" pitchFamily="49" charset="-122"/>
              <a:ea typeface="仿宋" panose="02010609060101010101" pitchFamily="49" charset="-122"/>
            </a:endParaRPr>
          </a:p>
        </p:txBody>
      </p:sp>
      <p:sp>
        <p:nvSpPr>
          <p:cNvPr id="47" name="矩形 46"/>
          <p:cNvSpPr/>
          <p:nvPr/>
        </p:nvSpPr>
        <p:spPr>
          <a:xfrm>
            <a:off x="3426113" y="872595"/>
            <a:ext cx="6096000" cy="687111"/>
          </a:xfrm>
          <a:prstGeom prst="rect">
            <a:avLst/>
          </a:prstGeom>
        </p:spPr>
        <p:txBody>
          <a:bodyPr>
            <a:spAutoFit/>
          </a:bodyPr>
          <a:lstStyle/>
          <a:p>
            <a:pPr>
              <a:lnSpc>
                <a:spcPct val="130000"/>
              </a:lnSpc>
            </a:pPr>
            <a:r>
              <a:rPr lang="zh-CN" altLang="en-US" sz="1600" b="1" dirty="0" smtClean="0">
                <a:latin typeface="仿宋" panose="02010609060101010101" pitchFamily="49" charset="-122"/>
                <a:ea typeface="仿宋" panose="02010609060101010101" pitchFamily="49" charset="-122"/>
              </a:rPr>
              <a:t>使用一句话概括这个过程：从</a:t>
            </a:r>
            <a:r>
              <a:rPr lang="en-US" altLang="zh-CN" sz="1600" b="1" dirty="0" err="1">
                <a:latin typeface="仿宋" panose="02010609060101010101" pitchFamily="49" charset="-122"/>
                <a:ea typeface="仿宋" panose="02010609060101010101" pitchFamily="49" charset="-122"/>
              </a:rPr>
              <a:t>i</a:t>
            </a:r>
            <a:r>
              <a:rPr lang="zh-CN" altLang="en-US" sz="1600" b="1" dirty="0">
                <a:latin typeface="仿宋" panose="02010609060101010101" pitchFamily="49" charset="-122"/>
                <a:ea typeface="仿宋" panose="02010609060101010101" pitchFamily="49" charset="-122"/>
              </a:rPr>
              <a:t>号节点经过</a:t>
            </a:r>
            <a:r>
              <a:rPr lang="en-US" altLang="zh-CN" sz="1600" b="1" dirty="0">
                <a:latin typeface="仿宋" panose="02010609060101010101" pitchFamily="49" charset="-122"/>
                <a:ea typeface="仿宋" panose="02010609060101010101" pitchFamily="49" charset="-122"/>
              </a:rPr>
              <a:t>j</a:t>
            </a:r>
            <a:r>
              <a:rPr lang="zh-CN" altLang="en-US" sz="1600" b="1" dirty="0">
                <a:latin typeface="仿宋" panose="02010609060101010101" pitchFamily="49" charset="-122"/>
                <a:ea typeface="仿宋" panose="02010609060101010101" pitchFamily="49" charset="-122"/>
              </a:rPr>
              <a:t>号节点只经过前</a:t>
            </a:r>
            <a:r>
              <a:rPr lang="en-US" altLang="zh-CN" sz="1600" b="1" dirty="0">
                <a:latin typeface="仿宋" panose="02010609060101010101" pitchFamily="49" charset="-122"/>
                <a:ea typeface="仿宋" panose="02010609060101010101" pitchFamily="49" charset="-122"/>
              </a:rPr>
              <a:t>k</a:t>
            </a:r>
          </a:p>
          <a:p>
            <a:pPr>
              <a:lnSpc>
                <a:spcPct val="130000"/>
              </a:lnSpc>
            </a:pPr>
            <a:r>
              <a:rPr lang="zh-CN" altLang="en-US" sz="1600" b="1" dirty="0">
                <a:latin typeface="仿宋" panose="02010609060101010101" pitchFamily="49" charset="-122"/>
                <a:ea typeface="仿宋" panose="02010609060101010101" pitchFamily="49" charset="-122"/>
              </a:rPr>
              <a:t>号节点的最短路径。这就是一种动态规划的思想</a:t>
            </a:r>
            <a:r>
              <a:rPr lang="zh-CN" altLang="en-US" sz="1600" b="1" dirty="0" smtClean="0">
                <a:latin typeface="仿宋" panose="02010609060101010101" pitchFamily="49" charset="-122"/>
                <a:ea typeface="仿宋" panose="02010609060101010101" pitchFamily="49" charset="-122"/>
              </a:rPr>
              <a:t>。</a:t>
            </a:r>
            <a:endParaRPr lang="en-US" altLang="zh-CN" sz="1600" b="1" dirty="0">
              <a:latin typeface="仿宋" panose="02010609060101010101" pitchFamily="49" charset="-122"/>
              <a:ea typeface="仿宋" panose="02010609060101010101" pitchFamily="49" charset="-122"/>
            </a:endParaRPr>
          </a:p>
        </p:txBody>
      </p:sp>
      <mc:AlternateContent xmlns:mc="http://schemas.openxmlformats.org/markup-compatibility/2006" xmlns:a14="http://schemas.microsoft.com/office/drawing/2010/main">
        <mc:Choice Requires="a14">
          <p:sp>
            <p:nvSpPr>
              <p:cNvPr id="48" name="矩形 47"/>
              <p:cNvSpPr/>
              <p:nvPr/>
            </p:nvSpPr>
            <p:spPr>
              <a:xfrm>
                <a:off x="3446724" y="1615188"/>
                <a:ext cx="6096000" cy="1059842"/>
              </a:xfrm>
              <a:prstGeom prst="rect">
                <a:avLst/>
              </a:prstGeom>
            </p:spPr>
            <p:txBody>
              <a:bodyPr>
                <a:spAutoFit/>
              </a:bodyPr>
              <a:lstStyle/>
              <a:p>
                <a:pPr>
                  <a:lnSpc>
                    <a:spcPct val="130000"/>
                  </a:lnSpc>
                </a:pPr>
                <a:r>
                  <a:rPr lang="zh-CN" altLang="en-US" sz="1600" b="1" dirty="0" smtClean="0">
                    <a:latin typeface="仿宋" panose="02010609060101010101" pitchFamily="49" charset="-122"/>
                    <a:ea typeface="仿宋" panose="02010609060101010101" pitchFamily="49" charset="-122"/>
                  </a:rPr>
                  <a:t>下面</a:t>
                </a:r>
                <a:r>
                  <a:rPr lang="zh-CN" altLang="en-US" sz="1600" b="1" dirty="0">
                    <a:latin typeface="仿宋" panose="02010609060101010101" pitchFamily="49" charset="-122"/>
                    <a:ea typeface="仿宋" panose="02010609060101010101" pitchFamily="49" charset="-122"/>
                  </a:rPr>
                  <a:t>我们尝试使用代码呈现这个算法：</a:t>
                </a:r>
                <a:endParaRPr lang="en-US" altLang="zh-CN" sz="1600" b="1" dirty="0">
                  <a:latin typeface="仿宋" panose="02010609060101010101" pitchFamily="49" charset="-122"/>
                  <a:ea typeface="仿宋" panose="02010609060101010101" pitchFamily="49" charset="-122"/>
                </a:endParaRPr>
              </a:p>
              <a:p>
                <a:pPr>
                  <a:lnSpc>
                    <a:spcPct val="130000"/>
                  </a:lnSpc>
                </a:pPr>
                <a:r>
                  <a:rPr lang="zh-CN" altLang="en-US" sz="1600" b="1" dirty="0">
                    <a:latin typeface="仿宋" panose="02010609060101010101" pitchFamily="49" charset="-122"/>
                    <a:ea typeface="仿宋" panose="02010609060101010101" pitchFamily="49" charset="-122"/>
                  </a:rPr>
                  <a:t>若用矩阵</a:t>
                </a:r>
                <a:r>
                  <a:rPr lang="en-US" altLang="zh-CN" sz="1600" b="1" dirty="0">
                    <a:latin typeface="仿宋" panose="02010609060101010101" pitchFamily="49" charset="-122"/>
                    <a:ea typeface="仿宋" panose="02010609060101010101" pitchFamily="49" charset="-122"/>
                  </a:rPr>
                  <a:t>graph[m][n]</a:t>
                </a:r>
                <a:r>
                  <a:rPr lang="zh-CN" altLang="en-US" sz="1600" b="1" dirty="0">
                    <a:latin typeface="仿宋" panose="02010609060101010101" pitchFamily="49" charset="-122"/>
                    <a:ea typeface="仿宋" panose="02010609060101010101" pitchFamily="49" charset="-122"/>
                  </a:rPr>
                  <a:t>来使用邻接矩阵法存储</a:t>
                </a:r>
                <a:r>
                  <a:rPr lang="zh-CN" altLang="en-US" sz="1600" b="1" dirty="0" smtClean="0">
                    <a:latin typeface="仿宋" panose="02010609060101010101" pitchFamily="49" charset="-122"/>
                    <a:ea typeface="仿宋" panose="02010609060101010101" pitchFamily="49" charset="-122"/>
                  </a:rPr>
                  <a:t>图</a:t>
                </a:r>
                <a:r>
                  <a:rPr lang="en-US" altLang="zh-CN" sz="1600" b="1" dirty="0" smtClean="0">
                    <a:latin typeface="仿宋" panose="02010609060101010101" pitchFamily="49" charset="-122"/>
                    <a:ea typeface="仿宋" panose="02010609060101010101" pitchFamily="49" charset="-122"/>
                  </a:rPr>
                  <a:t>,</a:t>
                </a:r>
                <a:r>
                  <a:rPr lang="zh-CN" altLang="en-US" sz="1600" b="1" dirty="0" smtClean="0">
                    <a:latin typeface="仿宋" panose="02010609060101010101" pitchFamily="49" charset="-122"/>
                    <a:ea typeface="仿宋" panose="02010609060101010101" pitchFamily="49" charset="-122"/>
                  </a:rPr>
                  <a:t>我们</a:t>
                </a:r>
                <a:r>
                  <a:rPr lang="zh-CN" altLang="en-US" sz="1600" b="1" dirty="0">
                    <a:latin typeface="仿宋" panose="02010609060101010101" pitchFamily="49" charset="-122"/>
                    <a:ea typeface="仿宋" panose="02010609060101010101" pitchFamily="49" charset="-122"/>
                  </a:rPr>
                  <a:t>对每个顶点进行一次扫描，寻找最短路径的时间复杂度</a:t>
                </a:r>
                <a:r>
                  <a:rPr lang="zh-CN" altLang="en-US" sz="1600" b="1" dirty="0" smtClean="0">
                    <a:latin typeface="仿宋" panose="02010609060101010101" pitchFamily="49" charset="-122"/>
                    <a:ea typeface="仿宋" panose="02010609060101010101" pitchFamily="49" charset="-122"/>
                  </a:rPr>
                  <a:t>是</a:t>
                </a:r>
                <a:r>
                  <a:rPr lang="en-US" altLang="zh-CN" sz="1600" b="1" dirty="0" smtClean="0">
                    <a:latin typeface="仿宋" panose="02010609060101010101" pitchFamily="49" charset="-122"/>
                    <a:ea typeface="仿宋" panose="02010609060101010101" pitchFamily="49" charset="-122"/>
                  </a:rPr>
                  <a:t>O</a:t>
                </a:r>
                <a:r>
                  <a:rPr lang="en-US" altLang="zh-CN" sz="1600" b="1" dirty="0">
                    <a:latin typeface="仿宋" panose="02010609060101010101" pitchFamily="49" charset="-122"/>
                    <a:ea typeface="仿宋" panose="02010609060101010101" pitchFamily="49" charset="-122"/>
                  </a:rPr>
                  <a:t>(</a:t>
                </a:r>
                <a14:m>
                  <m:oMath xmlns:m="http://schemas.openxmlformats.org/officeDocument/2006/math">
                    <m:sSup>
                      <m:sSupPr>
                        <m:ctrlPr>
                          <a:rPr lang="en-US" altLang="zh-CN" sz="1600" b="1" i="1">
                            <a:latin typeface="Cambria Math" panose="02040503050406030204" pitchFamily="18" charset="0"/>
                            <a:ea typeface="仿宋" panose="02010609060101010101" pitchFamily="49" charset="-122"/>
                          </a:rPr>
                        </m:ctrlPr>
                      </m:sSupPr>
                      <m:e>
                        <m:r>
                          <a:rPr lang="en-US" altLang="zh-CN" sz="1600" b="1" i="1">
                            <a:latin typeface="Cambria Math" panose="02040503050406030204" pitchFamily="18" charset="0"/>
                            <a:ea typeface="仿宋" panose="02010609060101010101" pitchFamily="49" charset="-122"/>
                          </a:rPr>
                          <m:t>𝑵</m:t>
                        </m:r>
                      </m:e>
                      <m:sup>
                        <m:r>
                          <a:rPr lang="en-US" altLang="zh-CN" sz="1600" b="1" i="1">
                            <a:latin typeface="Cambria Math" panose="02040503050406030204" pitchFamily="18" charset="0"/>
                            <a:ea typeface="仿宋" panose="02010609060101010101" pitchFamily="49" charset="-122"/>
                          </a:rPr>
                          <m:t>𝟐</m:t>
                        </m:r>
                      </m:sup>
                    </m:sSup>
                  </m:oMath>
                </a14:m>
                <a:r>
                  <a:rPr lang="en-US" altLang="zh-CN" sz="1600" b="1" dirty="0" smtClean="0">
                    <a:latin typeface="仿宋" panose="02010609060101010101" pitchFamily="49" charset="-122"/>
                    <a:ea typeface="仿宋" panose="02010609060101010101" pitchFamily="49" charset="-122"/>
                  </a:rPr>
                  <a:t>)</a:t>
                </a:r>
                <a:endParaRPr lang="en-US" altLang="zh-CN" sz="1600" b="1" dirty="0">
                  <a:latin typeface="仿宋" panose="02010609060101010101" pitchFamily="49" charset="-122"/>
                  <a:ea typeface="仿宋" panose="02010609060101010101" pitchFamily="49" charset="-122"/>
                </a:endParaRPr>
              </a:p>
            </p:txBody>
          </p:sp>
        </mc:Choice>
        <mc:Fallback xmlns="">
          <p:sp>
            <p:nvSpPr>
              <p:cNvPr id="48" name="矩形 47"/>
              <p:cNvSpPr>
                <a:spLocks noRot="1" noChangeAspect="1" noMove="1" noResize="1" noEditPoints="1" noAdjustHandles="1" noChangeArrowheads="1" noChangeShapeType="1" noTextEdit="1"/>
              </p:cNvSpPr>
              <p:nvPr/>
            </p:nvSpPr>
            <p:spPr>
              <a:xfrm>
                <a:off x="3446724" y="1615188"/>
                <a:ext cx="6096000" cy="1059842"/>
              </a:xfrm>
              <a:prstGeom prst="rect">
                <a:avLst/>
              </a:prstGeom>
              <a:blipFill>
                <a:blip r:embed="rId5"/>
                <a:stretch>
                  <a:fillRect l="-500" b="-2299"/>
                </a:stretch>
              </a:blipFill>
            </p:spPr>
            <p:txBody>
              <a:bodyPr/>
              <a:lstStyle/>
              <a:p>
                <a:r>
                  <a:rPr lang="zh-CN" altLang="en-US">
                    <a:noFill/>
                  </a:rPr>
                  <a:t> </a:t>
                </a:r>
              </a:p>
            </p:txBody>
          </p:sp>
        </mc:Fallback>
      </mc:AlternateContent>
      <p:sp>
        <p:nvSpPr>
          <p:cNvPr id="49" name="矩形 48"/>
          <p:cNvSpPr/>
          <p:nvPr/>
        </p:nvSpPr>
        <p:spPr>
          <a:xfrm>
            <a:off x="3446724" y="2801855"/>
            <a:ext cx="7673858" cy="2012859"/>
          </a:xfrm>
          <a:prstGeom prst="rect">
            <a:avLst/>
          </a:prstGeom>
        </p:spPr>
        <p:txBody>
          <a:bodyPr wrap="square">
            <a:spAutoFit/>
          </a:bodyPr>
          <a:lstStyle/>
          <a:p>
            <a:pPr>
              <a:lnSpc>
                <a:spcPct val="130000"/>
              </a:lnSpc>
            </a:pPr>
            <a:r>
              <a:rPr lang="zh-CN" altLang="en-US" sz="1600" b="1" dirty="0" smtClean="0">
                <a:latin typeface="仿宋" panose="02010609060101010101" pitchFamily="49" charset="-122"/>
                <a:ea typeface="仿宋" panose="02010609060101010101" pitchFamily="49" charset="-122"/>
              </a:rPr>
              <a:t>假设，我们只寻找节点</a:t>
            </a:r>
            <a:r>
              <a:rPr lang="en-US" altLang="zh-CN" sz="1600" b="1" dirty="0" smtClean="0">
                <a:latin typeface="仿宋" panose="02010609060101010101" pitchFamily="49" charset="-122"/>
                <a:ea typeface="仿宋" panose="02010609060101010101" pitchFamily="49" charset="-122"/>
              </a:rPr>
              <a:t>0</a:t>
            </a:r>
            <a:r>
              <a:rPr lang="zh-CN" altLang="en-US" sz="1600" b="1" dirty="0" smtClean="0">
                <a:latin typeface="仿宋" panose="02010609060101010101" pitchFamily="49" charset="-122"/>
                <a:ea typeface="仿宋" panose="02010609060101010101" pitchFamily="49" charset="-122"/>
              </a:rPr>
              <a:t>到所有节点的最短路径，写出其代码</a:t>
            </a:r>
            <a:endParaRPr lang="en-US" altLang="zh-CN" sz="1600" b="1" dirty="0" smtClean="0">
              <a:latin typeface="仿宋" panose="02010609060101010101" pitchFamily="49" charset="-122"/>
              <a:ea typeface="仿宋" panose="02010609060101010101" pitchFamily="49" charset="-122"/>
            </a:endParaRPr>
          </a:p>
          <a:p>
            <a:pPr>
              <a:lnSpc>
                <a:spcPct val="130000"/>
              </a:lnSpc>
            </a:pPr>
            <a:r>
              <a:rPr lang="en-US" altLang="zh-CN" sz="1600" b="1" dirty="0" smtClean="0">
                <a:latin typeface="仿宋" panose="02010609060101010101" pitchFamily="49" charset="-122"/>
                <a:ea typeface="仿宋" panose="02010609060101010101" pitchFamily="49" charset="-122"/>
              </a:rPr>
              <a:t>for(int </a:t>
            </a:r>
            <a:r>
              <a:rPr lang="en-US" altLang="zh-CN" sz="1600" b="1" dirty="0" err="1" smtClean="0">
                <a:latin typeface="仿宋" panose="02010609060101010101" pitchFamily="49" charset="-122"/>
                <a:ea typeface="仿宋" panose="02010609060101010101" pitchFamily="49" charset="-122"/>
              </a:rPr>
              <a:t>i</a:t>
            </a:r>
            <a:r>
              <a:rPr lang="en-US" altLang="zh-CN" sz="1600" b="1" dirty="0" smtClean="0">
                <a:latin typeface="仿宋" panose="02010609060101010101" pitchFamily="49" charset="-122"/>
                <a:ea typeface="仿宋" panose="02010609060101010101" pitchFamily="49" charset="-122"/>
              </a:rPr>
              <a:t> = 0; </a:t>
            </a:r>
            <a:r>
              <a:rPr lang="en-US" altLang="zh-CN" sz="1600" b="1" dirty="0" err="1" smtClean="0">
                <a:latin typeface="仿宋" panose="02010609060101010101" pitchFamily="49" charset="-122"/>
                <a:ea typeface="仿宋" panose="02010609060101010101" pitchFamily="49" charset="-122"/>
              </a:rPr>
              <a:t>i</a:t>
            </a:r>
            <a:r>
              <a:rPr lang="en-US" altLang="zh-CN" sz="1600" b="1" dirty="0" smtClean="0">
                <a:latin typeface="仿宋" panose="02010609060101010101" pitchFamily="49" charset="-122"/>
                <a:ea typeface="仿宋" panose="02010609060101010101" pitchFamily="49" charset="-122"/>
              </a:rPr>
              <a:t>&lt;n; </a:t>
            </a:r>
            <a:r>
              <a:rPr lang="en-US" altLang="zh-CN" sz="1600" b="1" dirty="0" err="1" smtClean="0">
                <a:latin typeface="仿宋" panose="02010609060101010101" pitchFamily="49" charset="-122"/>
                <a:ea typeface="仿宋" panose="02010609060101010101" pitchFamily="49" charset="-122"/>
              </a:rPr>
              <a:t>i</a:t>
            </a:r>
            <a:r>
              <a:rPr lang="en-US" altLang="zh-CN" sz="1600" b="1" dirty="0" smtClean="0">
                <a:latin typeface="仿宋" panose="02010609060101010101" pitchFamily="49" charset="-122"/>
                <a:ea typeface="仿宋" panose="02010609060101010101" pitchFamily="49" charset="-122"/>
              </a:rPr>
              <a:t>++){</a:t>
            </a:r>
          </a:p>
          <a:p>
            <a:pPr>
              <a:lnSpc>
                <a:spcPct val="130000"/>
              </a:lnSpc>
            </a:pPr>
            <a:r>
              <a:rPr lang="en-US" altLang="zh-CN" sz="1600" b="1" dirty="0" smtClean="0">
                <a:latin typeface="仿宋" panose="02010609060101010101" pitchFamily="49" charset="-122"/>
                <a:ea typeface="仿宋" panose="02010609060101010101" pitchFamily="49" charset="-122"/>
              </a:rPr>
              <a:t>    for(int j = 0;j&lt;n; </a:t>
            </a:r>
            <a:r>
              <a:rPr lang="en-US" altLang="zh-CN" sz="1600" b="1" dirty="0" err="1" smtClean="0">
                <a:latin typeface="仿宋" panose="02010609060101010101" pitchFamily="49" charset="-122"/>
                <a:ea typeface="仿宋" panose="02010609060101010101" pitchFamily="49" charset="-122"/>
              </a:rPr>
              <a:t>j++</a:t>
            </a:r>
            <a:r>
              <a:rPr lang="en-US" altLang="zh-CN" sz="1600" b="1" dirty="0" smtClean="0">
                <a:latin typeface="仿宋" panose="02010609060101010101" pitchFamily="49" charset="-122"/>
                <a:ea typeface="仿宋" panose="02010609060101010101" pitchFamily="49" charset="-122"/>
              </a:rPr>
              <a:t>){</a:t>
            </a:r>
          </a:p>
          <a:p>
            <a:pPr>
              <a:lnSpc>
                <a:spcPct val="130000"/>
              </a:lnSpc>
            </a:pPr>
            <a:r>
              <a:rPr lang="en-US" altLang="zh-CN" sz="1600" b="1" dirty="0" smtClean="0">
                <a:latin typeface="仿宋" panose="02010609060101010101" pitchFamily="49" charset="-122"/>
                <a:ea typeface="仿宋" panose="02010609060101010101" pitchFamily="49" charset="-122"/>
              </a:rPr>
              <a:t>	graph[1][</a:t>
            </a:r>
            <a:r>
              <a:rPr lang="en-US" altLang="zh-CN" sz="1600" b="1" dirty="0" err="1" smtClean="0">
                <a:latin typeface="仿宋" panose="02010609060101010101" pitchFamily="49" charset="-122"/>
                <a:ea typeface="仿宋" panose="02010609060101010101" pitchFamily="49" charset="-122"/>
              </a:rPr>
              <a:t>i</a:t>
            </a:r>
            <a:r>
              <a:rPr lang="en-US" altLang="zh-CN" sz="1600" b="1" dirty="0" smtClean="0">
                <a:latin typeface="仿宋" panose="02010609060101010101" pitchFamily="49" charset="-122"/>
                <a:ea typeface="仿宋" panose="02010609060101010101" pitchFamily="49" charset="-122"/>
              </a:rPr>
              <a:t>] = min(graph[1][j], graph[j][</a:t>
            </a:r>
            <a:r>
              <a:rPr lang="en-US" altLang="zh-CN" sz="1600" b="1" dirty="0" err="1" smtClean="0">
                <a:latin typeface="仿宋" panose="02010609060101010101" pitchFamily="49" charset="-122"/>
                <a:ea typeface="仿宋" panose="02010609060101010101" pitchFamily="49" charset="-122"/>
              </a:rPr>
              <a:t>i</a:t>
            </a:r>
            <a:r>
              <a:rPr lang="en-US" altLang="zh-CN" sz="1600" b="1" dirty="0" smtClean="0">
                <a:latin typeface="仿宋" panose="02010609060101010101" pitchFamily="49" charset="-122"/>
                <a:ea typeface="仿宋" panose="02010609060101010101" pitchFamily="49" charset="-122"/>
              </a:rPr>
              <a:t>]+graph[1][j]);</a:t>
            </a:r>
            <a:endParaRPr lang="en-US" altLang="zh-CN" sz="1600" b="1" dirty="0" smtClean="0">
              <a:latin typeface="仿宋" panose="02010609060101010101" pitchFamily="49" charset="-122"/>
              <a:ea typeface="仿宋" panose="02010609060101010101" pitchFamily="49" charset="-122"/>
            </a:endParaRPr>
          </a:p>
          <a:p>
            <a:pPr>
              <a:lnSpc>
                <a:spcPct val="130000"/>
              </a:lnSpc>
            </a:pPr>
            <a:r>
              <a:rPr lang="en-US" altLang="zh-CN" sz="1600" b="1" dirty="0" smtClean="0">
                <a:latin typeface="仿宋" panose="02010609060101010101" pitchFamily="49" charset="-122"/>
                <a:ea typeface="仿宋" panose="02010609060101010101" pitchFamily="49" charset="-122"/>
              </a:rPr>
              <a:t>    }</a:t>
            </a:r>
          </a:p>
          <a:p>
            <a:pPr>
              <a:lnSpc>
                <a:spcPct val="130000"/>
              </a:lnSpc>
            </a:pPr>
            <a:r>
              <a:rPr lang="en-US" altLang="zh-CN" sz="1600" b="1" dirty="0" smtClean="0">
                <a:latin typeface="仿宋" panose="02010609060101010101" pitchFamily="49" charset="-122"/>
                <a:ea typeface="仿宋" panose="02010609060101010101" pitchFamily="49" charset="-122"/>
              </a:rPr>
              <a:t>}</a:t>
            </a:r>
          </a:p>
        </p:txBody>
      </p:sp>
      <p:sp>
        <p:nvSpPr>
          <p:cNvPr id="50" name="矩形 49"/>
          <p:cNvSpPr/>
          <p:nvPr/>
        </p:nvSpPr>
        <p:spPr>
          <a:xfrm>
            <a:off x="3446724" y="4814714"/>
            <a:ext cx="6096000" cy="687111"/>
          </a:xfrm>
          <a:prstGeom prst="rect">
            <a:avLst/>
          </a:prstGeom>
        </p:spPr>
        <p:txBody>
          <a:bodyPr>
            <a:spAutoFit/>
          </a:bodyPr>
          <a:lstStyle/>
          <a:p>
            <a:pPr>
              <a:lnSpc>
                <a:spcPct val="130000"/>
              </a:lnSpc>
            </a:pPr>
            <a:r>
              <a:rPr lang="zh-CN" altLang="en-US" sz="1600" b="1" dirty="0" smtClean="0">
                <a:latin typeface="仿宋" panose="02010609060101010101" pitchFamily="49" charset="-122"/>
                <a:ea typeface="仿宋" panose="02010609060101010101" pitchFamily="49" charset="-122"/>
              </a:rPr>
              <a:t>如果我们要寻找所有节点到所有节点的最短路径呢？</a:t>
            </a:r>
            <a:endParaRPr lang="en-US" altLang="zh-CN" sz="1600" b="1" dirty="0" smtClean="0">
              <a:latin typeface="仿宋" panose="02010609060101010101" pitchFamily="49" charset="-122"/>
              <a:ea typeface="仿宋" panose="02010609060101010101" pitchFamily="49" charset="-122"/>
            </a:endParaRPr>
          </a:p>
          <a:p>
            <a:pPr>
              <a:lnSpc>
                <a:spcPct val="130000"/>
              </a:lnSpc>
            </a:pPr>
            <a:r>
              <a:rPr lang="zh-CN" altLang="en-US" sz="1600" b="1" dirty="0" smtClean="0">
                <a:latin typeface="仿宋" panose="02010609060101010101" pitchFamily="49" charset="-122"/>
                <a:ea typeface="仿宋" panose="02010609060101010101" pitchFamily="49" charset="-122"/>
              </a:rPr>
              <a:t>只需要将</a:t>
            </a:r>
            <a:r>
              <a:rPr lang="en-US" altLang="zh-CN" sz="1600" b="1" dirty="0" smtClean="0">
                <a:latin typeface="仿宋" panose="02010609060101010101" pitchFamily="49" charset="-122"/>
                <a:ea typeface="仿宋" panose="02010609060101010101" pitchFamily="49" charset="-122"/>
              </a:rPr>
              <a:t>1</a:t>
            </a:r>
            <a:r>
              <a:rPr lang="zh-CN" altLang="en-US" sz="1600" b="1" dirty="0" smtClean="0">
                <a:latin typeface="仿宋" panose="02010609060101010101" pitchFamily="49" charset="-122"/>
                <a:ea typeface="仿宋" panose="02010609060101010101" pitchFamily="49" charset="-122"/>
              </a:rPr>
              <a:t>换成一个外层</a:t>
            </a:r>
            <a:r>
              <a:rPr lang="zh-CN" altLang="en-US" sz="1600" b="1" dirty="0">
                <a:latin typeface="仿宋" panose="02010609060101010101" pitchFamily="49" charset="-122"/>
                <a:ea typeface="仿宋" panose="02010609060101010101" pitchFamily="49" charset="-122"/>
              </a:rPr>
              <a:t>循环</a:t>
            </a:r>
          </a:p>
        </p:txBody>
      </p:sp>
    </p:spTree>
    <p:extLst>
      <p:ext uri="{BB962C8B-B14F-4D97-AF65-F5344CB8AC3E}">
        <p14:creationId xmlns:p14="http://schemas.microsoft.com/office/powerpoint/2010/main" val="151860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P spid="47" grpId="1"/>
      <p:bldP spid="49" grpId="0"/>
      <p:bldP spid="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767707" y="406400"/>
                <a:ext cx="5057795" cy="5740161"/>
              </a:xfrm>
              <a:prstGeom prst="rect">
                <a:avLst/>
              </a:prstGeom>
              <a:noFill/>
            </p:spPr>
            <p:txBody>
              <a:bodyPr wrap="none" rtlCol="0">
                <a:spAutoFit/>
              </a:bodyPr>
              <a:lstStyle/>
              <a:p>
                <a:pPr>
                  <a:lnSpc>
                    <a:spcPct val="130000"/>
                  </a:lnSpc>
                </a:pPr>
                <a:r>
                  <a:rPr lang="zh-CN" altLang="en-US" sz="1400" b="1" dirty="0" smtClean="0">
                    <a:latin typeface="仿宋" panose="02010609060101010101" pitchFamily="49" charset="-122"/>
                    <a:ea typeface="仿宋" panose="02010609060101010101" pitchFamily="49" charset="-122"/>
                  </a:rPr>
                  <a:t>从执行过程来看，</a:t>
                </a:r>
                <a:r>
                  <a:rPr lang="zh-CN" altLang="en-US" sz="1600" b="1" dirty="0" smtClean="0">
                    <a:latin typeface="仿宋" panose="02010609060101010101" pitchFamily="49" charset="-122"/>
                    <a:ea typeface="仿宋" panose="02010609060101010101" pitchFamily="49" charset="-122"/>
                  </a:rPr>
                  <a:t>我们</a:t>
                </a:r>
                <a:r>
                  <a:rPr lang="zh-CN" altLang="en-US" sz="1400" b="1" dirty="0" smtClean="0">
                    <a:latin typeface="仿宋" panose="02010609060101010101" pitchFamily="49" charset="-122"/>
                    <a:ea typeface="仿宋" panose="02010609060101010101" pitchFamily="49" charset="-122"/>
                  </a:rPr>
                  <a:t>每次只需要考虑本次计算结果</a:t>
                </a:r>
                <a:endParaRPr lang="en-US" altLang="zh-CN" sz="1400" b="1" dirty="0" smtClean="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与上次计算结果比较，并选择最小值</a:t>
                </a:r>
                <a:endParaRPr lang="en-US" altLang="zh-CN" sz="1400" b="1" dirty="0" smtClean="0">
                  <a:latin typeface="仿宋" panose="02010609060101010101" pitchFamily="49" charset="-122"/>
                  <a:ea typeface="仿宋" panose="02010609060101010101" pitchFamily="49" charset="-122"/>
                </a:endParaRPr>
              </a:p>
              <a:p>
                <a:pPr>
                  <a:lnSpc>
                    <a:spcPct val="130000"/>
                  </a:lnSpc>
                </a:pPr>
                <a:endParaRPr lang="en-US" altLang="zh-CN" sz="1400" b="1" dirty="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使用一句话概括这个过程：从</a:t>
                </a:r>
                <a:r>
                  <a:rPr lang="en-US" altLang="zh-CN" sz="1400" b="1" dirty="0" err="1" smtClean="0">
                    <a:latin typeface="仿宋" panose="02010609060101010101" pitchFamily="49" charset="-122"/>
                    <a:ea typeface="仿宋" panose="02010609060101010101" pitchFamily="49" charset="-122"/>
                  </a:rPr>
                  <a:t>i</a:t>
                </a:r>
                <a:r>
                  <a:rPr lang="zh-CN" altLang="en-US" sz="1400" b="1" dirty="0" smtClean="0">
                    <a:latin typeface="仿宋" panose="02010609060101010101" pitchFamily="49" charset="-122"/>
                    <a:ea typeface="仿宋" panose="02010609060101010101" pitchFamily="49" charset="-122"/>
                  </a:rPr>
                  <a:t>号节点经过</a:t>
                </a:r>
                <a:r>
                  <a:rPr lang="en-US" altLang="zh-CN" sz="1400" b="1" dirty="0" smtClean="0">
                    <a:latin typeface="仿宋" panose="02010609060101010101" pitchFamily="49" charset="-122"/>
                    <a:ea typeface="仿宋" panose="02010609060101010101" pitchFamily="49" charset="-122"/>
                  </a:rPr>
                  <a:t>j</a:t>
                </a:r>
                <a:r>
                  <a:rPr lang="zh-CN" altLang="en-US" sz="1400" b="1" dirty="0" smtClean="0">
                    <a:latin typeface="仿宋" panose="02010609060101010101" pitchFamily="49" charset="-122"/>
                    <a:ea typeface="仿宋" panose="02010609060101010101" pitchFamily="49" charset="-122"/>
                  </a:rPr>
                  <a:t>号节点只经过前</a:t>
                </a:r>
                <a:r>
                  <a:rPr lang="en-US" altLang="zh-CN" sz="1400" b="1" dirty="0" smtClean="0">
                    <a:latin typeface="仿宋" panose="02010609060101010101" pitchFamily="49" charset="-122"/>
                    <a:ea typeface="仿宋" panose="02010609060101010101" pitchFamily="49" charset="-122"/>
                  </a:rPr>
                  <a:t>k</a:t>
                </a:r>
              </a:p>
              <a:p>
                <a:pPr>
                  <a:lnSpc>
                    <a:spcPct val="130000"/>
                  </a:lnSpc>
                </a:pPr>
                <a:r>
                  <a:rPr lang="zh-CN" altLang="en-US" sz="1400" b="1" dirty="0">
                    <a:latin typeface="仿宋" panose="02010609060101010101" pitchFamily="49" charset="-122"/>
                    <a:ea typeface="仿宋" panose="02010609060101010101" pitchFamily="49" charset="-122"/>
                  </a:rPr>
                  <a:t>号</a:t>
                </a:r>
                <a:r>
                  <a:rPr lang="zh-CN" altLang="en-US" sz="1400" b="1" dirty="0" smtClean="0">
                    <a:latin typeface="仿宋" panose="02010609060101010101" pitchFamily="49" charset="-122"/>
                    <a:ea typeface="仿宋" panose="02010609060101010101" pitchFamily="49" charset="-122"/>
                  </a:rPr>
                  <a:t>节点的最短路径。这就是一种动态规划的思想。</a:t>
                </a:r>
                <a:endParaRPr lang="en-US" altLang="zh-CN" sz="1400" b="1" dirty="0" smtClean="0">
                  <a:latin typeface="仿宋" panose="02010609060101010101" pitchFamily="49" charset="-122"/>
                  <a:ea typeface="仿宋" panose="02010609060101010101" pitchFamily="49" charset="-122"/>
                </a:endParaRPr>
              </a:p>
              <a:p>
                <a:pPr>
                  <a:lnSpc>
                    <a:spcPct val="130000"/>
                  </a:lnSpc>
                </a:pPr>
                <a:endParaRPr lang="en-US" altLang="zh-CN" sz="1400" b="1" dirty="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下面我们尝试使用代码呈现这个算法：</a:t>
                </a:r>
                <a:endParaRPr lang="en-US" altLang="zh-CN" sz="1400" b="1" dirty="0" smtClean="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若用矩阵</a:t>
                </a:r>
                <a:r>
                  <a:rPr lang="en-US" altLang="zh-CN" sz="1400" b="1" dirty="0" smtClean="0">
                    <a:latin typeface="仿宋" panose="02010609060101010101" pitchFamily="49" charset="-122"/>
                    <a:ea typeface="仿宋" panose="02010609060101010101" pitchFamily="49" charset="-122"/>
                  </a:rPr>
                  <a:t>graph[m][n]</a:t>
                </a:r>
                <a:r>
                  <a:rPr lang="zh-CN" altLang="en-US" sz="1400" b="1" dirty="0" smtClean="0">
                    <a:latin typeface="仿宋" panose="02010609060101010101" pitchFamily="49" charset="-122"/>
                    <a:ea typeface="仿宋" panose="02010609060101010101" pitchFamily="49" charset="-122"/>
                  </a:rPr>
                  <a:t>来使用邻接矩阵法存储图</a:t>
                </a:r>
                <a:endParaRPr lang="en-US" altLang="zh-CN" sz="1400" b="1" dirty="0" smtClean="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我们对每个顶点进行一次扫描，寻找最短路径的时间复杂度是</a:t>
                </a:r>
                <a:endParaRPr lang="en-US" altLang="zh-CN" sz="1400" b="1" dirty="0" smtClean="0">
                  <a:latin typeface="仿宋" panose="02010609060101010101" pitchFamily="49" charset="-122"/>
                  <a:ea typeface="仿宋" panose="02010609060101010101" pitchFamily="49" charset="-122"/>
                </a:endParaRPr>
              </a:p>
              <a:p>
                <a:pPr>
                  <a:lnSpc>
                    <a:spcPct val="130000"/>
                  </a:lnSpc>
                </a:pPr>
                <a:r>
                  <a:rPr lang="en-US" altLang="zh-CN" sz="1400" b="1" dirty="0" smtClean="0">
                    <a:latin typeface="仿宋" panose="02010609060101010101" pitchFamily="49" charset="-122"/>
                    <a:ea typeface="仿宋" panose="02010609060101010101" pitchFamily="49" charset="-122"/>
                  </a:rPr>
                  <a:t>O(</a:t>
                </a:r>
                <a14:m>
                  <m:oMath xmlns:m="http://schemas.openxmlformats.org/officeDocument/2006/math">
                    <m:sSup>
                      <m:sSupPr>
                        <m:ctrlPr>
                          <a:rPr lang="en-US" altLang="zh-CN" sz="1400" b="1" i="1" smtClean="0">
                            <a:latin typeface="Cambria Math" panose="02040503050406030204" pitchFamily="18" charset="0"/>
                            <a:ea typeface="仿宋" panose="02010609060101010101" pitchFamily="49" charset="-122"/>
                          </a:rPr>
                        </m:ctrlPr>
                      </m:sSupPr>
                      <m:e>
                        <m:r>
                          <a:rPr lang="en-US" altLang="zh-CN" sz="1400" b="1" i="1" smtClean="0">
                            <a:latin typeface="Cambria Math" panose="02040503050406030204" pitchFamily="18" charset="0"/>
                            <a:ea typeface="仿宋" panose="02010609060101010101" pitchFamily="49" charset="-122"/>
                          </a:rPr>
                          <m:t>𝑵</m:t>
                        </m:r>
                      </m:e>
                      <m:sup>
                        <m:r>
                          <a:rPr lang="en-US" altLang="zh-CN" sz="1400" b="1" i="1" smtClean="0">
                            <a:latin typeface="Cambria Math" panose="02040503050406030204" pitchFamily="18" charset="0"/>
                            <a:ea typeface="仿宋" panose="02010609060101010101" pitchFamily="49" charset="-122"/>
                          </a:rPr>
                          <m:t>𝟐</m:t>
                        </m:r>
                      </m:sup>
                    </m:sSup>
                  </m:oMath>
                </a14:m>
                <a:r>
                  <a:rPr lang="en-US" altLang="zh-CN" sz="1400" b="1" dirty="0" smtClean="0">
                    <a:latin typeface="仿宋" panose="02010609060101010101" pitchFamily="49" charset="-122"/>
                    <a:ea typeface="仿宋" panose="02010609060101010101" pitchFamily="49" charset="-122"/>
                  </a:rPr>
                  <a:t>)</a:t>
                </a:r>
              </a:p>
              <a:p>
                <a:pPr>
                  <a:lnSpc>
                    <a:spcPct val="130000"/>
                  </a:lnSpc>
                </a:pPr>
                <a:endParaRPr lang="en-US" altLang="zh-CN" sz="1400" b="1" dirty="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假设，我们只寻找节点</a:t>
                </a:r>
                <a:r>
                  <a:rPr lang="en-US" altLang="zh-CN" sz="1400" b="1" dirty="0">
                    <a:latin typeface="仿宋" panose="02010609060101010101" pitchFamily="49" charset="-122"/>
                    <a:ea typeface="仿宋" panose="02010609060101010101" pitchFamily="49" charset="-122"/>
                  </a:rPr>
                  <a:t>0</a:t>
                </a:r>
                <a:r>
                  <a:rPr lang="zh-CN" altLang="en-US" sz="1400" b="1" dirty="0" smtClean="0">
                    <a:latin typeface="仿宋" panose="02010609060101010101" pitchFamily="49" charset="-122"/>
                    <a:ea typeface="仿宋" panose="02010609060101010101" pitchFamily="49" charset="-122"/>
                  </a:rPr>
                  <a:t>到所有节点的最短路径，写出其代码</a:t>
                </a:r>
                <a:endParaRPr lang="en-US" altLang="zh-CN" sz="1400" b="1" dirty="0" smtClean="0">
                  <a:latin typeface="仿宋" panose="02010609060101010101" pitchFamily="49" charset="-122"/>
                  <a:ea typeface="仿宋" panose="02010609060101010101" pitchFamily="49" charset="-122"/>
                </a:endParaRPr>
              </a:p>
              <a:p>
                <a:pPr>
                  <a:lnSpc>
                    <a:spcPct val="130000"/>
                  </a:lnSpc>
                </a:pPr>
                <a:r>
                  <a:rPr lang="en-US" altLang="zh-CN" sz="1400" b="1" dirty="0" smtClean="0">
                    <a:latin typeface="仿宋" panose="02010609060101010101" pitchFamily="49" charset="-122"/>
                    <a:ea typeface="仿宋" panose="02010609060101010101" pitchFamily="49" charset="-122"/>
                  </a:rPr>
                  <a:t>for(int </a:t>
                </a:r>
                <a:r>
                  <a:rPr lang="en-US" altLang="zh-CN" sz="1400" b="1" dirty="0" err="1" smtClean="0">
                    <a:latin typeface="仿宋" panose="02010609060101010101" pitchFamily="49" charset="-122"/>
                    <a:ea typeface="仿宋" panose="02010609060101010101" pitchFamily="49" charset="-122"/>
                  </a:rPr>
                  <a:t>i</a:t>
                </a:r>
                <a:r>
                  <a:rPr lang="en-US" altLang="zh-CN" sz="1400" b="1" dirty="0" smtClean="0">
                    <a:latin typeface="仿宋" panose="02010609060101010101" pitchFamily="49" charset="-122"/>
                    <a:ea typeface="仿宋" panose="02010609060101010101" pitchFamily="49" charset="-122"/>
                  </a:rPr>
                  <a:t> = 0; </a:t>
                </a:r>
                <a:r>
                  <a:rPr lang="en-US" altLang="zh-CN" sz="1400" b="1" dirty="0" err="1" smtClean="0">
                    <a:latin typeface="仿宋" panose="02010609060101010101" pitchFamily="49" charset="-122"/>
                    <a:ea typeface="仿宋" panose="02010609060101010101" pitchFamily="49" charset="-122"/>
                  </a:rPr>
                  <a:t>i</a:t>
                </a:r>
                <a:r>
                  <a:rPr lang="en-US" altLang="zh-CN" sz="1400" b="1" dirty="0" smtClean="0">
                    <a:latin typeface="仿宋" panose="02010609060101010101" pitchFamily="49" charset="-122"/>
                    <a:ea typeface="仿宋" panose="02010609060101010101" pitchFamily="49" charset="-122"/>
                  </a:rPr>
                  <a:t>&lt;n; </a:t>
                </a:r>
                <a:r>
                  <a:rPr lang="en-US" altLang="zh-CN" sz="1400" b="1" dirty="0" err="1" smtClean="0">
                    <a:latin typeface="仿宋" panose="02010609060101010101" pitchFamily="49" charset="-122"/>
                    <a:ea typeface="仿宋" panose="02010609060101010101" pitchFamily="49" charset="-122"/>
                  </a:rPr>
                  <a:t>i</a:t>
                </a:r>
                <a:r>
                  <a:rPr lang="en-US" altLang="zh-CN" sz="1400" b="1" dirty="0" smtClean="0">
                    <a:latin typeface="仿宋" panose="02010609060101010101" pitchFamily="49" charset="-122"/>
                    <a:ea typeface="仿宋" panose="02010609060101010101" pitchFamily="49" charset="-122"/>
                  </a:rPr>
                  <a:t>++){</a:t>
                </a:r>
              </a:p>
              <a:p>
                <a:pPr>
                  <a:lnSpc>
                    <a:spcPct val="130000"/>
                  </a:lnSpc>
                </a:pPr>
                <a:r>
                  <a:rPr lang="en-US" altLang="zh-CN" sz="1400" b="1" dirty="0">
                    <a:latin typeface="仿宋" panose="02010609060101010101" pitchFamily="49" charset="-122"/>
                    <a:ea typeface="仿宋" panose="02010609060101010101" pitchFamily="49" charset="-122"/>
                  </a:rPr>
                  <a:t> </a:t>
                </a:r>
                <a:r>
                  <a:rPr lang="en-US" altLang="zh-CN" sz="1400" b="1" dirty="0" smtClean="0">
                    <a:latin typeface="仿宋" panose="02010609060101010101" pitchFamily="49" charset="-122"/>
                    <a:ea typeface="仿宋" panose="02010609060101010101" pitchFamily="49" charset="-122"/>
                  </a:rPr>
                  <a:t>   for(int j = 0;j&lt;n; </a:t>
                </a:r>
                <a:r>
                  <a:rPr lang="en-US" altLang="zh-CN" sz="1400" b="1" dirty="0" err="1" smtClean="0">
                    <a:latin typeface="仿宋" panose="02010609060101010101" pitchFamily="49" charset="-122"/>
                    <a:ea typeface="仿宋" panose="02010609060101010101" pitchFamily="49" charset="-122"/>
                  </a:rPr>
                  <a:t>j++</a:t>
                </a:r>
                <a:r>
                  <a:rPr lang="en-US" altLang="zh-CN" sz="1400" b="1" dirty="0" smtClean="0">
                    <a:latin typeface="仿宋" panose="02010609060101010101" pitchFamily="49" charset="-122"/>
                    <a:ea typeface="仿宋" panose="02010609060101010101" pitchFamily="49" charset="-122"/>
                  </a:rPr>
                  <a:t>){</a:t>
                </a:r>
              </a:p>
              <a:p>
                <a:pPr>
                  <a:lnSpc>
                    <a:spcPct val="130000"/>
                  </a:lnSpc>
                </a:pPr>
                <a:r>
                  <a:rPr lang="en-US" altLang="zh-CN" sz="1400" b="1" dirty="0" smtClean="0">
                    <a:latin typeface="仿宋" panose="02010609060101010101" pitchFamily="49" charset="-122"/>
                    <a:ea typeface="仿宋" panose="02010609060101010101" pitchFamily="49" charset="-122"/>
                  </a:rPr>
                  <a:t>	graph[1][</a:t>
                </a:r>
                <a:r>
                  <a:rPr lang="en-US" altLang="zh-CN" sz="1400" b="1" dirty="0" err="1" smtClean="0">
                    <a:latin typeface="仿宋" panose="02010609060101010101" pitchFamily="49" charset="-122"/>
                    <a:ea typeface="仿宋" panose="02010609060101010101" pitchFamily="49" charset="-122"/>
                  </a:rPr>
                  <a:t>i</a:t>
                </a:r>
                <a:r>
                  <a:rPr lang="en-US" altLang="zh-CN" sz="1400" b="1" dirty="0" smtClean="0">
                    <a:latin typeface="仿宋" panose="02010609060101010101" pitchFamily="49" charset="-122"/>
                    <a:ea typeface="仿宋" panose="02010609060101010101" pitchFamily="49" charset="-122"/>
                  </a:rPr>
                  <a:t>] = min(graph[1][j], graph[j][</a:t>
                </a:r>
                <a:r>
                  <a:rPr lang="en-US" altLang="zh-CN" sz="1400" b="1" dirty="0" err="1" smtClean="0">
                    <a:latin typeface="仿宋" panose="02010609060101010101" pitchFamily="49" charset="-122"/>
                    <a:ea typeface="仿宋" panose="02010609060101010101" pitchFamily="49" charset="-122"/>
                  </a:rPr>
                  <a:t>i</a:t>
                </a:r>
                <a:r>
                  <a:rPr lang="en-US" altLang="zh-CN" sz="1400" b="1" dirty="0" smtClean="0">
                    <a:latin typeface="仿宋" panose="02010609060101010101" pitchFamily="49" charset="-122"/>
                    <a:ea typeface="仿宋" panose="02010609060101010101" pitchFamily="49" charset="-122"/>
                  </a:rPr>
                  <a:t>]);</a:t>
                </a:r>
              </a:p>
              <a:p>
                <a:pPr>
                  <a:lnSpc>
                    <a:spcPct val="130000"/>
                  </a:lnSpc>
                </a:pPr>
                <a:r>
                  <a:rPr lang="en-US" altLang="zh-CN" sz="1400" b="1" dirty="0">
                    <a:latin typeface="仿宋" panose="02010609060101010101" pitchFamily="49" charset="-122"/>
                    <a:ea typeface="仿宋" panose="02010609060101010101" pitchFamily="49" charset="-122"/>
                  </a:rPr>
                  <a:t> </a:t>
                </a:r>
                <a:r>
                  <a:rPr lang="en-US" altLang="zh-CN" sz="1400" b="1" dirty="0" smtClean="0">
                    <a:latin typeface="仿宋" panose="02010609060101010101" pitchFamily="49" charset="-122"/>
                    <a:ea typeface="仿宋" panose="02010609060101010101" pitchFamily="49" charset="-122"/>
                  </a:rPr>
                  <a:t>   }</a:t>
                </a:r>
                <a:endParaRPr lang="en-US" altLang="zh-CN" sz="1400" b="1" dirty="0">
                  <a:latin typeface="仿宋" panose="02010609060101010101" pitchFamily="49" charset="-122"/>
                  <a:ea typeface="仿宋" panose="02010609060101010101" pitchFamily="49" charset="-122"/>
                </a:endParaRPr>
              </a:p>
              <a:p>
                <a:pPr>
                  <a:lnSpc>
                    <a:spcPct val="130000"/>
                  </a:lnSpc>
                </a:pPr>
                <a:r>
                  <a:rPr lang="en-US" altLang="zh-CN" sz="1400" b="1" dirty="0" smtClean="0">
                    <a:latin typeface="仿宋" panose="02010609060101010101" pitchFamily="49" charset="-122"/>
                    <a:ea typeface="仿宋" panose="02010609060101010101" pitchFamily="49" charset="-122"/>
                  </a:rPr>
                  <a:t>}</a:t>
                </a:r>
              </a:p>
              <a:p>
                <a:pPr>
                  <a:lnSpc>
                    <a:spcPct val="130000"/>
                  </a:lnSpc>
                </a:pPr>
                <a:endParaRPr lang="en-US" altLang="zh-CN" sz="1400" b="1" dirty="0">
                  <a:latin typeface="仿宋" panose="02010609060101010101" pitchFamily="49" charset="-122"/>
                  <a:ea typeface="仿宋" panose="02010609060101010101" pitchFamily="49" charset="-122"/>
                </a:endParaRPr>
              </a:p>
              <a:p>
                <a:pPr>
                  <a:lnSpc>
                    <a:spcPct val="130000"/>
                  </a:lnSpc>
                </a:pPr>
                <a:r>
                  <a:rPr lang="zh-CN" altLang="en-US" sz="1400" b="1" dirty="0" smtClean="0">
                    <a:latin typeface="仿宋" panose="02010609060101010101" pitchFamily="49" charset="-122"/>
                    <a:ea typeface="仿宋" panose="02010609060101010101" pitchFamily="49" charset="-122"/>
                  </a:rPr>
                  <a:t>如果我们要寻找所有节点到所有节点的最短路径呢？</a:t>
                </a:r>
                <a:endParaRPr lang="en-US" altLang="zh-CN" sz="1400" b="1" dirty="0" smtClean="0">
                  <a:latin typeface="仿宋" panose="02010609060101010101" pitchFamily="49" charset="-122"/>
                  <a:ea typeface="仿宋" panose="02010609060101010101" pitchFamily="49" charset="-122"/>
                </a:endParaRPr>
              </a:p>
              <a:p>
                <a:pPr>
                  <a:lnSpc>
                    <a:spcPct val="130000"/>
                  </a:lnSpc>
                </a:pPr>
                <a:r>
                  <a:rPr lang="zh-CN" altLang="en-US" sz="1400" b="1" dirty="0">
                    <a:latin typeface="仿宋" panose="02010609060101010101" pitchFamily="49" charset="-122"/>
                    <a:ea typeface="仿宋" panose="02010609060101010101" pitchFamily="49" charset="-122"/>
                  </a:rPr>
                  <a:t>只需</a:t>
                </a:r>
                <a:r>
                  <a:rPr lang="zh-CN" altLang="en-US" sz="1400" b="1" dirty="0" smtClean="0">
                    <a:latin typeface="仿宋" panose="02010609060101010101" pitchFamily="49" charset="-122"/>
                    <a:ea typeface="仿宋" panose="02010609060101010101" pitchFamily="49" charset="-122"/>
                  </a:rPr>
                  <a:t>要将</a:t>
                </a:r>
                <a:r>
                  <a:rPr lang="en-US" altLang="zh-CN" sz="1400" b="1" dirty="0" smtClean="0">
                    <a:latin typeface="仿宋" panose="02010609060101010101" pitchFamily="49" charset="-122"/>
                    <a:ea typeface="仿宋" panose="02010609060101010101" pitchFamily="49" charset="-122"/>
                  </a:rPr>
                  <a:t>1</a:t>
                </a:r>
                <a:r>
                  <a:rPr lang="zh-CN" altLang="en-US" sz="1400" b="1" dirty="0" smtClean="0">
                    <a:latin typeface="仿宋" panose="02010609060101010101" pitchFamily="49" charset="-122"/>
                    <a:ea typeface="仿宋" panose="02010609060101010101" pitchFamily="49" charset="-122"/>
                  </a:rPr>
                  <a:t>换成一个外层循环</a:t>
                </a:r>
                <a:endParaRPr lang="en-US" altLang="zh-CN" sz="1400" b="1" dirty="0" smtClean="0">
                  <a:latin typeface="仿宋" panose="02010609060101010101" pitchFamily="49" charset="-122"/>
                  <a:ea typeface="仿宋" panose="02010609060101010101" pitchFamily="49"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67707" y="406400"/>
                <a:ext cx="5057795" cy="5740161"/>
              </a:xfrm>
              <a:prstGeom prst="rect">
                <a:avLst/>
              </a:prstGeom>
              <a:blipFill>
                <a:blip r:embed="rId2"/>
                <a:stretch>
                  <a:fillRect l="-361"/>
                </a:stretch>
              </a:blipFill>
            </p:spPr>
            <p:txBody>
              <a:bodyPr/>
              <a:lstStyle/>
              <a:p>
                <a:r>
                  <a:rPr lang="zh-CN" altLang="en-US">
                    <a:noFill/>
                  </a:rPr>
                  <a:t> </a:t>
                </a:r>
              </a:p>
            </p:txBody>
          </p:sp>
        </mc:Fallback>
      </mc:AlternateContent>
      <p:sp>
        <p:nvSpPr>
          <p:cNvPr id="5" name="矩形 4"/>
          <p:cNvSpPr/>
          <p:nvPr/>
        </p:nvSpPr>
        <p:spPr>
          <a:xfrm>
            <a:off x="5613722" y="2057280"/>
            <a:ext cx="6578278" cy="2973122"/>
          </a:xfrm>
          <a:prstGeom prst="rect">
            <a:avLst/>
          </a:prstGeom>
        </p:spPr>
        <p:txBody>
          <a:bodyPr wrap="square">
            <a:spAutoFit/>
          </a:bodyPr>
          <a:lstStyle/>
          <a:p>
            <a:pPr>
              <a:lnSpc>
                <a:spcPct val="130000"/>
              </a:lnSpc>
            </a:pPr>
            <a:r>
              <a:rPr lang="en-US" altLang="zh-CN" b="1" dirty="0" err="1" smtClean="0">
                <a:latin typeface="仿宋" panose="02010609060101010101" pitchFamily="49" charset="-122"/>
                <a:ea typeface="仿宋" panose="02010609060101010101" pitchFamily="49" charset="-122"/>
              </a:rPr>
              <a:t>Folyed</a:t>
            </a:r>
            <a:r>
              <a:rPr lang="zh-CN" altLang="en-US" b="1" dirty="0" smtClean="0">
                <a:latin typeface="仿宋" panose="02010609060101010101" pitchFamily="49" charset="-122"/>
                <a:ea typeface="仿宋" panose="02010609060101010101" pitchFamily="49" charset="-122"/>
              </a:rPr>
              <a:t>算法核心语句</a:t>
            </a:r>
            <a:endParaRPr lang="en-US" altLang="zh-CN" b="1" dirty="0" smtClean="0">
              <a:latin typeface="仿宋" panose="02010609060101010101" pitchFamily="49" charset="-122"/>
              <a:ea typeface="仿宋" panose="02010609060101010101" pitchFamily="49" charset="-122"/>
            </a:endParaRPr>
          </a:p>
          <a:p>
            <a:pPr>
              <a:lnSpc>
                <a:spcPct val="130000"/>
              </a:lnSpc>
            </a:pPr>
            <a:r>
              <a:rPr lang="en-US" altLang="zh-CN" b="1" dirty="0" smtClean="0">
                <a:latin typeface="仿宋" panose="02010609060101010101" pitchFamily="49" charset="-122"/>
                <a:ea typeface="仿宋" panose="02010609060101010101" pitchFamily="49" charset="-122"/>
              </a:rPr>
              <a:t>for(int </a:t>
            </a:r>
            <a:r>
              <a:rPr lang="en-US" altLang="zh-CN" b="1" dirty="0">
                <a:latin typeface="仿宋" panose="02010609060101010101" pitchFamily="49" charset="-122"/>
                <a:ea typeface="仿宋" panose="02010609060101010101" pitchFamily="49" charset="-122"/>
              </a:rPr>
              <a:t>k = 0; k&lt;n; k++){</a:t>
            </a:r>
          </a:p>
          <a:p>
            <a:pPr>
              <a:lnSpc>
                <a:spcPct val="130000"/>
              </a:lnSpc>
            </a:pPr>
            <a:r>
              <a:rPr lang="en-US" altLang="zh-CN" b="1" dirty="0">
                <a:latin typeface="仿宋" panose="02010609060101010101" pitchFamily="49" charset="-122"/>
                <a:ea typeface="仿宋" panose="02010609060101010101" pitchFamily="49" charset="-122"/>
              </a:rPr>
              <a:t>    for(int </a:t>
            </a:r>
            <a:r>
              <a:rPr lang="en-US" altLang="zh-CN" b="1" dirty="0" err="1">
                <a:latin typeface="仿宋" panose="02010609060101010101" pitchFamily="49" charset="-122"/>
                <a:ea typeface="仿宋" panose="02010609060101010101" pitchFamily="49" charset="-122"/>
              </a:rPr>
              <a:t>i</a:t>
            </a:r>
            <a:r>
              <a:rPr lang="en-US" altLang="zh-CN" b="1" dirty="0">
                <a:latin typeface="仿宋" panose="02010609060101010101" pitchFamily="49" charset="-122"/>
                <a:ea typeface="仿宋" panose="02010609060101010101" pitchFamily="49" charset="-122"/>
              </a:rPr>
              <a:t> = 0; </a:t>
            </a:r>
            <a:r>
              <a:rPr lang="en-US" altLang="zh-CN" b="1" dirty="0" err="1">
                <a:latin typeface="仿宋" panose="02010609060101010101" pitchFamily="49" charset="-122"/>
                <a:ea typeface="仿宋" panose="02010609060101010101" pitchFamily="49" charset="-122"/>
              </a:rPr>
              <a:t>i</a:t>
            </a:r>
            <a:r>
              <a:rPr lang="en-US" altLang="zh-CN" b="1" dirty="0">
                <a:latin typeface="仿宋" panose="02010609060101010101" pitchFamily="49" charset="-122"/>
                <a:ea typeface="仿宋" panose="02010609060101010101" pitchFamily="49" charset="-122"/>
              </a:rPr>
              <a:t>&lt;n; </a:t>
            </a:r>
            <a:r>
              <a:rPr lang="en-US" altLang="zh-CN" b="1" dirty="0" err="1">
                <a:latin typeface="仿宋" panose="02010609060101010101" pitchFamily="49" charset="-122"/>
                <a:ea typeface="仿宋" panose="02010609060101010101" pitchFamily="49" charset="-122"/>
              </a:rPr>
              <a:t>i</a:t>
            </a:r>
            <a:r>
              <a:rPr lang="en-US" altLang="zh-CN" b="1" dirty="0">
                <a:latin typeface="仿宋" panose="02010609060101010101" pitchFamily="49" charset="-122"/>
                <a:ea typeface="仿宋" panose="02010609060101010101" pitchFamily="49" charset="-122"/>
              </a:rPr>
              <a:t>++){</a:t>
            </a:r>
          </a:p>
          <a:p>
            <a:pPr>
              <a:lnSpc>
                <a:spcPct val="130000"/>
              </a:lnSpc>
            </a:pPr>
            <a:r>
              <a:rPr lang="en-US" altLang="zh-CN" b="1" dirty="0">
                <a:latin typeface="仿宋" panose="02010609060101010101" pitchFamily="49" charset="-122"/>
                <a:ea typeface="仿宋" panose="02010609060101010101" pitchFamily="49" charset="-122"/>
              </a:rPr>
              <a:t>        for(int j = 0;j&lt;n; </a:t>
            </a:r>
            <a:r>
              <a:rPr lang="en-US" altLang="zh-CN" b="1" dirty="0" err="1">
                <a:latin typeface="仿宋" panose="02010609060101010101" pitchFamily="49" charset="-122"/>
                <a:ea typeface="仿宋" panose="02010609060101010101" pitchFamily="49" charset="-122"/>
              </a:rPr>
              <a:t>j++</a:t>
            </a:r>
            <a:r>
              <a:rPr lang="en-US" altLang="zh-CN" b="1" dirty="0">
                <a:latin typeface="仿宋" panose="02010609060101010101" pitchFamily="49" charset="-122"/>
                <a:ea typeface="仿宋" panose="02010609060101010101" pitchFamily="49" charset="-122"/>
              </a:rPr>
              <a:t>){</a:t>
            </a:r>
          </a:p>
          <a:p>
            <a:pPr>
              <a:lnSpc>
                <a:spcPct val="130000"/>
              </a:lnSpc>
            </a:pPr>
            <a:r>
              <a:rPr lang="en-US" altLang="zh-CN" b="1" dirty="0">
                <a:latin typeface="仿宋" panose="02010609060101010101" pitchFamily="49" charset="-122"/>
                <a:ea typeface="仿宋" panose="02010609060101010101" pitchFamily="49" charset="-122"/>
              </a:rPr>
              <a:t>	</a:t>
            </a:r>
            <a:r>
              <a:rPr lang="en-US" altLang="zh-CN" b="1" dirty="0" smtClean="0">
                <a:latin typeface="仿宋" panose="02010609060101010101" pitchFamily="49" charset="-122"/>
                <a:ea typeface="仿宋" panose="02010609060101010101" pitchFamily="49" charset="-122"/>
              </a:rPr>
              <a:t>   graph[k][</a:t>
            </a:r>
            <a:r>
              <a:rPr lang="en-US" altLang="zh-CN" b="1" dirty="0" err="1">
                <a:latin typeface="仿宋" panose="02010609060101010101" pitchFamily="49" charset="-122"/>
                <a:ea typeface="仿宋" panose="02010609060101010101" pitchFamily="49" charset="-122"/>
              </a:rPr>
              <a:t>i</a:t>
            </a:r>
            <a:r>
              <a:rPr lang="en-US" altLang="zh-CN" b="1" dirty="0">
                <a:latin typeface="仿宋" panose="02010609060101010101" pitchFamily="49" charset="-122"/>
                <a:ea typeface="仿宋" panose="02010609060101010101" pitchFamily="49" charset="-122"/>
              </a:rPr>
              <a:t>] = </a:t>
            </a:r>
            <a:r>
              <a:rPr lang="en-US" altLang="zh-CN" b="1" dirty="0" smtClean="0">
                <a:latin typeface="仿宋" panose="02010609060101010101" pitchFamily="49" charset="-122"/>
                <a:ea typeface="仿宋" panose="02010609060101010101" pitchFamily="49" charset="-122"/>
              </a:rPr>
              <a:t>min(graph[k][</a:t>
            </a:r>
            <a:r>
              <a:rPr lang="en-US" altLang="zh-CN" b="1" dirty="0">
                <a:latin typeface="仿宋" panose="02010609060101010101" pitchFamily="49" charset="-122"/>
                <a:ea typeface="仿宋" panose="02010609060101010101" pitchFamily="49" charset="-122"/>
              </a:rPr>
              <a:t>j], graph[j][</a:t>
            </a:r>
            <a:r>
              <a:rPr lang="en-US" altLang="zh-CN" b="1" dirty="0" err="1">
                <a:latin typeface="仿宋" panose="02010609060101010101" pitchFamily="49" charset="-122"/>
                <a:ea typeface="仿宋" panose="02010609060101010101" pitchFamily="49" charset="-122"/>
              </a:rPr>
              <a:t>i</a:t>
            </a:r>
            <a:r>
              <a:rPr lang="en-US" altLang="zh-CN" b="1" dirty="0">
                <a:latin typeface="仿宋" panose="02010609060101010101" pitchFamily="49" charset="-122"/>
                <a:ea typeface="仿宋" panose="02010609060101010101" pitchFamily="49" charset="-122"/>
              </a:rPr>
              <a:t>]);</a:t>
            </a:r>
          </a:p>
          <a:p>
            <a:pPr>
              <a:lnSpc>
                <a:spcPct val="130000"/>
              </a:lnSpc>
            </a:pPr>
            <a:r>
              <a:rPr lang="en-US" altLang="zh-CN" b="1" dirty="0">
                <a:latin typeface="仿宋" panose="02010609060101010101" pitchFamily="49" charset="-122"/>
                <a:ea typeface="仿宋" panose="02010609060101010101" pitchFamily="49" charset="-122"/>
              </a:rPr>
              <a:t>        }</a:t>
            </a:r>
          </a:p>
          <a:p>
            <a:pPr>
              <a:lnSpc>
                <a:spcPct val="130000"/>
              </a:lnSpc>
            </a:pPr>
            <a:r>
              <a:rPr lang="en-US" altLang="zh-CN" b="1" dirty="0">
                <a:latin typeface="仿宋" panose="02010609060101010101" pitchFamily="49" charset="-122"/>
                <a:ea typeface="仿宋" panose="02010609060101010101" pitchFamily="49" charset="-122"/>
              </a:rPr>
              <a:t>    }</a:t>
            </a:r>
          </a:p>
          <a:p>
            <a:pPr>
              <a:lnSpc>
                <a:spcPct val="130000"/>
              </a:lnSpc>
            </a:pPr>
            <a:r>
              <a:rPr lang="en-US" altLang="zh-CN" b="1" dirty="0">
                <a:latin typeface="仿宋" panose="02010609060101010101" pitchFamily="49" charset="-122"/>
                <a:ea typeface="仿宋" panose="02010609060101010101" pitchFamily="49" charset="-122"/>
              </a:rPr>
              <a:t>}</a:t>
            </a:r>
          </a:p>
        </p:txBody>
      </p:sp>
    </p:spTree>
    <p:extLst>
      <p:ext uri="{BB962C8B-B14F-4D97-AF65-F5344CB8AC3E}">
        <p14:creationId xmlns:p14="http://schemas.microsoft.com/office/powerpoint/2010/main" val="19774769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smtClean="0"/>
                  <a:t>Folyed-Warshall</a:t>
                </a:r>
                <a:r>
                  <a:rPr lang="zh-CN" altLang="en-US" dirty="0" smtClean="0"/>
                  <a:t>算法用于求解多源最短路径问题有很好的效果，但是时间复杂度达到了</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i="1">
                            <a:latin typeface="Cambria Math" panose="02040503050406030204" pitchFamily="18" charset="0"/>
                          </a:rPr>
                          <m:t>𝑛</m:t>
                        </m:r>
                      </m:e>
                      <m:sup>
                        <m:r>
                          <a:rPr lang="en-US" altLang="zh-CN" b="0" i="1" smtClean="0">
                            <a:latin typeface="Cambria Math" panose="02040503050406030204" pitchFamily="18" charset="0"/>
                          </a:rPr>
                          <m:t>3</m:t>
                        </m:r>
                      </m:sup>
                    </m:sSup>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smtClean="0"/>
                  <a:t>后面将介绍一种更为快速的方法。</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195" r="-8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5361869"/>
      </p:ext>
    </p:extLst>
  </p:cSld>
  <p:clrMapOvr>
    <a:masterClrMapping/>
  </p:clrMapOvr>
  <p:timing>
    <p:tnLst>
      <p:par>
        <p:cTn id="1" dur="indefinite" restart="never" nodeType="tmRoot"/>
      </p:par>
    </p:tnLst>
  </p:timing>
</p:sld>
</file>

<file path=ppt/theme/theme1.xml><?xml version="1.0" encoding="utf-8"?>
<a:theme xmlns:a="http://schemas.openxmlformats.org/drawingml/2006/main" name="A000120140530A99PPBG">
  <a:themeElements>
    <a:clrScheme name="自定义 576">
      <a:dk1>
        <a:srgbClr val="3F3F3F"/>
      </a:dk1>
      <a:lt1>
        <a:sysClr val="window" lastClr="FFFFFF"/>
      </a:lt1>
      <a:dk2>
        <a:srgbClr val="3F3F3F"/>
      </a:dk2>
      <a:lt2>
        <a:srgbClr val="FFFFFF"/>
      </a:lt2>
      <a:accent1>
        <a:srgbClr val="208E8C"/>
      </a:accent1>
      <a:accent2>
        <a:srgbClr val="00AEEF"/>
      </a:accent2>
      <a:accent3>
        <a:srgbClr val="037E9B"/>
      </a:accent3>
      <a:accent4>
        <a:srgbClr val="5277C2"/>
      </a:accent4>
      <a:accent5>
        <a:srgbClr val="FF7F41"/>
      </a:accent5>
      <a:accent6>
        <a:srgbClr val="FFC000"/>
      </a:accent6>
      <a:hlink>
        <a:srgbClr val="00B0F0"/>
      </a:hlink>
      <a:folHlink>
        <a:srgbClr val="7F7F7F"/>
      </a:folHlink>
    </a:clrScheme>
    <a:fontScheme name="KSO主题7">
      <a:majorFont>
        <a:latin typeface="Times New Roman"/>
        <a:ea typeface="华文中宋"/>
        <a:cs typeface=""/>
      </a:majorFont>
      <a:minorFont>
        <a:latin typeface="Times New Roman"/>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A000120150601A06KPBG</Template>
  <TotalTime>394</TotalTime>
  <Words>1058</Words>
  <Application>Microsoft Office PowerPoint</Application>
  <PresentationFormat>宽屏</PresentationFormat>
  <Paragraphs>280</Paragraphs>
  <Slides>11</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等线</vt:lpstr>
      <vt:lpstr>仿宋</vt:lpstr>
      <vt:lpstr>华文中宋</vt:lpstr>
      <vt:lpstr>微软雅黑</vt:lpstr>
      <vt:lpstr>幼圆</vt:lpstr>
      <vt:lpstr>Arial</vt:lpstr>
      <vt:lpstr>Cambria Math</vt:lpstr>
      <vt:lpstr>Times New Roman</vt:lpstr>
      <vt:lpstr>Wingdings</vt:lpstr>
      <vt:lpstr>A000120140530A99PPBG</vt:lpstr>
      <vt:lpstr>Folyed-Warshall算法演示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Folyed-Warshall算法演示</dc:title>
  <dc:creator>Tortoise -</dc:creator>
  <cp:lastModifiedBy>Tortoise -</cp:lastModifiedBy>
  <cp:revision>26</cp:revision>
  <dcterms:created xsi:type="dcterms:W3CDTF">2018-08-21T02:25:54Z</dcterms:created>
  <dcterms:modified xsi:type="dcterms:W3CDTF">2018-08-21T12:29:16Z</dcterms:modified>
</cp:coreProperties>
</file>