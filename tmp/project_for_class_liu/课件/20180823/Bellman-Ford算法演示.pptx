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300CB-5AC0-4906-A543-4DD7E6B153D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58D33-8D92-45FF-B831-DA3E673266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00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前驱节点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858D33-8D92-45FF-B831-DA3E673266A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300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600" y="451074"/>
            <a:ext cx="10185399" cy="5937787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132482" y="3619500"/>
            <a:ext cx="4017192" cy="401177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132482" y="2108564"/>
            <a:ext cx="6313351" cy="1362711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600" b="1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单击此处添加您的标题文字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943059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>
          <p15:clr>
            <a:srgbClr val="FBAE40"/>
          </p15:clr>
        </p15:guide>
        <p15:guide id="2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08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5" y="2108200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3" y="3400425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1271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1"/>
            <a:ext cx="5080000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3" y="1244601"/>
            <a:ext cx="5094116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6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6" y="2200274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81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84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09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0" y="53340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29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9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23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5"/>
            <a:ext cx="1182511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070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048"/>
            <a:ext cx="10058400" cy="6851904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9CAA2-45AF-4F48-A1AC-C8701F6D5361}" type="datetimeFigureOut">
              <a:rPr lang="zh-CN" altLang="en-US" smtClean="0"/>
              <a:t>2018/8/23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61540-E6B1-46B8-AC6B-5B7CFD0B83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54666" y="254605"/>
            <a:ext cx="11056060" cy="70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798" y="1184366"/>
            <a:ext cx="11056060" cy="5354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30305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+mj-ea"/>
          <a:ea typeface="+mj-ea"/>
          <a:cs typeface="+mj-cs"/>
        </a:defRPr>
      </a:lvl1pPr>
    </p:titleStyle>
    <p:bodyStyle>
      <a:lvl1pPr marL="357188" indent="-357188" algn="just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accent1"/>
        </a:buClr>
        <a:buSzPct val="80000"/>
        <a:buFont typeface="Webdings" panose="05030102010509060703" pitchFamily="18" charset="2"/>
        <a:buChar char=""/>
        <a:defRPr lang="zh-CN" altLang="en-US" sz="2400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357188" indent="-357188" algn="just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8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Bellman-Ford</a:t>
            </a:r>
            <a:r>
              <a:rPr lang="zh-CN" altLang="en-US" dirty="0" smtClean="0"/>
              <a:t>算法演示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433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组合 208"/>
          <p:cNvGrpSpPr/>
          <p:nvPr/>
        </p:nvGrpSpPr>
        <p:grpSpPr>
          <a:xfrm>
            <a:off x="388924" y="3649073"/>
            <a:ext cx="4055229" cy="3029443"/>
            <a:chOff x="5957452" y="143568"/>
            <a:chExt cx="4055229" cy="3029443"/>
          </a:xfrm>
        </p:grpSpPr>
        <p:grpSp>
          <p:nvGrpSpPr>
            <p:cNvPr id="121" name="组合 120"/>
            <p:cNvGrpSpPr/>
            <p:nvPr/>
          </p:nvGrpSpPr>
          <p:grpSpPr>
            <a:xfrm>
              <a:off x="5957452" y="143568"/>
              <a:ext cx="4055229" cy="3029443"/>
              <a:chOff x="531543" y="1677848"/>
              <a:chExt cx="2770104" cy="2608995"/>
            </a:xfrm>
          </p:grpSpPr>
          <p:grpSp>
            <p:nvGrpSpPr>
              <p:cNvPr id="122" name="组合 121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134" name="椭圆 133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5" name="椭圆 134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35" name="椭圆 13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6" name="椭圆 135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36" name="椭圆 13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7" name="椭圆 136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37" name="椭圆 13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 b="-6173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8" name="椭圆 137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38" name="椭圆 13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9" name="直接箭头连接符 138"/>
                <p:cNvCxnSpPr>
                  <a:stCxn id="134" idx="7"/>
                  <a:endCxn id="135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箭头连接符 139"/>
                <p:cNvCxnSpPr>
                  <a:stCxn id="135" idx="4"/>
                  <a:endCxn id="138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箭头连接符 140"/>
                <p:cNvCxnSpPr>
                  <a:stCxn id="138" idx="6"/>
                  <a:endCxn id="137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箭头连接符 141"/>
                <p:cNvCxnSpPr>
                  <a:stCxn id="134" idx="5"/>
                  <a:endCxn id="138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箭头连接符 142"/>
                <p:cNvCxnSpPr>
                  <a:stCxn id="138" idx="7"/>
                  <a:endCxn id="136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箭头连接符 143"/>
                <p:cNvCxnSpPr>
                  <a:stCxn id="137" idx="0"/>
                  <a:endCxn id="136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箭头连接符 144"/>
                <p:cNvCxnSpPr>
                  <a:stCxn id="137" idx="1"/>
                  <a:endCxn id="134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曲线连接符 145"/>
                <p:cNvCxnSpPr>
                  <a:stCxn id="135" idx="0"/>
                  <a:endCxn id="136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曲线连接符 146"/>
                <p:cNvCxnSpPr>
                  <a:stCxn id="136" idx="2"/>
                  <a:endCxn id="135" idx="5"/>
                </p:cNvCxnSpPr>
                <p:nvPr/>
              </p:nvCxnSpPr>
              <p:spPr>
                <a:xfrm rot="10800000" flipV="1">
                  <a:off x="2754730" y="2010157"/>
                  <a:ext cx="1148235" cy="197206"/>
                </a:xfrm>
                <a:prstGeom prst="curvedConnector4">
                  <a:avLst>
                    <a:gd name="adj1" fmla="val 45591"/>
                    <a:gd name="adj2" fmla="val 278937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3" name="圆角矩形 122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124" name="圆角矩形 123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125" name="圆角矩形 124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126" name="圆角矩形 125"/>
              <p:cNvSpPr/>
              <p:nvPr/>
            </p:nvSpPr>
            <p:spPr>
              <a:xfrm>
                <a:off x="2166380" y="2269499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127" name="圆角矩形 126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128" name="圆角矩形 127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29" name="圆角矩形 128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130" name="圆角矩形 129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31" name="圆角矩形 130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132" name="圆角矩形 131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177" name="直接箭头连接符 176"/>
            <p:cNvCxnSpPr/>
            <p:nvPr/>
          </p:nvCxnSpPr>
          <p:spPr>
            <a:xfrm>
              <a:off x="7979768" y="943092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组合 209"/>
          <p:cNvGrpSpPr/>
          <p:nvPr/>
        </p:nvGrpSpPr>
        <p:grpSpPr>
          <a:xfrm>
            <a:off x="469410" y="299390"/>
            <a:ext cx="4055229" cy="3029443"/>
            <a:chOff x="469410" y="299390"/>
            <a:chExt cx="4055229" cy="3029443"/>
          </a:xfrm>
        </p:grpSpPr>
        <p:grpSp>
          <p:nvGrpSpPr>
            <p:cNvPr id="54" name="组合 53"/>
            <p:cNvGrpSpPr/>
            <p:nvPr/>
          </p:nvGrpSpPr>
          <p:grpSpPr>
            <a:xfrm>
              <a:off x="469410" y="299390"/>
              <a:ext cx="4055229" cy="3029443"/>
              <a:chOff x="531543" y="1677848"/>
              <a:chExt cx="2770104" cy="2608995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4" name="椭圆 3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" name="椭圆 5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t/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6" name="椭圆 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" name="椭圆 6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7" name="椭圆 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" name="椭圆 8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9" name="椭圆 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 b="-750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椭圆 9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0" name="椭圆 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10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" name="直接箭头连接符 13"/>
                <p:cNvCxnSpPr>
                  <a:stCxn id="4" idx="7"/>
                  <a:endCxn id="6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箭头连接符 15"/>
                <p:cNvCxnSpPr>
                  <a:stCxn id="6" idx="4"/>
                  <a:endCxn id="10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箭头连接符 17"/>
                <p:cNvCxnSpPr>
                  <a:stCxn id="10" idx="6"/>
                  <a:endCxn id="9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箭头连接符 19"/>
                <p:cNvCxnSpPr>
                  <a:stCxn id="4" idx="5"/>
                  <a:endCxn id="10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箭头连接符 21"/>
                <p:cNvCxnSpPr>
                  <a:stCxn id="10" idx="7"/>
                  <a:endCxn id="7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/>
                <p:cNvCxnSpPr>
                  <a:stCxn id="9" idx="0"/>
                  <a:endCxn id="7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>
                  <a:stCxn id="9" idx="1"/>
                  <a:endCxn id="4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曲线连接符 27"/>
                <p:cNvCxnSpPr>
                  <a:stCxn id="6" idx="0"/>
                  <a:endCxn id="7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曲线连接符 29"/>
                <p:cNvCxnSpPr>
                  <a:stCxn id="7" idx="3"/>
                  <a:endCxn id="6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圆角矩形 41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43" name="圆角矩形 42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46" name="圆角矩形 45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178" name="直接箭头连接符 177"/>
            <p:cNvCxnSpPr/>
            <p:nvPr/>
          </p:nvCxnSpPr>
          <p:spPr>
            <a:xfrm>
              <a:off x="2453401" y="1115210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下箭头 205"/>
          <p:cNvSpPr/>
          <p:nvPr/>
        </p:nvSpPr>
        <p:spPr>
          <a:xfrm>
            <a:off x="4524639" y="2814869"/>
            <a:ext cx="495626" cy="16337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/>
          <p:cNvSpPr/>
          <p:nvPr/>
        </p:nvSpPr>
        <p:spPr>
          <a:xfrm>
            <a:off x="5122690" y="387455"/>
            <a:ext cx="6545054" cy="480131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 = 1; i &lt;= n-1; i++){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j = 1; j &lt;= m; j++){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if(dis[v[j]] &gt; dis[u[j]] + w[j]){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dis[v[j]] = dis[u[j]] + w[j];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//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这两句代码的意思是，能否通过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u[j]-&gt;v[j]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权值为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w[j]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的边将距离缩小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个顶点，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条边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我们使用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集合（数组）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顶点到每个顶点的最短路径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来表示它的 边的终点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来表示它的边的起点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表示边的权值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u[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]-&gt;v[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权值为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w[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20" name="文本框 1"/>
          <p:cNvSpPr txBox="1"/>
          <p:nvPr/>
        </p:nvSpPr>
        <p:spPr>
          <a:xfrm>
            <a:off x="6860295" y="4592159"/>
            <a:ext cx="51069" cy="17145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100"/>
          </a:p>
        </p:txBody>
      </p:sp>
    </p:spTree>
    <p:extLst>
      <p:ext uri="{BB962C8B-B14F-4D97-AF65-F5344CB8AC3E}">
        <p14:creationId xmlns:p14="http://schemas.microsoft.com/office/powerpoint/2010/main" val="366895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3190" y="3547818"/>
            <a:ext cx="4055229" cy="3029443"/>
            <a:chOff x="6266497" y="3567149"/>
            <a:chExt cx="4055229" cy="3029443"/>
          </a:xfrm>
        </p:grpSpPr>
        <p:grpSp>
          <p:nvGrpSpPr>
            <p:cNvPr id="5" name="组合 4"/>
            <p:cNvGrpSpPr/>
            <p:nvPr/>
          </p:nvGrpSpPr>
          <p:grpSpPr>
            <a:xfrm>
              <a:off x="6266497" y="3567149"/>
              <a:ext cx="4055229" cy="3029443"/>
              <a:chOff x="531543" y="1677848"/>
              <a:chExt cx="2770104" cy="260899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18" name="椭圆 17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椭圆 18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9" name="椭圆 1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2"/>
                      <a:stretch>
                        <a:fillRect b="-897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椭圆 19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0" name="椭圆 1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 b="-897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椭圆 20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1" name="椭圆 2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 b="-750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椭圆 21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2" name="椭圆 2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直接箭头连接符 22"/>
                <p:cNvCxnSpPr>
                  <a:stCxn id="18" idx="7"/>
                  <a:endCxn id="19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/>
                <p:cNvCxnSpPr>
                  <a:stCxn id="19" idx="4"/>
                  <a:endCxn id="22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/>
                <p:cNvCxnSpPr>
                  <a:stCxn id="22" idx="6"/>
                  <a:endCxn id="21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>
                  <a:stCxn id="18" idx="5"/>
                  <a:endCxn id="22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/>
                <p:cNvCxnSpPr>
                  <a:stCxn id="22" idx="7"/>
                  <a:endCxn id="20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/>
                <p:cNvCxnSpPr>
                  <a:stCxn id="21" idx="0"/>
                  <a:endCxn id="20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/>
                <p:cNvCxnSpPr>
                  <a:stCxn id="21" idx="1"/>
                  <a:endCxn id="18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曲线连接符 29"/>
                <p:cNvCxnSpPr>
                  <a:stCxn id="19" idx="0"/>
                  <a:endCxn id="20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曲线连接符 30"/>
                <p:cNvCxnSpPr>
                  <a:stCxn id="20" idx="3"/>
                  <a:endCxn id="19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圆角矩形 7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6" name="直接箭头连接符 5"/>
            <p:cNvCxnSpPr>
              <a:stCxn id="19" idx="6"/>
              <a:endCxn id="21" idx="0"/>
            </p:cNvCxnSpPr>
            <p:nvPr/>
          </p:nvCxnSpPr>
          <p:spPr>
            <a:xfrm>
              <a:off x="8321226" y="4329422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2" name="下箭头 31"/>
          <p:cNvSpPr/>
          <p:nvPr/>
        </p:nvSpPr>
        <p:spPr>
          <a:xfrm>
            <a:off x="4362560" y="2730954"/>
            <a:ext cx="495626" cy="16337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202541" y="158548"/>
            <a:ext cx="4055229" cy="3029443"/>
            <a:chOff x="5957452" y="143568"/>
            <a:chExt cx="4055229" cy="3029443"/>
          </a:xfrm>
        </p:grpSpPr>
        <p:grpSp>
          <p:nvGrpSpPr>
            <p:cNvPr id="34" name="组合 33"/>
            <p:cNvGrpSpPr/>
            <p:nvPr/>
          </p:nvGrpSpPr>
          <p:grpSpPr>
            <a:xfrm>
              <a:off x="5957452" y="143568"/>
              <a:ext cx="4055229" cy="3029443"/>
              <a:chOff x="531543" y="1677848"/>
              <a:chExt cx="2770104" cy="2608995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8" name="椭圆 47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48" name="椭圆 4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 b="-897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9" name="椭圆 48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49" name="椭圆 4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b="-897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0" name="椭圆 49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50" name="椭圆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b="-750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椭圆 50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51" name="椭圆 5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2" name="直接箭头连接符 51"/>
                <p:cNvCxnSpPr>
                  <a:stCxn id="47" idx="7"/>
                  <a:endCxn id="48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箭头连接符 52"/>
                <p:cNvCxnSpPr>
                  <a:stCxn id="48" idx="4"/>
                  <a:endCxn id="51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箭头连接符 53"/>
                <p:cNvCxnSpPr>
                  <a:stCxn id="51" idx="6"/>
                  <a:endCxn id="50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箭头连接符 54"/>
                <p:cNvCxnSpPr>
                  <a:stCxn id="47" idx="5"/>
                  <a:endCxn id="51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箭头连接符 55"/>
                <p:cNvCxnSpPr>
                  <a:stCxn id="51" idx="7"/>
                  <a:endCxn id="49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箭头连接符 56"/>
                <p:cNvCxnSpPr>
                  <a:stCxn id="50" idx="0"/>
                  <a:endCxn id="49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箭头连接符 57"/>
                <p:cNvCxnSpPr>
                  <a:stCxn id="50" idx="1"/>
                  <a:endCxn id="47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曲线连接符 58"/>
                <p:cNvCxnSpPr>
                  <a:stCxn id="48" idx="0"/>
                  <a:endCxn id="49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曲线连接符 59"/>
                <p:cNvCxnSpPr>
                  <a:stCxn id="49" idx="3"/>
                  <a:endCxn id="48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圆角矩形 36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41" name="圆角矩形 40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43" name="圆角矩形 42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46" name="圆角矩形 45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35" name="直接箭头连接符 34"/>
            <p:cNvCxnSpPr/>
            <p:nvPr/>
          </p:nvCxnSpPr>
          <p:spPr>
            <a:xfrm>
              <a:off x="7979768" y="943092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096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9534" y="502866"/>
            <a:ext cx="4055229" cy="3029443"/>
            <a:chOff x="6266497" y="3567149"/>
            <a:chExt cx="4055229" cy="3029443"/>
          </a:xfrm>
        </p:grpSpPr>
        <p:grpSp>
          <p:nvGrpSpPr>
            <p:cNvPr id="5" name="组合 4"/>
            <p:cNvGrpSpPr/>
            <p:nvPr/>
          </p:nvGrpSpPr>
          <p:grpSpPr>
            <a:xfrm>
              <a:off x="6266497" y="3567149"/>
              <a:ext cx="4055229" cy="3029443"/>
              <a:chOff x="531543" y="1677848"/>
              <a:chExt cx="2770104" cy="260899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18" name="椭圆 17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椭圆 18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9" name="椭圆 1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2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椭圆 19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0" name="椭圆 1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椭圆 20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1" name="椭圆 2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 b="-750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椭圆 21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2" name="椭圆 2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直接箭头连接符 22"/>
                <p:cNvCxnSpPr>
                  <a:stCxn id="18" idx="7"/>
                  <a:endCxn id="19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/>
                <p:cNvCxnSpPr>
                  <a:stCxn id="19" idx="4"/>
                  <a:endCxn id="22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/>
                <p:cNvCxnSpPr>
                  <a:stCxn id="22" idx="6"/>
                  <a:endCxn id="21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>
                  <a:stCxn id="18" idx="5"/>
                  <a:endCxn id="22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/>
                <p:cNvCxnSpPr>
                  <a:stCxn id="22" idx="7"/>
                  <a:endCxn id="20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/>
                <p:cNvCxnSpPr>
                  <a:stCxn id="21" idx="0"/>
                  <a:endCxn id="20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/>
                <p:cNvCxnSpPr>
                  <a:stCxn id="21" idx="1"/>
                  <a:endCxn id="18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曲线连接符 29"/>
                <p:cNvCxnSpPr>
                  <a:stCxn id="19" idx="0"/>
                  <a:endCxn id="20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曲线连接符 30"/>
                <p:cNvCxnSpPr>
                  <a:stCxn id="20" idx="3"/>
                  <a:endCxn id="19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圆角矩形 7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6" name="直接箭头连接符 5"/>
            <p:cNvCxnSpPr>
              <a:stCxn id="19" idx="6"/>
              <a:endCxn id="21" idx="0"/>
            </p:cNvCxnSpPr>
            <p:nvPr/>
          </p:nvCxnSpPr>
          <p:spPr>
            <a:xfrm>
              <a:off x="8321226" y="4329422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62" name="组合 61"/>
          <p:cNvGrpSpPr/>
          <p:nvPr/>
        </p:nvGrpSpPr>
        <p:grpSpPr>
          <a:xfrm>
            <a:off x="696908" y="3722971"/>
            <a:ext cx="4055229" cy="3029443"/>
            <a:chOff x="596447" y="3537189"/>
            <a:chExt cx="4055229" cy="3029443"/>
          </a:xfrm>
        </p:grpSpPr>
        <p:grpSp>
          <p:nvGrpSpPr>
            <p:cNvPr id="63" name="组合 62"/>
            <p:cNvGrpSpPr/>
            <p:nvPr/>
          </p:nvGrpSpPr>
          <p:grpSpPr>
            <a:xfrm>
              <a:off x="596447" y="3537189"/>
              <a:ext cx="4055229" cy="3029443"/>
              <a:chOff x="531543" y="1677848"/>
              <a:chExt cx="2770104" cy="2608995"/>
            </a:xfrm>
          </p:grpSpPr>
          <p:grpSp>
            <p:nvGrpSpPr>
              <p:cNvPr id="65" name="组合 64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7" name="椭圆 76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77" name="椭圆 7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椭圆 77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78" name="椭圆 7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9" name="椭圆 78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79" name="椭圆 7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b="-7407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0" name="椭圆 79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80" name="椭圆 7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1" name="直接箭头连接符 80"/>
                <p:cNvCxnSpPr>
                  <a:stCxn id="76" idx="7"/>
                  <a:endCxn id="77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箭头连接符 81"/>
                <p:cNvCxnSpPr>
                  <a:stCxn id="77" idx="4"/>
                  <a:endCxn id="80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箭头连接符 82"/>
                <p:cNvCxnSpPr>
                  <a:stCxn id="80" idx="6"/>
                  <a:endCxn id="79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箭头连接符 83"/>
                <p:cNvCxnSpPr>
                  <a:stCxn id="76" idx="5"/>
                  <a:endCxn id="80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箭头连接符 84"/>
                <p:cNvCxnSpPr>
                  <a:stCxn id="80" idx="7"/>
                  <a:endCxn id="78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箭头连接符 85"/>
                <p:cNvCxnSpPr>
                  <a:stCxn id="79" idx="0"/>
                  <a:endCxn id="78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/>
                <p:cNvCxnSpPr>
                  <a:stCxn id="79" idx="1"/>
                  <a:endCxn id="76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曲线连接符 87"/>
                <p:cNvCxnSpPr>
                  <a:stCxn id="77" idx="0"/>
                  <a:endCxn id="78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曲线连接符 88"/>
                <p:cNvCxnSpPr>
                  <a:stCxn id="78" idx="3"/>
                  <a:endCxn id="77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圆角矩形 65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69" name="圆角矩形 68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74" name="圆角矩形 73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75" name="圆角矩形 74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64" name="直接箭头连接符 63"/>
            <p:cNvCxnSpPr/>
            <p:nvPr/>
          </p:nvCxnSpPr>
          <p:spPr>
            <a:xfrm>
              <a:off x="2630928" y="4325824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90" name="下箭头 89"/>
          <p:cNvSpPr/>
          <p:nvPr/>
        </p:nvSpPr>
        <p:spPr>
          <a:xfrm>
            <a:off x="4937867" y="3036837"/>
            <a:ext cx="495626" cy="16337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99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85428" y="138523"/>
            <a:ext cx="4055229" cy="3029443"/>
            <a:chOff x="596447" y="3537189"/>
            <a:chExt cx="4055229" cy="3029443"/>
          </a:xfrm>
        </p:grpSpPr>
        <p:grpSp>
          <p:nvGrpSpPr>
            <p:cNvPr id="5" name="组合 4"/>
            <p:cNvGrpSpPr/>
            <p:nvPr/>
          </p:nvGrpSpPr>
          <p:grpSpPr>
            <a:xfrm>
              <a:off x="596447" y="3537189"/>
              <a:ext cx="4055229" cy="3029443"/>
              <a:chOff x="531543" y="1677848"/>
              <a:chExt cx="2770104" cy="260899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18" name="椭圆 17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椭圆 18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9" name="椭圆 1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2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椭圆 19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0" name="椭圆 1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椭圆 20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1" name="椭圆 2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 b="-7407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椭圆 21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2" name="椭圆 2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直接箭头连接符 22"/>
                <p:cNvCxnSpPr>
                  <a:stCxn id="18" idx="7"/>
                  <a:endCxn id="19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/>
                <p:cNvCxnSpPr>
                  <a:stCxn id="19" idx="4"/>
                  <a:endCxn id="22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/>
                <p:cNvCxnSpPr>
                  <a:stCxn id="22" idx="6"/>
                  <a:endCxn id="21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>
                  <a:stCxn id="18" idx="5"/>
                  <a:endCxn id="22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/>
                <p:cNvCxnSpPr>
                  <a:stCxn id="22" idx="7"/>
                  <a:endCxn id="20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/>
                <p:cNvCxnSpPr>
                  <a:stCxn id="21" idx="0"/>
                  <a:endCxn id="20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/>
                <p:cNvCxnSpPr>
                  <a:stCxn id="21" idx="1"/>
                  <a:endCxn id="18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曲线连接符 29"/>
                <p:cNvCxnSpPr>
                  <a:stCxn id="19" idx="0"/>
                  <a:endCxn id="20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曲线连接符 30"/>
                <p:cNvCxnSpPr>
                  <a:stCxn id="20" idx="3"/>
                  <a:endCxn id="19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圆角矩形 7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6" name="直接箭头连接符 5"/>
            <p:cNvCxnSpPr/>
            <p:nvPr/>
          </p:nvCxnSpPr>
          <p:spPr>
            <a:xfrm>
              <a:off x="2630928" y="4325824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2" name="下箭头 31"/>
          <p:cNvSpPr/>
          <p:nvPr/>
        </p:nvSpPr>
        <p:spPr>
          <a:xfrm>
            <a:off x="4464369" y="2856884"/>
            <a:ext cx="495626" cy="16337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314562" y="3562104"/>
            <a:ext cx="4203901" cy="3052906"/>
            <a:chOff x="6143807" y="283070"/>
            <a:chExt cx="4203901" cy="3052906"/>
          </a:xfrm>
        </p:grpSpPr>
        <p:grpSp>
          <p:nvGrpSpPr>
            <p:cNvPr id="34" name="组合 33"/>
            <p:cNvGrpSpPr/>
            <p:nvPr/>
          </p:nvGrpSpPr>
          <p:grpSpPr>
            <a:xfrm>
              <a:off x="6143807" y="283070"/>
              <a:ext cx="4203901" cy="3052906"/>
              <a:chOff x="531543" y="1677848"/>
              <a:chExt cx="2871661" cy="2629202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531543" y="2131862"/>
                <a:ext cx="2871661" cy="2175188"/>
                <a:chOff x="922581" y="1731265"/>
                <a:chExt cx="3955658" cy="2996278"/>
              </a:xfrm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8" name="椭圆 47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8" name="椭圆 4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9" name="椭圆 48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49" name="椭圆 4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0" name="椭圆 49"/>
                    <p:cNvSpPr/>
                    <p:nvPr/>
                  </p:nvSpPr>
                  <p:spPr>
                    <a:xfrm>
                      <a:off x="3902963" y="4119067"/>
                      <a:ext cx="975276" cy="608476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50" name="椭圆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975276" cy="608476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b="-4762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椭圆 50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51" name="椭圆 5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 b="-897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2" name="直接箭头连接符 51"/>
                <p:cNvCxnSpPr>
                  <a:stCxn id="47" idx="7"/>
                  <a:endCxn id="48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箭头连接符 52"/>
                <p:cNvCxnSpPr>
                  <a:stCxn id="48" idx="4"/>
                  <a:endCxn id="51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箭头连接符 53"/>
                <p:cNvCxnSpPr>
                  <a:stCxn id="51" idx="6"/>
                  <a:endCxn id="50" idx="2"/>
                </p:cNvCxnSpPr>
                <p:nvPr/>
              </p:nvCxnSpPr>
              <p:spPr>
                <a:xfrm>
                  <a:off x="2940971" y="4393693"/>
                  <a:ext cx="961992" cy="296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箭头连接符 54"/>
                <p:cNvCxnSpPr>
                  <a:stCxn id="47" idx="5"/>
                  <a:endCxn id="51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箭头连接符 55"/>
                <p:cNvCxnSpPr>
                  <a:stCxn id="51" idx="7"/>
                  <a:endCxn id="49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箭头连接符 56"/>
                <p:cNvCxnSpPr>
                  <a:stCxn id="50" idx="0"/>
                  <a:endCxn id="49" idx="4"/>
                </p:cNvCxnSpPr>
                <p:nvPr/>
              </p:nvCxnSpPr>
              <p:spPr>
                <a:xfrm flipH="1" flipV="1">
                  <a:off x="4280459" y="2289047"/>
                  <a:ext cx="110143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箭头连接符 57"/>
                <p:cNvCxnSpPr>
                  <a:stCxn id="50" idx="1"/>
                  <a:endCxn id="47" idx="6"/>
                </p:cNvCxnSpPr>
                <p:nvPr/>
              </p:nvCxnSpPr>
              <p:spPr>
                <a:xfrm flipH="1" flipV="1">
                  <a:off x="1646460" y="3229405"/>
                  <a:ext cx="2399329" cy="97877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曲线连接符 58"/>
                <p:cNvCxnSpPr>
                  <a:stCxn id="48" idx="0"/>
                  <a:endCxn id="49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曲线连接符 59"/>
                <p:cNvCxnSpPr>
                  <a:stCxn id="49" idx="3"/>
                  <a:endCxn id="48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圆角矩形 36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41" name="圆角矩形 40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43" name="圆角矩形 42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46" name="圆角矩形 45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35" name="直接箭头连接符 34"/>
            <p:cNvCxnSpPr/>
            <p:nvPr/>
          </p:nvCxnSpPr>
          <p:spPr>
            <a:xfrm>
              <a:off x="8181250" y="1099880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748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358703" y="172197"/>
            <a:ext cx="4055229" cy="3029443"/>
            <a:chOff x="358703" y="172197"/>
            <a:chExt cx="4055229" cy="3029443"/>
          </a:xfrm>
        </p:grpSpPr>
        <p:grpSp>
          <p:nvGrpSpPr>
            <p:cNvPr id="4" name="组合 3"/>
            <p:cNvGrpSpPr/>
            <p:nvPr/>
          </p:nvGrpSpPr>
          <p:grpSpPr>
            <a:xfrm>
              <a:off x="358703" y="172197"/>
              <a:ext cx="4055229" cy="3029443"/>
              <a:chOff x="531543" y="1677848"/>
              <a:chExt cx="2770104" cy="2608995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531543" y="2131862"/>
                <a:ext cx="2770104" cy="2154981"/>
                <a:chOff x="922581" y="1731265"/>
                <a:chExt cx="3815765" cy="2968443"/>
              </a:xfrm>
            </p:grpSpPr>
            <p:sp>
              <p:nvSpPr>
                <p:cNvPr id="16" name="椭圆 15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椭圆 16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7" name="椭圆 1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2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椭圆 17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8" name="椭圆 1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 b="-9091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椭圆 18"/>
                    <p:cNvSpPr/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19" name="椭圆 1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835383" cy="580641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 b="-750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椭圆 19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20" name="椭圆 1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" name="直接箭头连接符 20"/>
                <p:cNvCxnSpPr>
                  <a:stCxn id="16" idx="7"/>
                  <a:endCxn id="17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箭头连接符 21"/>
                <p:cNvCxnSpPr>
                  <a:stCxn id="17" idx="4"/>
                  <a:endCxn id="20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箭头连接符 22"/>
                <p:cNvCxnSpPr>
                  <a:stCxn id="20" idx="6"/>
                  <a:endCxn id="19" idx="2"/>
                </p:cNvCxnSpPr>
                <p:nvPr/>
              </p:nvCxnSpPr>
              <p:spPr>
                <a:xfrm>
                  <a:off x="2940971" y="4393693"/>
                  <a:ext cx="961992" cy="15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/>
                <p:cNvCxnSpPr>
                  <a:stCxn id="16" idx="5"/>
                  <a:endCxn id="20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/>
                <p:cNvCxnSpPr>
                  <a:stCxn id="20" idx="7"/>
                  <a:endCxn id="18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>
                  <a:stCxn id="19" idx="0"/>
                  <a:endCxn id="18" idx="4"/>
                </p:cNvCxnSpPr>
                <p:nvPr/>
              </p:nvCxnSpPr>
              <p:spPr>
                <a:xfrm flipH="1" flipV="1">
                  <a:off x="4280458" y="2289047"/>
                  <a:ext cx="40196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/>
                <p:cNvCxnSpPr>
                  <a:stCxn id="19" idx="1"/>
                  <a:endCxn id="16" idx="6"/>
                </p:cNvCxnSpPr>
                <p:nvPr/>
              </p:nvCxnSpPr>
              <p:spPr>
                <a:xfrm flipH="1" flipV="1">
                  <a:off x="1646460" y="3229405"/>
                  <a:ext cx="2378842" cy="9746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曲线连接符 27"/>
                <p:cNvCxnSpPr>
                  <a:stCxn id="17" idx="0"/>
                  <a:endCxn id="18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曲线连接符 28"/>
                <p:cNvCxnSpPr>
                  <a:stCxn id="18" idx="3"/>
                  <a:endCxn id="17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圆角矩形 5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56" name="直接箭头连接符 55"/>
            <p:cNvCxnSpPr/>
            <p:nvPr/>
          </p:nvCxnSpPr>
          <p:spPr>
            <a:xfrm>
              <a:off x="2387012" y="982112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311481" y="3645400"/>
            <a:ext cx="4203901" cy="3052906"/>
            <a:chOff x="6143807" y="283070"/>
            <a:chExt cx="4203901" cy="3052906"/>
          </a:xfrm>
        </p:grpSpPr>
        <p:grpSp>
          <p:nvGrpSpPr>
            <p:cNvPr id="30" name="组合 29"/>
            <p:cNvGrpSpPr/>
            <p:nvPr/>
          </p:nvGrpSpPr>
          <p:grpSpPr>
            <a:xfrm>
              <a:off x="6143807" y="283070"/>
              <a:ext cx="4203901" cy="3052906"/>
              <a:chOff x="531543" y="1677848"/>
              <a:chExt cx="2871661" cy="2629202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531543" y="2131862"/>
                <a:ext cx="2871661" cy="2175188"/>
                <a:chOff x="922581" y="1731265"/>
                <a:chExt cx="3955658" cy="2996278"/>
              </a:xfrm>
            </p:grpSpPr>
            <p:sp>
              <p:nvSpPr>
                <p:cNvPr id="42" name="椭圆 41"/>
                <p:cNvSpPr/>
                <p:nvPr/>
              </p:nvSpPr>
              <p:spPr>
                <a:xfrm>
                  <a:off x="922581" y="2953511"/>
                  <a:ext cx="723879" cy="5517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smtClean="0"/>
                    <a:t>s/0</a:t>
                  </a:r>
                  <a:endParaRPr lang="zh-CN" alt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3" name="椭圆 42"/>
                    <p:cNvSpPr/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t/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3" name="椭圆 4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4617" y="1731265"/>
                      <a:ext cx="691360" cy="557783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 b="-897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4" name="椭圆 43"/>
                    <p:cNvSpPr/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x/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44" name="椭圆 4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5" y="1731266"/>
                      <a:ext cx="754988" cy="557781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b="-897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" name="椭圆 44"/>
                    <p:cNvSpPr/>
                    <p:nvPr/>
                  </p:nvSpPr>
                  <p:spPr>
                    <a:xfrm>
                      <a:off x="3902963" y="4119067"/>
                      <a:ext cx="975276" cy="608476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z/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45" name="椭圆 4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02963" y="4119067"/>
                      <a:ext cx="975276" cy="608476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b="-4762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椭圆 45"/>
                    <p:cNvSpPr/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 smtClean="0"/>
                        <a:t>y/</a:t>
                      </a:r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46" name="椭圆 4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9856" y="4114800"/>
                      <a:ext cx="791115" cy="557784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 b="-1039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7" name="直接箭头连接符 46"/>
                <p:cNvCxnSpPr>
                  <a:stCxn id="42" idx="7"/>
                  <a:endCxn id="43" idx="3"/>
                </p:cNvCxnSpPr>
                <p:nvPr/>
              </p:nvCxnSpPr>
              <p:spPr>
                <a:xfrm flipV="1">
                  <a:off x="1540450" y="2207363"/>
                  <a:ext cx="725413" cy="826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箭头连接符 47"/>
                <p:cNvCxnSpPr>
                  <a:stCxn id="43" idx="4"/>
                  <a:endCxn id="46" idx="0"/>
                </p:cNvCxnSpPr>
                <p:nvPr/>
              </p:nvCxnSpPr>
              <p:spPr>
                <a:xfrm>
                  <a:off x="2510297" y="2289048"/>
                  <a:ext cx="35117" cy="18257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箭头连接符 48"/>
                <p:cNvCxnSpPr>
                  <a:stCxn id="46" idx="6"/>
                  <a:endCxn id="45" idx="2"/>
                </p:cNvCxnSpPr>
                <p:nvPr/>
              </p:nvCxnSpPr>
              <p:spPr>
                <a:xfrm>
                  <a:off x="2940971" y="4393693"/>
                  <a:ext cx="961992" cy="296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箭头连接符 49"/>
                <p:cNvCxnSpPr>
                  <a:stCxn id="42" idx="5"/>
                  <a:endCxn id="46" idx="1"/>
                </p:cNvCxnSpPr>
                <p:nvPr/>
              </p:nvCxnSpPr>
              <p:spPr>
                <a:xfrm>
                  <a:off x="1540451" y="3424491"/>
                  <a:ext cx="725262" cy="7719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箭头连接符 50"/>
                <p:cNvCxnSpPr>
                  <a:stCxn id="46" idx="7"/>
                  <a:endCxn id="44" idx="3"/>
                </p:cNvCxnSpPr>
                <p:nvPr/>
              </p:nvCxnSpPr>
              <p:spPr>
                <a:xfrm flipV="1">
                  <a:off x="2825116" y="2207362"/>
                  <a:ext cx="1188415" cy="19891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箭头连接符 51"/>
                <p:cNvCxnSpPr>
                  <a:stCxn id="45" idx="0"/>
                  <a:endCxn id="44" idx="4"/>
                </p:cNvCxnSpPr>
                <p:nvPr/>
              </p:nvCxnSpPr>
              <p:spPr>
                <a:xfrm flipH="1" flipV="1">
                  <a:off x="4280459" y="2289047"/>
                  <a:ext cx="110143" cy="18300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箭头连接符 52"/>
                <p:cNvCxnSpPr>
                  <a:stCxn id="45" idx="1"/>
                  <a:endCxn id="42" idx="6"/>
                </p:cNvCxnSpPr>
                <p:nvPr/>
              </p:nvCxnSpPr>
              <p:spPr>
                <a:xfrm flipH="1" flipV="1">
                  <a:off x="1646460" y="3229405"/>
                  <a:ext cx="2399329" cy="97877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曲线连接符 53"/>
                <p:cNvCxnSpPr>
                  <a:stCxn id="43" idx="0"/>
                  <a:endCxn id="44" idx="0"/>
                </p:cNvCxnSpPr>
                <p:nvPr/>
              </p:nvCxnSpPr>
              <p:spPr>
                <a:xfrm rot="16200000" flipH="1">
                  <a:off x="3395378" y="846184"/>
                  <a:ext cx="1" cy="1770163"/>
                </a:xfrm>
                <a:prstGeom prst="curvedConnector3">
                  <a:avLst>
                    <a:gd name="adj1" fmla="val -2286000000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曲线连接符 54"/>
                <p:cNvCxnSpPr>
                  <a:stCxn id="44" idx="3"/>
                  <a:endCxn id="43" idx="5"/>
                </p:cNvCxnSpPr>
                <p:nvPr/>
              </p:nvCxnSpPr>
              <p:spPr>
                <a:xfrm rot="5400000">
                  <a:off x="3384131" y="1577962"/>
                  <a:ext cx="1" cy="1258801"/>
                </a:xfrm>
                <a:prstGeom prst="curvedConnector3">
                  <a:avLst>
                    <a:gd name="adj1" fmla="val 29745800000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圆角矩形 31"/>
              <p:cNvSpPr/>
              <p:nvPr/>
            </p:nvSpPr>
            <p:spPr>
              <a:xfrm>
                <a:off x="2526027" y="3364798"/>
                <a:ext cx="287767" cy="22472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-4</a:t>
                </a:r>
                <a:endParaRPr lang="zh-CN" altLang="en-US" dirty="0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921838" y="2567461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6</a:t>
                </a:r>
                <a:endParaRPr lang="zh-CN" altLang="en-US" dirty="0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2145990" y="1677848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5</a:t>
                </a:r>
                <a:endParaRPr lang="zh-CN" altLang="en-US" dirty="0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2127702" y="2405188"/>
                <a:ext cx="424326" cy="2910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-2</a:t>
                </a:r>
                <a:endParaRPr lang="zh-CN" altLang="en-US" dirty="0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>
                <a:off x="2127702" y="4064685"/>
                <a:ext cx="274301" cy="2221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9</a:t>
                </a:r>
                <a:endParaRPr lang="zh-CN" altLang="en-US" dirty="0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>
                <a:off x="2930958" y="3140853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1570567" y="2997708"/>
                <a:ext cx="309858" cy="2208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8</a:t>
                </a:r>
                <a:endParaRPr lang="zh-CN" altLang="en-US" dirty="0"/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1048693" y="353911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7</a:t>
                </a:r>
                <a:endParaRPr lang="zh-CN" altLang="en-US" dirty="0"/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2221446" y="3643160"/>
                <a:ext cx="338328" cy="2788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41" name="圆角矩形 40"/>
              <p:cNvSpPr/>
              <p:nvPr/>
            </p:nvSpPr>
            <p:spPr>
              <a:xfrm>
                <a:off x="1988778" y="3300628"/>
                <a:ext cx="334785" cy="20246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-3</a:t>
                </a:r>
                <a:endParaRPr lang="zh-CN" altLang="en-US" dirty="0"/>
              </a:p>
            </p:txBody>
          </p:sp>
        </p:grpSp>
        <p:cxnSp>
          <p:nvCxnSpPr>
            <p:cNvPr id="58" name="直接箭头连接符 57"/>
            <p:cNvCxnSpPr/>
            <p:nvPr/>
          </p:nvCxnSpPr>
          <p:spPr>
            <a:xfrm>
              <a:off x="8181250" y="1099880"/>
              <a:ext cx="1556596" cy="17777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570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000120140530A99PPBG">
  <a:themeElements>
    <a:clrScheme name="自定义 416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0890D0"/>
      </a:accent1>
      <a:accent2>
        <a:srgbClr val="2D9C9F"/>
      </a:accent2>
      <a:accent3>
        <a:srgbClr val="80C34D"/>
      </a:accent3>
      <a:accent4>
        <a:srgbClr val="BAD43B"/>
      </a:accent4>
      <a:accent5>
        <a:srgbClr val="EC9126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7">
      <a:majorFont>
        <a:latin typeface="Arial"/>
        <a:ea typeface="微软雅黑"/>
        <a:cs typeface=""/>
      </a:majorFont>
      <a:minorFont>
        <a:latin typeface="Arial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A000120150318A06KPBG</Template>
  <TotalTime>305</TotalTime>
  <Words>278</Words>
  <Application>Microsoft Office PowerPoint</Application>
  <PresentationFormat>宽屏</PresentationFormat>
  <Paragraphs>169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微软雅黑</vt:lpstr>
      <vt:lpstr>幼圆</vt:lpstr>
      <vt:lpstr>Arial</vt:lpstr>
      <vt:lpstr>Cambria Math</vt:lpstr>
      <vt:lpstr>Times New Roman</vt:lpstr>
      <vt:lpstr>Webdings</vt:lpstr>
      <vt:lpstr>A000120140530A99PPBG</vt:lpstr>
      <vt:lpstr>Bellman-Ford算法演示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Bellman-Ford算法阿演示</dc:title>
  <dc:creator>Tortoise -</dc:creator>
  <cp:lastModifiedBy>Tortoise -</cp:lastModifiedBy>
  <cp:revision>12</cp:revision>
  <dcterms:created xsi:type="dcterms:W3CDTF">2018-08-23T03:53:29Z</dcterms:created>
  <dcterms:modified xsi:type="dcterms:W3CDTF">2018-08-23T08:59:25Z</dcterms:modified>
</cp:coreProperties>
</file>