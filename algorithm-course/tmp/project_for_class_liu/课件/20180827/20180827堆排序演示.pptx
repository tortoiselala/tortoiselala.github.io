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ortoise -" initials="T-" lastIdx="1" clrIdx="0">
    <p:extLst>
      <p:ext uri="{19B8F6BF-5375-455C-9EA6-DF929625EA0E}">
        <p15:presenceInfo xmlns:p15="http://schemas.microsoft.com/office/powerpoint/2012/main" userId="90cda6621fea150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8-08-27T14:27:45.257" idx="1">
    <p:pos x="7331" y="1021"/>
    <p:text/>
    <p:extLst>
      <p:ext uri="{C676402C-5697-4E1C-873F-D02D1690AC5C}">
        <p15:threadingInfo xmlns:p15="http://schemas.microsoft.com/office/powerpoint/2012/main"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C00EDE-4B7A-4D2F-8E29-D1A276DD8F25}" type="datetimeFigureOut">
              <a:rPr lang="zh-CN" altLang="en-US" smtClean="0"/>
              <a:t>2018/8/27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331526-569D-4014-B1F6-5AC4FD7AE98E}" type="slidenum">
              <a:rPr lang="zh-CN" altLang="en-US" smtClean="0"/>
              <a:t>‹#›</a:t>
            </a:fld>
            <a:endParaRPr lang="zh-CN" altLang="en-US"/>
          </a:p>
        </p:txBody>
      </p:sp>
    </p:spTree>
    <p:extLst>
      <p:ext uri="{BB962C8B-B14F-4D97-AF65-F5344CB8AC3E}">
        <p14:creationId xmlns:p14="http://schemas.microsoft.com/office/powerpoint/2010/main" val="9072093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9331526-569D-4014-B1F6-5AC4FD7AE98E}" type="slidenum">
              <a:rPr lang="zh-CN" altLang="en-US" smtClean="0"/>
              <a:t>3</a:t>
            </a:fld>
            <a:endParaRPr lang="zh-CN" altLang="en-US"/>
          </a:p>
        </p:txBody>
      </p:sp>
    </p:spTree>
    <p:extLst>
      <p:ext uri="{BB962C8B-B14F-4D97-AF65-F5344CB8AC3E}">
        <p14:creationId xmlns:p14="http://schemas.microsoft.com/office/powerpoint/2010/main" val="688292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9331526-569D-4014-B1F6-5AC4FD7AE98E}" type="slidenum">
              <a:rPr lang="zh-CN" altLang="en-US" smtClean="0"/>
              <a:t>7</a:t>
            </a:fld>
            <a:endParaRPr lang="zh-CN" altLang="en-US"/>
          </a:p>
        </p:txBody>
      </p:sp>
    </p:spTree>
    <p:extLst>
      <p:ext uri="{BB962C8B-B14F-4D97-AF65-F5344CB8AC3E}">
        <p14:creationId xmlns:p14="http://schemas.microsoft.com/office/powerpoint/2010/main" val="15830175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7"/>
          <p:cNvPicPr>
            <a:picLocks noChangeAspect="1" noChangeArrowheads="1"/>
          </p:cNvPicPr>
          <p:nvPr/>
        </p:nvPicPr>
        <p:blipFill rotWithShape="1">
          <a:blip r:embed="rId2">
            <a:extLst>
              <a:ext uri="{28A0092B-C50C-407E-A947-70E740481C1C}">
                <a14:useLocalDpi xmlns:a14="http://schemas.microsoft.com/office/drawing/2010/main" val="0"/>
              </a:ext>
            </a:extLst>
          </a:blip>
          <a:srcRect t="18927" b="4801"/>
          <a:stretch/>
        </p:blipFill>
        <p:spPr bwMode="auto">
          <a:xfrm>
            <a:off x="0" y="0"/>
            <a:ext cx="12200467"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74" name="Rectangle 2"/>
          <p:cNvSpPr>
            <a:spLocks noGrp="1" noChangeArrowheads="1"/>
          </p:cNvSpPr>
          <p:nvPr>
            <p:ph type="ctrTitle"/>
          </p:nvPr>
        </p:nvSpPr>
        <p:spPr>
          <a:xfrm>
            <a:off x="1007435" y="5229200"/>
            <a:ext cx="10363200" cy="864096"/>
          </a:xfrm>
        </p:spPr>
        <p:txBody>
          <a:bodyPr/>
          <a:lstStyle>
            <a:lvl1pPr algn="ctr">
              <a:defRPr sz="3733">
                <a:solidFill>
                  <a:schemeClr val="bg1"/>
                </a:solidFill>
              </a:defRPr>
            </a:lvl1pPr>
          </a:lstStyle>
          <a:p>
            <a:pPr lvl="0"/>
            <a:r>
              <a:rPr lang="zh-CN" altLang="en-US" noProof="0" smtClean="0"/>
              <a:t>单击此处编辑母版标题样式</a:t>
            </a:r>
            <a:endParaRPr lang="zh-CN" altLang="en-US" noProof="0" dirty="0" smtClean="0"/>
          </a:p>
        </p:txBody>
      </p:sp>
      <p:sp>
        <p:nvSpPr>
          <p:cNvPr id="3075" name="Rectangle 3"/>
          <p:cNvSpPr>
            <a:spLocks noGrp="1" noChangeArrowheads="1"/>
          </p:cNvSpPr>
          <p:nvPr>
            <p:ph type="subTitle" idx="1"/>
          </p:nvPr>
        </p:nvSpPr>
        <p:spPr>
          <a:xfrm>
            <a:off x="1872192" y="6093298"/>
            <a:ext cx="8534400" cy="432047"/>
          </a:xfrm>
        </p:spPr>
        <p:txBody>
          <a:bodyPr/>
          <a:lstStyle>
            <a:lvl1pPr marL="0" indent="0" algn="ctr">
              <a:buFontTx/>
              <a:buNone/>
              <a:defRPr sz="2133">
                <a:solidFill>
                  <a:schemeClr val="bg1"/>
                </a:solidFill>
              </a:defRPr>
            </a:lvl1pPr>
          </a:lstStyle>
          <a:p>
            <a:pPr lvl="0"/>
            <a:r>
              <a:rPr lang="zh-CN" altLang="en-US" noProof="0" smtClean="0"/>
              <a:t>单击以编辑母版副标题样式</a:t>
            </a:r>
          </a:p>
        </p:txBody>
      </p:sp>
    </p:spTree>
    <p:extLst>
      <p:ext uri="{BB962C8B-B14F-4D97-AF65-F5344CB8AC3E}">
        <p14:creationId xmlns:p14="http://schemas.microsoft.com/office/powerpoint/2010/main" val="1394827557"/>
      </p:ext>
    </p:extLst>
  </p:cSld>
  <p:clrMapOvr>
    <a:masterClrMapping/>
  </p:clrMapOvr>
  <p:extLst mod="1">
    <p:ext uri="{DCECCB84-F9BA-43D5-87BE-67443E8EF086}">
      <p15:sldGuideLst xmlns:p15="http://schemas.microsoft.com/office/powerpoint/2012/main">
        <p15:guide id="1" orient="horz" pos="1620">
          <p15:clr>
            <a:srgbClr val="FBAE40"/>
          </p15:clr>
        </p15:guide>
        <p15:guide id="2" pos="4967">
          <p15:clr>
            <a:srgbClr val="FBAE40"/>
          </p15:clr>
        </p15:guide>
        <p15:guide id="0" orient="horz" pos="2160">
          <p15:clr>
            <a:srgbClr val="FBAE40"/>
          </p15:clr>
        </p15:guide>
        <p15:guide id="3" pos="6623">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lvl1pPr>
              <a:defRPr sz="2000"/>
            </a:lvl1pPr>
            <a:lvl2pPr>
              <a:lnSpc>
                <a:spcPct val="130000"/>
              </a:lnSpc>
              <a:defRPr sz="1600"/>
            </a:lvl2pPr>
          </a:lstStyle>
          <a:p>
            <a:pPr lvl="0"/>
            <a:r>
              <a:rPr lang="zh-CN" altLang="en-US" smtClean="0"/>
              <a:t>编辑母版文本样式</a:t>
            </a:r>
          </a:p>
          <a:p>
            <a:pPr lvl="1"/>
            <a:r>
              <a:rPr lang="zh-CN" altLang="en-US" smtClean="0"/>
              <a:t>第二级</a:t>
            </a:r>
          </a:p>
        </p:txBody>
      </p:sp>
    </p:spTree>
    <p:extLst>
      <p:ext uri="{BB962C8B-B14F-4D97-AF65-F5344CB8AC3E}">
        <p14:creationId xmlns:p14="http://schemas.microsoft.com/office/powerpoint/2010/main" val="746494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1" y="4589464"/>
            <a:ext cx="10515600" cy="1500187"/>
          </a:xfrm>
        </p:spPr>
        <p:txBody>
          <a:bodyPr/>
          <a:lstStyle>
            <a:lvl1pPr marL="0" indent="0">
              <a:buNone/>
              <a:defRPr sz="2400"/>
            </a:lvl1pPr>
            <a:lvl2pPr marL="457189" indent="0">
              <a:buNone/>
              <a:defRPr sz="2000"/>
            </a:lvl2pPr>
            <a:lvl3pPr marL="914377" indent="0">
              <a:buNone/>
              <a:defRPr sz="18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pPr lvl="0"/>
            <a:r>
              <a:rPr lang="zh-CN" altLang="en-US" smtClean="0"/>
              <a:t>编辑母版文本样式</a:t>
            </a:r>
          </a:p>
        </p:txBody>
      </p:sp>
    </p:spTree>
    <p:extLst>
      <p:ext uri="{BB962C8B-B14F-4D97-AF65-F5344CB8AC3E}">
        <p14:creationId xmlns:p14="http://schemas.microsoft.com/office/powerpoint/2010/main" val="1778851625"/>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4417" y="1628776"/>
            <a:ext cx="5384800" cy="4525963"/>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212417" y="1628776"/>
            <a:ext cx="5384800" cy="4525963"/>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542957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40319" y="1681163"/>
            <a:ext cx="5158316"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40319" y="2505075"/>
            <a:ext cx="5158316"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71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71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4004455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3837349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600383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9" y="457200"/>
            <a:ext cx="393276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40319" y="2057401"/>
            <a:ext cx="393276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CN" altLang="en-US" smtClean="0"/>
              <a:t>编辑母版文本样式</a:t>
            </a:r>
          </a:p>
        </p:txBody>
      </p:sp>
    </p:spTree>
    <p:extLst>
      <p:ext uri="{BB962C8B-B14F-4D97-AF65-F5344CB8AC3E}">
        <p14:creationId xmlns:p14="http://schemas.microsoft.com/office/powerpoint/2010/main" val="2958290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9" y="457200"/>
            <a:ext cx="393276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717" y="987426"/>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lvl="0"/>
            <a:r>
              <a:rPr lang="zh-CN" altLang="en-US" noProof="0" smtClean="0"/>
              <a:t>单击图标添加图片</a:t>
            </a:r>
          </a:p>
        </p:txBody>
      </p:sp>
      <p:sp>
        <p:nvSpPr>
          <p:cNvPr id="4" name="文本占位符 3"/>
          <p:cNvSpPr>
            <a:spLocks noGrp="1"/>
          </p:cNvSpPr>
          <p:nvPr>
            <p:ph type="body" sz="half" idx="2"/>
          </p:nvPr>
        </p:nvSpPr>
        <p:spPr>
          <a:xfrm>
            <a:off x="840319" y="2057401"/>
            <a:ext cx="393276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CN" altLang="en-US" smtClean="0"/>
              <a:t>编辑母版文本样式</a:t>
            </a:r>
          </a:p>
        </p:txBody>
      </p:sp>
    </p:spTree>
    <p:extLst>
      <p:ext uri="{BB962C8B-B14F-4D97-AF65-F5344CB8AC3E}">
        <p14:creationId xmlns:p14="http://schemas.microsoft.com/office/powerpoint/2010/main" val="40163256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418685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54017" y="260351"/>
            <a:ext cx="2743200" cy="589438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4417" y="260351"/>
            <a:ext cx="8026400" cy="589438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620210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6146801"/>
            <a:ext cx="12192000" cy="738188"/>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7" name="Rectangle 2"/>
          <p:cNvSpPr>
            <a:spLocks noGrp="1" noChangeArrowheads="1"/>
          </p:cNvSpPr>
          <p:nvPr>
            <p:ph type="title"/>
          </p:nvPr>
        </p:nvSpPr>
        <p:spPr bwMode="auto">
          <a:xfrm>
            <a:off x="624417" y="260351"/>
            <a:ext cx="10972800"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8" name="Rectangle 3"/>
          <p:cNvSpPr>
            <a:spLocks noGrp="1" noChangeArrowheads="1"/>
          </p:cNvSpPr>
          <p:nvPr>
            <p:ph type="body" idx="1"/>
          </p:nvPr>
        </p:nvSpPr>
        <p:spPr bwMode="auto">
          <a:xfrm>
            <a:off x="624417" y="1268414"/>
            <a:ext cx="10972800" cy="488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smtClean="0"/>
              <a:t>单击此处编辑母版文本样式</a:t>
            </a:r>
          </a:p>
          <a:p>
            <a:pPr lvl="1"/>
            <a:r>
              <a:rPr lang="zh-CN" altLang="en-US" dirty="0" smtClean="0"/>
              <a:t>第二级</a:t>
            </a:r>
          </a:p>
        </p:txBody>
      </p:sp>
    </p:spTree>
    <p:extLst>
      <p:ext uri="{BB962C8B-B14F-4D97-AF65-F5344CB8AC3E}">
        <p14:creationId xmlns:p14="http://schemas.microsoft.com/office/powerpoint/2010/main" val="41234605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fontAlgn="base" hangingPunct="1">
        <a:spcBef>
          <a:spcPct val="0"/>
        </a:spcBef>
        <a:spcAft>
          <a:spcPct val="0"/>
        </a:spcAft>
        <a:defRPr sz="3200" kern="1200">
          <a:solidFill>
            <a:schemeClr val="accent1"/>
          </a:solidFill>
          <a:latin typeface="+mj-lt"/>
          <a:ea typeface="+mj-ea"/>
          <a:cs typeface="+mj-cs"/>
        </a:defRPr>
      </a:lvl1pPr>
      <a:lvl2pPr algn="ctr" rtl="0" eaLnBrk="1" fontAlgn="base" hangingPunct="1">
        <a:spcBef>
          <a:spcPct val="0"/>
        </a:spcBef>
        <a:spcAft>
          <a:spcPct val="0"/>
        </a:spcAft>
        <a:defRPr sz="4000">
          <a:solidFill>
            <a:schemeClr val="accent1"/>
          </a:solidFill>
          <a:latin typeface="MS UI Gothic" panose="020B0600070205080204" pitchFamily="34" charset="-128"/>
          <a:ea typeface="微软雅黑" panose="020B0503020204020204" pitchFamily="34" charset="-122"/>
          <a:cs typeface="宋体" panose="02010600030101010101" pitchFamily="2" charset="-122"/>
        </a:defRPr>
      </a:lvl2pPr>
      <a:lvl3pPr algn="ctr" rtl="0" eaLnBrk="1" fontAlgn="base" hangingPunct="1">
        <a:spcBef>
          <a:spcPct val="0"/>
        </a:spcBef>
        <a:spcAft>
          <a:spcPct val="0"/>
        </a:spcAft>
        <a:defRPr sz="4000">
          <a:solidFill>
            <a:schemeClr val="accent1"/>
          </a:solidFill>
          <a:latin typeface="MS UI Gothic" panose="020B0600070205080204" pitchFamily="34" charset="-128"/>
          <a:ea typeface="微软雅黑" panose="020B0503020204020204" pitchFamily="34" charset="-122"/>
          <a:cs typeface="宋体" panose="02010600030101010101" pitchFamily="2" charset="-122"/>
        </a:defRPr>
      </a:lvl3pPr>
      <a:lvl4pPr algn="ctr" rtl="0" eaLnBrk="1" fontAlgn="base" hangingPunct="1">
        <a:spcBef>
          <a:spcPct val="0"/>
        </a:spcBef>
        <a:spcAft>
          <a:spcPct val="0"/>
        </a:spcAft>
        <a:defRPr sz="4000">
          <a:solidFill>
            <a:schemeClr val="accent1"/>
          </a:solidFill>
          <a:latin typeface="MS UI Gothic" panose="020B0600070205080204" pitchFamily="34" charset="-128"/>
          <a:ea typeface="微软雅黑" panose="020B0503020204020204" pitchFamily="34" charset="-122"/>
          <a:cs typeface="宋体" panose="02010600030101010101" pitchFamily="2" charset="-122"/>
        </a:defRPr>
      </a:lvl4pPr>
      <a:lvl5pPr algn="ctr" rtl="0" eaLnBrk="1" fontAlgn="base" hangingPunct="1">
        <a:spcBef>
          <a:spcPct val="0"/>
        </a:spcBef>
        <a:spcAft>
          <a:spcPct val="0"/>
        </a:spcAft>
        <a:defRPr sz="4000">
          <a:solidFill>
            <a:schemeClr val="accent1"/>
          </a:solidFill>
          <a:latin typeface="MS UI Gothic" panose="020B0600070205080204" pitchFamily="34" charset="-128"/>
          <a:ea typeface="微软雅黑" panose="020B0503020204020204" pitchFamily="34" charset="-122"/>
          <a:cs typeface="宋体" panose="02010600030101010101" pitchFamily="2" charset="-122"/>
        </a:defRPr>
      </a:lvl5pPr>
      <a:lvl6pPr marL="457189" algn="ctr" rtl="0" eaLnBrk="1" fontAlgn="base" hangingPunct="1">
        <a:spcBef>
          <a:spcPct val="0"/>
        </a:spcBef>
        <a:spcAft>
          <a:spcPct val="0"/>
        </a:spcAft>
        <a:defRPr sz="4000">
          <a:solidFill>
            <a:schemeClr val="tx2"/>
          </a:solidFill>
          <a:latin typeface="Arial" panose="020B0604020202020204" pitchFamily="34" charset="0"/>
          <a:ea typeface="微软雅黑" panose="020B0503020204020204" pitchFamily="34" charset="-122"/>
          <a:cs typeface="宋体" panose="02010600030101010101" pitchFamily="2" charset="-122"/>
        </a:defRPr>
      </a:lvl6pPr>
      <a:lvl7pPr marL="914377" algn="ctr" rtl="0" eaLnBrk="1" fontAlgn="base" hangingPunct="1">
        <a:spcBef>
          <a:spcPct val="0"/>
        </a:spcBef>
        <a:spcAft>
          <a:spcPct val="0"/>
        </a:spcAft>
        <a:defRPr sz="4000">
          <a:solidFill>
            <a:schemeClr val="tx2"/>
          </a:solidFill>
          <a:latin typeface="Arial" panose="020B0604020202020204" pitchFamily="34" charset="0"/>
          <a:ea typeface="微软雅黑" panose="020B0503020204020204" pitchFamily="34" charset="-122"/>
          <a:cs typeface="宋体" panose="02010600030101010101" pitchFamily="2" charset="-122"/>
        </a:defRPr>
      </a:lvl7pPr>
      <a:lvl8pPr marL="1371566" algn="ctr" rtl="0" eaLnBrk="1" fontAlgn="base" hangingPunct="1">
        <a:spcBef>
          <a:spcPct val="0"/>
        </a:spcBef>
        <a:spcAft>
          <a:spcPct val="0"/>
        </a:spcAft>
        <a:defRPr sz="4000">
          <a:solidFill>
            <a:schemeClr val="tx2"/>
          </a:solidFill>
          <a:latin typeface="Arial" panose="020B0604020202020204" pitchFamily="34" charset="0"/>
          <a:ea typeface="微软雅黑" panose="020B0503020204020204" pitchFamily="34" charset="-122"/>
          <a:cs typeface="宋体" panose="02010600030101010101" pitchFamily="2" charset="-122"/>
        </a:defRPr>
      </a:lvl8pPr>
      <a:lvl9pPr marL="1828754" algn="ctr" rtl="0" eaLnBrk="1" fontAlgn="base" hangingPunct="1">
        <a:spcBef>
          <a:spcPct val="0"/>
        </a:spcBef>
        <a:spcAft>
          <a:spcPct val="0"/>
        </a:spcAft>
        <a:defRPr sz="4000">
          <a:solidFill>
            <a:schemeClr val="tx2"/>
          </a:solidFill>
          <a:latin typeface="Arial" panose="020B0604020202020204" pitchFamily="34" charset="0"/>
          <a:ea typeface="微软雅黑" panose="020B0503020204020204" pitchFamily="34" charset="-122"/>
          <a:cs typeface="宋体" panose="02010600030101010101" pitchFamily="2" charset="-122"/>
        </a:defRPr>
      </a:lvl9pPr>
    </p:titleStyle>
    <p:bodyStyle>
      <a:lvl1pPr marL="342891" indent="-342891" algn="l" rtl="0" eaLnBrk="1" fontAlgn="base" hangingPunct="1">
        <a:spcBef>
          <a:spcPts val="1800"/>
        </a:spcBef>
        <a:spcAft>
          <a:spcPct val="0"/>
        </a:spcAft>
        <a:buChar char="•"/>
        <a:defRPr sz="2400" kern="1200">
          <a:solidFill>
            <a:srgbClr val="7F7F7F"/>
          </a:solidFill>
          <a:latin typeface="+mn-lt"/>
          <a:ea typeface="+mn-ea"/>
          <a:cs typeface="+mn-cs"/>
        </a:defRPr>
      </a:lvl1pPr>
      <a:lvl2pPr marL="357179" indent="-285744" algn="l" rtl="0" eaLnBrk="1" fontAlgn="base" hangingPunct="1">
        <a:spcBef>
          <a:spcPct val="20000"/>
        </a:spcBef>
        <a:spcAft>
          <a:spcPct val="0"/>
        </a:spcAft>
        <a:buFont typeface="Calibri" panose="020F0502020204030204" pitchFamily="34" charset="0"/>
        <a:buChar char=" "/>
        <a:defRPr sz="1867" kern="1200">
          <a:solidFill>
            <a:srgbClr val="7F7F7F"/>
          </a:solidFill>
          <a:latin typeface="+mn-lt"/>
          <a:ea typeface="+mn-ea"/>
          <a:cs typeface="+mn-cs"/>
        </a:defRPr>
      </a:lvl2pPr>
      <a:lvl3pPr marL="1142971" indent="-228594" algn="l" rtl="0" eaLnBrk="1" fontAlgn="base" hangingPunct="1">
        <a:spcBef>
          <a:spcPct val="20000"/>
        </a:spcBef>
        <a:spcAft>
          <a:spcPct val="0"/>
        </a:spcAft>
        <a:buChar char="•"/>
        <a:defRPr sz="1400" kern="1200">
          <a:solidFill>
            <a:srgbClr val="7F7F7F"/>
          </a:solidFill>
          <a:latin typeface="+mn-lt"/>
          <a:ea typeface="+mn-ea"/>
          <a:cs typeface="+mn-cs"/>
        </a:defRPr>
      </a:lvl3pPr>
      <a:lvl4pPr marL="1600160" indent="-228594" algn="l" rtl="0" eaLnBrk="1" fontAlgn="base" hangingPunct="1">
        <a:spcBef>
          <a:spcPct val="20000"/>
        </a:spcBef>
        <a:spcAft>
          <a:spcPct val="0"/>
        </a:spcAft>
        <a:buChar char="–"/>
        <a:defRPr sz="1200" kern="1200">
          <a:solidFill>
            <a:srgbClr val="7F7F7F"/>
          </a:solidFill>
          <a:latin typeface="+mn-lt"/>
          <a:ea typeface="+mn-ea"/>
          <a:cs typeface="+mn-cs"/>
        </a:defRPr>
      </a:lvl4pPr>
      <a:lvl5pPr marL="2057349" indent="-228594" algn="l" rtl="0" eaLnBrk="1" fontAlgn="base" hangingPunct="1">
        <a:spcBef>
          <a:spcPct val="20000"/>
        </a:spcBef>
        <a:spcAft>
          <a:spcPct val="0"/>
        </a:spcAft>
        <a:buChar char="»"/>
        <a:defRPr sz="1000" kern="1200">
          <a:solidFill>
            <a:srgbClr val="7F7F7F"/>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堆排序算法演示</a:t>
            </a:r>
            <a:endParaRPr lang="zh-CN" altLang="en-US" dirty="0"/>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2173564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一个排序和查找</a:t>
            </a:r>
            <a:endParaRPr lang="zh-CN" altLang="en-US" dirty="0"/>
          </a:p>
        </p:txBody>
      </p:sp>
      <p:sp>
        <p:nvSpPr>
          <p:cNvPr id="3" name="内容占位符 2"/>
          <p:cNvSpPr>
            <a:spLocks noGrp="1"/>
          </p:cNvSpPr>
          <p:nvPr>
            <p:ph idx="1"/>
          </p:nvPr>
        </p:nvSpPr>
        <p:spPr/>
        <p:txBody>
          <a:bodyPr/>
          <a:lstStyle/>
          <a:p>
            <a:r>
              <a:rPr lang="zh-CN" altLang="en-US" dirty="0" smtClean="0"/>
              <a:t>假设有</a:t>
            </a:r>
            <a:r>
              <a:rPr lang="en-US" altLang="zh-CN" dirty="0" smtClean="0"/>
              <a:t>14</a:t>
            </a:r>
            <a:r>
              <a:rPr lang="zh-CN" altLang="en-US" dirty="0" smtClean="0"/>
              <a:t>个数字，分别是</a:t>
            </a:r>
            <a:r>
              <a:rPr lang="en-US" altLang="zh-CN" dirty="0" smtClean="0"/>
              <a:t>99</a:t>
            </a:r>
            <a:r>
              <a:rPr lang="zh-CN" altLang="en-US" dirty="0" smtClean="0"/>
              <a:t>， </a:t>
            </a:r>
            <a:r>
              <a:rPr lang="en-US" altLang="zh-CN" dirty="0" smtClean="0"/>
              <a:t>5</a:t>
            </a:r>
            <a:r>
              <a:rPr lang="zh-CN" altLang="en-US" dirty="0" smtClean="0"/>
              <a:t>， </a:t>
            </a:r>
            <a:r>
              <a:rPr lang="en-US" altLang="zh-CN" dirty="0" smtClean="0"/>
              <a:t>36</a:t>
            </a:r>
            <a:r>
              <a:rPr lang="zh-CN" altLang="en-US" dirty="0" smtClean="0"/>
              <a:t>， </a:t>
            </a:r>
            <a:r>
              <a:rPr lang="en-US" altLang="zh-CN" dirty="0" smtClean="0"/>
              <a:t>7</a:t>
            </a:r>
            <a:r>
              <a:rPr lang="zh-CN" altLang="en-US" dirty="0" smtClean="0"/>
              <a:t>， </a:t>
            </a:r>
            <a:r>
              <a:rPr lang="en-US" altLang="zh-CN" dirty="0" smtClean="0"/>
              <a:t>22</a:t>
            </a:r>
            <a:r>
              <a:rPr lang="zh-CN" altLang="en-US" dirty="0" smtClean="0"/>
              <a:t>， </a:t>
            </a:r>
            <a:r>
              <a:rPr lang="en-US" altLang="zh-CN" dirty="0" smtClean="0"/>
              <a:t>17</a:t>
            </a:r>
            <a:r>
              <a:rPr lang="zh-CN" altLang="en-US" dirty="0" smtClean="0"/>
              <a:t>， </a:t>
            </a:r>
            <a:r>
              <a:rPr lang="en-US" altLang="zh-CN" dirty="0" smtClean="0"/>
              <a:t>46</a:t>
            </a:r>
            <a:r>
              <a:rPr lang="zh-CN" altLang="en-US" dirty="0" smtClean="0"/>
              <a:t>， </a:t>
            </a:r>
            <a:r>
              <a:rPr lang="en-US" altLang="zh-CN" dirty="0" smtClean="0"/>
              <a:t>12</a:t>
            </a:r>
            <a:r>
              <a:rPr lang="zh-CN" altLang="en-US" dirty="0" smtClean="0"/>
              <a:t>， </a:t>
            </a:r>
            <a:r>
              <a:rPr lang="en-US" altLang="zh-CN" dirty="0" smtClean="0"/>
              <a:t>2</a:t>
            </a:r>
            <a:r>
              <a:rPr lang="zh-CN" altLang="en-US" dirty="0" smtClean="0"/>
              <a:t>， </a:t>
            </a:r>
            <a:r>
              <a:rPr lang="en-US" altLang="zh-CN" dirty="0" smtClean="0"/>
              <a:t>19</a:t>
            </a:r>
            <a:r>
              <a:rPr lang="zh-CN" altLang="en-US" dirty="0" smtClean="0"/>
              <a:t>， </a:t>
            </a:r>
            <a:r>
              <a:rPr lang="en-US" altLang="zh-CN" dirty="0" smtClean="0"/>
              <a:t>25</a:t>
            </a:r>
            <a:r>
              <a:rPr lang="zh-CN" altLang="en-US" dirty="0" smtClean="0"/>
              <a:t>， </a:t>
            </a:r>
            <a:r>
              <a:rPr lang="en-US" altLang="zh-CN" dirty="0" smtClean="0"/>
              <a:t>28</a:t>
            </a:r>
            <a:r>
              <a:rPr lang="zh-CN" altLang="en-US" dirty="0" smtClean="0"/>
              <a:t>， </a:t>
            </a:r>
            <a:r>
              <a:rPr lang="en-US" altLang="zh-CN" dirty="0" smtClean="0"/>
              <a:t>1</a:t>
            </a:r>
            <a:r>
              <a:rPr lang="zh-CN" altLang="en-US" dirty="0" smtClean="0"/>
              <a:t>和</a:t>
            </a:r>
            <a:r>
              <a:rPr lang="en-US" altLang="zh-CN" dirty="0" smtClean="0"/>
              <a:t>92</a:t>
            </a:r>
          </a:p>
          <a:p>
            <a:r>
              <a:rPr lang="zh-CN" altLang="en-US" dirty="0" smtClean="0"/>
              <a:t>寻找该数列中的最小数字的时间复杂度按照一般从头到尾扫描为</a:t>
            </a:r>
            <a:r>
              <a:rPr lang="en-US" altLang="zh-CN" dirty="0" smtClean="0"/>
              <a:t>O(n)</a:t>
            </a:r>
            <a:r>
              <a:rPr lang="zh-CN" altLang="en-US" dirty="0" smtClean="0"/>
              <a:t>，假如说山区该数列中的最小数字，增加新的数字，再去寻找最小的数字，时间复杂度依然为</a:t>
            </a:r>
            <a:r>
              <a:rPr lang="en-US" altLang="zh-CN" dirty="0" smtClean="0"/>
              <a:t>O(n)</a:t>
            </a:r>
            <a:r>
              <a:rPr lang="zh-CN" altLang="en-US" dirty="0" smtClean="0"/>
              <a:t>，如果我们要进行</a:t>
            </a:r>
            <a:r>
              <a:rPr lang="en-US" altLang="zh-CN" dirty="0" smtClean="0"/>
              <a:t>m</a:t>
            </a:r>
            <a:r>
              <a:rPr lang="zh-CN" altLang="en-US" dirty="0" smtClean="0"/>
              <a:t>次删除和寻找最小值的操作，那么时间复杂度就是</a:t>
            </a:r>
            <a:r>
              <a:rPr lang="en-US" altLang="zh-CN" dirty="0" smtClean="0"/>
              <a:t>O(n*m)</a:t>
            </a:r>
            <a:r>
              <a:rPr lang="zh-CN" altLang="en-US" dirty="0" smtClean="0"/>
              <a:t>，我们尝试去寻找一个方法减少这个时间复杂度</a:t>
            </a:r>
            <a:endParaRPr lang="en-US" altLang="zh-CN" dirty="0" smtClean="0"/>
          </a:p>
          <a:p>
            <a:endParaRPr lang="zh-CN" altLang="en-US" dirty="0"/>
          </a:p>
        </p:txBody>
      </p:sp>
    </p:spTree>
    <p:extLst>
      <p:ext uri="{BB962C8B-B14F-4D97-AF65-F5344CB8AC3E}">
        <p14:creationId xmlns:p14="http://schemas.microsoft.com/office/powerpoint/2010/main" val="34219993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构造堆</a:t>
            </a:r>
            <a:endParaRPr lang="zh-CN" altLang="en-US" dirty="0"/>
          </a:p>
        </p:txBody>
      </p:sp>
      <p:sp>
        <p:nvSpPr>
          <p:cNvPr id="3" name="内容占位符 2"/>
          <p:cNvSpPr>
            <a:spLocks noGrp="1"/>
          </p:cNvSpPr>
          <p:nvPr>
            <p:ph idx="1"/>
          </p:nvPr>
        </p:nvSpPr>
        <p:spPr/>
        <p:txBody>
          <a:bodyPr/>
          <a:lstStyle/>
          <a:p>
            <a:r>
              <a:rPr lang="zh-CN" altLang="en-US" dirty="0" smtClean="0"/>
              <a:t>我们将刚刚的数列</a:t>
            </a:r>
            <a:r>
              <a:rPr lang="en-US" altLang="zh-CN" dirty="0"/>
              <a:t>99</a:t>
            </a:r>
            <a:r>
              <a:rPr lang="zh-CN" altLang="en-US" dirty="0"/>
              <a:t>， </a:t>
            </a:r>
            <a:r>
              <a:rPr lang="en-US" altLang="zh-CN" dirty="0"/>
              <a:t>5</a:t>
            </a:r>
            <a:r>
              <a:rPr lang="zh-CN" altLang="en-US" dirty="0"/>
              <a:t>， </a:t>
            </a:r>
            <a:r>
              <a:rPr lang="en-US" altLang="zh-CN" dirty="0"/>
              <a:t>36</a:t>
            </a:r>
            <a:r>
              <a:rPr lang="zh-CN" altLang="en-US" dirty="0"/>
              <a:t>， </a:t>
            </a:r>
            <a:r>
              <a:rPr lang="en-US" altLang="zh-CN" dirty="0"/>
              <a:t>7</a:t>
            </a:r>
            <a:r>
              <a:rPr lang="zh-CN" altLang="en-US" dirty="0"/>
              <a:t>， </a:t>
            </a:r>
            <a:r>
              <a:rPr lang="en-US" altLang="zh-CN" dirty="0"/>
              <a:t>22</a:t>
            </a:r>
            <a:r>
              <a:rPr lang="zh-CN" altLang="en-US" dirty="0"/>
              <a:t>， </a:t>
            </a:r>
            <a:r>
              <a:rPr lang="en-US" altLang="zh-CN" dirty="0"/>
              <a:t>17</a:t>
            </a:r>
            <a:r>
              <a:rPr lang="zh-CN" altLang="en-US" dirty="0"/>
              <a:t>， </a:t>
            </a:r>
            <a:r>
              <a:rPr lang="en-US" altLang="zh-CN" dirty="0"/>
              <a:t>46</a:t>
            </a:r>
            <a:r>
              <a:rPr lang="zh-CN" altLang="en-US" dirty="0"/>
              <a:t>， </a:t>
            </a:r>
            <a:r>
              <a:rPr lang="en-US" altLang="zh-CN" dirty="0"/>
              <a:t>12</a:t>
            </a:r>
            <a:r>
              <a:rPr lang="zh-CN" altLang="en-US" dirty="0"/>
              <a:t>， </a:t>
            </a:r>
            <a:r>
              <a:rPr lang="en-US" altLang="zh-CN" dirty="0"/>
              <a:t>2</a:t>
            </a:r>
            <a:r>
              <a:rPr lang="zh-CN" altLang="en-US" dirty="0"/>
              <a:t>， </a:t>
            </a:r>
            <a:r>
              <a:rPr lang="en-US" altLang="zh-CN" dirty="0"/>
              <a:t>19</a:t>
            </a:r>
            <a:r>
              <a:rPr lang="zh-CN" altLang="en-US" dirty="0"/>
              <a:t>， </a:t>
            </a:r>
            <a:r>
              <a:rPr lang="en-US" altLang="zh-CN" dirty="0"/>
              <a:t>25</a:t>
            </a:r>
            <a:r>
              <a:rPr lang="zh-CN" altLang="en-US" dirty="0"/>
              <a:t>， </a:t>
            </a:r>
            <a:r>
              <a:rPr lang="en-US" altLang="zh-CN" dirty="0"/>
              <a:t>28</a:t>
            </a:r>
            <a:r>
              <a:rPr lang="zh-CN" altLang="en-US" dirty="0"/>
              <a:t>， </a:t>
            </a:r>
            <a:r>
              <a:rPr lang="en-US" altLang="zh-CN" dirty="0"/>
              <a:t>1</a:t>
            </a:r>
            <a:r>
              <a:rPr lang="zh-CN" altLang="en-US" dirty="0"/>
              <a:t>和</a:t>
            </a:r>
            <a:r>
              <a:rPr lang="en-US" altLang="zh-CN" dirty="0" smtClean="0"/>
              <a:t>92</a:t>
            </a:r>
            <a:r>
              <a:rPr lang="zh-CN" altLang="en-US" dirty="0" smtClean="0"/>
              <a:t>构造一个堆</a:t>
            </a:r>
            <a:endParaRPr lang="en-US" altLang="zh-CN" dirty="0" smtClean="0"/>
          </a:p>
          <a:p>
            <a:r>
              <a:rPr lang="zh-CN" altLang="en-US" dirty="0" smtClean="0"/>
              <a:t>现在我们构造一个堆，存在数组</a:t>
            </a:r>
            <a:r>
              <a:rPr lang="en-US" altLang="zh-CN" dirty="0" smtClean="0"/>
              <a:t>heap</a:t>
            </a:r>
            <a:r>
              <a:rPr lang="zh-CN" altLang="en-US" dirty="0" smtClean="0"/>
              <a:t>中</a:t>
            </a:r>
            <a:endParaRPr lang="en-US" altLang="zh-CN" dirty="0" smtClean="0"/>
          </a:p>
          <a:p>
            <a:r>
              <a:rPr lang="en-US" altLang="zh-CN" dirty="0" smtClean="0"/>
              <a:t>heap[] = {1,2,5,12,7,17,25,19,36,99,22,28,46,92}</a:t>
            </a:r>
          </a:p>
          <a:p>
            <a:endParaRPr lang="en-US" altLang="zh-CN" dirty="0"/>
          </a:p>
          <a:p>
            <a:endParaRPr lang="zh-CN" altLang="en-US" dirty="0"/>
          </a:p>
        </p:txBody>
      </p:sp>
      <p:grpSp>
        <p:nvGrpSpPr>
          <p:cNvPr id="66" name="组合 65"/>
          <p:cNvGrpSpPr/>
          <p:nvPr/>
        </p:nvGrpSpPr>
        <p:grpSpPr>
          <a:xfrm>
            <a:off x="2350252" y="2608758"/>
            <a:ext cx="6685592" cy="3231167"/>
            <a:chOff x="2350252" y="2608758"/>
            <a:chExt cx="6685592" cy="3231167"/>
          </a:xfrm>
        </p:grpSpPr>
        <p:sp>
          <p:nvSpPr>
            <p:cNvPr id="49" name="文本框 48"/>
            <p:cNvSpPr txBox="1"/>
            <p:nvPr/>
          </p:nvSpPr>
          <p:spPr>
            <a:xfrm>
              <a:off x="5914286" y="2608758"/>
              <a:ext cx="301686" cy="369332"/>
            </a:xfrm>
            <a:prstGeom prst="rect">
              <a:avLst/>
            </a:prstGeom>
            <a:noFill/>
          </p:spPr>
          <p:txBody>
            <a:bodyPr wrap="none" rtlCol="0">
              <a:spAutoFit/>
            </a:bodyPr>
            <a:lstStyle/>
            <a:p>
              <a:r>
                <a:rPr lang="en-US" altLang="zh-CN" dirty="0" smtClean="0"/>
                <a:t>1</a:t>
              </a:r>
              <a:endParaRPr lang="zh-CN" altLang="en-US" dirty="0"/>
            </a:p>
          </p:txBody>
        </p:sp>
        <p:grpSp>
          <p:nvGrpSpPr>
            <p:cNvPr id="65" name="组合 64"/>
            <p:cNvGrpSpPr/>
            <p:nvPr/>
          </p:nvGrpSpPr>
          <p:grpSpPr>
            <a:xfrm>
              <a:off x="2350252" y="2796943"/>
              <a:ext cx="6685592" cy="3042982"/>
              <a:chOff x="2267956" y="2747772"/>
              <a:chExt cx="6685592" cy="3042982"/>
            </a:xfrm>
          </p:grpSpPr>
          <p:sp>
            <p:nvSpPr>
              <p:cNvPr id="5" name="椭圆 4"/>
              <p:cNvSpPr/>
              <p:nvPr/>
            </p:nvSpPr>
            <p:spPr>
              <a:xfrm>
                <a:off x="5518404" y="2747772"/>
                <a:ext cx="393192" cy="3931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6" name="椭圆 5"/>
              <p:cNvSpPr/>
              <p:nvPr/>
            </p:nvSpPr>
            <p:spPr>
              <a:xfrm>
                <a:off x="3619620" y="3319272"/>
                <a:ext cx="393192" cy="3931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7" name="椭圆 6"/>
              <p:cNvSpPr/>
              <p:nvPr/>
            </p:nvSpPr>
            <p:spPr>
              <a:xfrm>
                <a:off x="7411822" y="3318384"/>
                <a:ext cx="393192" cy="3931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5</a:t>
                </a:r>
                <a:endParaRPr lang="zh-CN" altLang="en-US" dirty="0"/>
              </a:p>
            </p:txBody>
          </p:sp>
          <p:sp>
            <p:nvSpPr>
              <p:cNvPr id="8" name="椭圆 7"/>
              <p:cNvSpPr/>
              <p:nvPr/>
            </p:nvSpPr>
            <p:spPr>
              <a:xfrm>
                <a:off x="2809197" y="4027837"/>
                <a:ext cx="606552" cy="6065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12</a:t>
                </a:r>
                <a:endParaRPr lang="zh-CN" altLang="en-US" dirty="0"/>
              </a:p>
            </p:txBody>
          </p:sp>
          <p:sp>
            <p:nvSpPr>
              <p:cNvPr id="9" name="椭圆 8"/>
              <p:cNvSpPr/>
              <p:nvPr/>
            </p:nvSpPr>
            <p:spPr>
              <a:xfrm>
                <a:off x="4175563" y="4015692"/>
                <a:ext cx="6477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7</a:t>
                </a:r>
                <a:endParaRPr lang="zh-CN" altLang="en-US" dirty="0"/>
              </a:p>
            </p:txBody>
          </p:sp>
          <p:sp>
            <p:nvSpPr>
              <p:cNvPr id="10" name="椭圆 9"/>
              <p:cNvSpPr/>
              <p:nvPr/>
            </p:nvSpPr>
            <p:spPr>
              <a:xfrm>
                <a:off x="6478876" y="4063554"/>
                <a:ext cx="6477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17</a:t>
                </a:r>
                <a:endParaRPr lang="zh-CN" altLang="en-US" dirty="0"/>
              </a:p>
            </p:txBody>
          </p:sp>
          <p:sp>
            <p:nvSpPr>
              <p:cNvPr id="11" name="椭圆 10"/>
              <p:cNvSpPr/>
              <p:nvPr/>
            </p:nvSpPr>
            <p:spPr>
              <a:xfrm>
                <a:off x="8123519" y="4063554"/>
                <a:ext cx="6477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25</a:t>
                </a:r>
                <a:endParaRPr lang="zh-CN" altLang="en-US" dirty="0"/>
              </a:p>
            </p:txBody>
          </p:sp>
          <p:sp>
            <p:nvSpPr>
              <p:cNvPr id="12" name="椭圆 11"/>
              <p:cNvSpPr/>
              <p:nvPr/>
            </p:nvSpPr>
            <p:spPr>
              <a:xfrm>
                <a:off x="2418799" y="5076095"/>
                <a:ext cx="6477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19</a:t>
                </a:r>
                <a:endParaRPr lang="zh-CN" altLang="en-US" dirty="0"/>
              </a:p>
            </p:txBody>
          </p:sp>
          <p:sp>
            <p:nvSpPr>
              <p:cNvPr id="13" name="椭圆 12"/>
              <p:cNvSpPr/>
              <p:nvPr/>
            </p:nvSpPr>
            <p:spPr>
              <a:xfrm>
                <a:off x="3137117" y="5066508"/>
                <a:ext cx="6477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36</a:t>
                </a:r>
                <a:endParaRPr lang="zh-CN" altLang="en-US" dirty="0"/>
              </a:p>
            </p:txBody>
          </p:sp>
          <p:sp>
            <p:nvSpPr>
              <p:cNvPr id="14" name="椭圆 13"/>
              <p:cNvSpPr/>
              <p:nvPr/>
            </p:nvSpPr>
            <p:spPr>
              <a:xfrm>
                <a:off x="3816216" y="5076095"/>
                <a:ext cx="6477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99</a:t>
                </a:r>
                <a:endParaRPr lang="zh-CN" altLang="en-US" dirty="0"/>
              </a:p>
            </p:txBody>
          </p:sp>
          <p:sp>
            <p:nvSpPr>
              <p:cNvPr id="15" name="椭圆 14"/>
              <p:cNvSpPr/>
              <p:nvPr/>
            </p:nvSpPr>
            <p:spPr>
              <a:xfrm>
                <a:off x="4499413" y="5111973"/>
                <a:ext cx="6477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22</a:t>
                </a:r>
                <a:endParaRPr lang="zh-CN" altLang="en-US" dirty="0"/>
              </a:p>
            </p:txBody>
          </p:sp>
          <p:sp>
            <p:nvSpPr>
              <p:cNvPr id="16" name="椭圆 15"/>
              <p:cNvSpPr/>
              <p:nvPr/>
            </p:nvSpPr>
            <p:spPr>
              <a:xfrm>
                <a:off x="6106317" y="5111973"/>
                <a:ext cx="6477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28</a:t>
                </a:r>
                <a:endParaRPr lang="zh-CN" altLang="en-US" dirty="0"/>
              </a:p>
            </p:txBody>
          </p:sp>
          <p:sp>
            <p:nvSpPr>
              <p:cNvPr id="17" name="椭圆 16"/>
              <p:cNvSpPr/>
              <p:nvPr/>
            </p:nvSpPr>
            <p:spPr>
              <a:xfrm>
                <a:off x="7004659" y="5143054"/>
                <a:ext cx="6477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46</a:t>
                </a:r>
                <a:endParaRPr lang="zh-CN" altLang="en-US" dirty="0"/>
              </a:p>
            </p:txBody>
          </p:sp>
          <p:sp>
            <p:nvSpPr>
              <p:cNvPr id="18" name="椭圆 17"/>
              <p:cNvSpPr/>
              <p:nvPr/>
            </p:nvSpPr>
            <p:spPr>
              <a:xfrm>
                <a:off x="7821628" y="5101460"/>
                <a:ext cx="6477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92</a:t>
                </a:r>
                <a:endParaRPr lang="zh-CN" altLang="en-US" dirty="0"/>
              </a:p>
            </p:txBody>
          </p:sp>
          <p:cxnSp>
            <p:nvCxnSpPr>
              <p:cNvPr id="22" name="直接箭头连接符 21"/>
              <p:cNvCxnSpPr>
                <a:stCxn id="5" idx="6"/>
                <a:endCxn id="7" idx="0"/>
              </p:cNvCxnSpPr>
              <p:nvPr/>
            </p:nvCxnSpPr>
            <p:spPr>
              <a:xfrm>
                <a:off x="5911596" y="2944368"/>
                <a:ext cx="1696822" cy="3740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5" idx="2"/>
              </p:cNvCxnSpPr>
              <p:nvPr/>
            </p:nvCxnSpPr>
            <p:spPr>
              <a:xfrm flipH="1">
                <a:off x="3816216" y="2944368"/>
                <a:ext cx="1702188" cy="3740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stCxn id="6" idx="3"/>
                <a:endCxn id="8" idx="0"/>
              </p:cNvCxnSpPr>
              <p:nvPr/>
            </p:nvCxnSpPr>
            <p:spPr>
              <a:xfrm flipH="1">
                <a:off x="3112473" y="3654882"/>
                <a:ext cx="564729" cy="3729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6" idx="5"/>
                <a:endCxn id="9" idx="0"/>
              </p:cNvCxnSpPr>
              <p:nvPr/>
            </p:nvCxnSpPr>
            <p:spPr>
              <a:xfrm>
                <a:off x="3955230" y="3654882"/>
                <a:ext cx="544183" cy="3608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7" idx="3"/>
                <a:endCxn id="10" idx="0"/>
              </p:cNvCxnSpPr>
              <p:nvPr/>
            </p:nvCxnSpPr>
            <p:spPr>
              <a:xfrm flipH="1">
                <a:off x="6802726" y="3653994"/>
                <a:ext cx="666678" cy="4095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a:stCxn id="7" idx="5"/>
                <a:endCxn id="11" idx="0"/>
              </p:cNvCxnSpPr>
              <p:nvPr/>
            </p:nvCxnSpPr>
            <p:spPr>
              <a:xfrm>
                <a:off x="7747432" y="3653994"/>
                <a:ext cx="699937" cy="4095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stCxn id="8" idx="3"/>
                <a:endCxn id="12" idx="0"/>
              </p:cNvCxnSpPr>
              <p:nvPr/>
            </p:nvCxnSpPr>
            <p:spPr>
              <a:xfrm flipH="1">
                <a:off x="2742649" y="4545562"/>
                <a:ext cx="155375" cy="5305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a:stCxn id="8" idx="5"/>
                <a:endCxn id="13" idx="0"/>
              </p:cNvCxnSpPr>
              <p:nvPr/>
            </p:nvCxnSpPr>
            <p:spPr>
              <a:xfrm>
                <a:off x="3326922" y="4545562"/>
                <a:ext cx="134045" cy="5209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stCxn id="9" idx="3"/>
                <a:endCxn id="14" idx="0"/>
              </p:cNvCxnSpPr>
              <p:nvPr/>
            </p:nvCxnSpPr>
            <p:spPr>
              <a:xfrm flipH="1">
                <a:off x="4140066" y="4568539"/>
                <a:ext cx="130350" cy="5075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stCxn id="9" idx="5"/>
                <a:endCxn id="15" idx="0"/>
              </p:cNvCxnSpPr>
              <p:nvPr/>
            </p:nvCxnSpPr>
            <p:spPr>
              <a:xfrm>
                <a:off x="4728410" y="4568539"/>
                <a:ext cx="94853" cy="543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a:stCxn id="10" idx="3"/>
                <a:endCxn id="16" idx="0"/>
              </p:cNvCxnSpPr>
              <p:nvPr/>
            </p:nvCxnSpPr>
            <p:spPr>
              <a:xfrm flipH="1">
                <a:off x="6430167" y="4616401"/>
                <a:ext cx="143562" cy="495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a:stCxn id="10" idx="5"/>
                <a:endCxn id="17" idx="0"/>
              </p:cNvCxnSpPr>
              <p:nvPr/>
            </p:nvCxnSpPr>
            <p:spPr>
              <a:xfrm>
                <a:off x="7031723" y="4616401"/>
                <a:ext cx="296786" cy="5266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a:stCxn id="11" idx="3"/>
                <a:endCxn id="18" idx="0"/>
              </p:cNvCxnSpPr>
              <p:nvPr/>
            </p:nvCxnSpPr>
            <p:spPr>
              <a:xfrm flipH="1">
                <a:off x="8145478" y="4616401"/>
                <a:ext cx="72894" cy="4850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3422225" y="3209743"/>
                <a:ext cx="301686" cy="369332"/>
              </a:xfrm>
              <a:prstGeom prst="rect">
                <a:avLst/>
              </a:prstGeom>
              <a:noFill/>
            </p:spPr>
            <p:txBody>
              <a:bodyPr wrap="none" rtlCol="0">
                <a:spAutoFit/>
              </a:bodyPr>
              <a:lstStyle/>
              <a:p>
                <a:r>
                  <a:rPr lang="en-US" altLang="zh-CN" dirty="0" smtClean="0"/>
                  <a:t>2</a:t>
                </a:r>
                <a:endParaRPr lang="zh-CN" altLang="en-US" dirty="0"/>
              </a:p>
            </p:txBody>
          </p:sp>
          <p:sp>
            <p:nvSpPr>
              <p:cNvPr id="51" name="文本框 50"/>
              <p:cNvSpPr txBox="1"/>
              <p:nvPr/>
            </p:nvSpPr>
            <p:spPr>
              <a:xfrm>
                <a:off x="7821628" y="3248365"/>
                <a:ext cx="301686" cy="369332"/>
              </a:xfrm>
              <a:prstGeom prst="rect">
                <a:avLst/>
              </a:prstGeom>
              <a:noFill/>
            </p:spPr>
            <p:txBody>
              <a:bodyPr wrap="none" rtlCol="0">
                <a:spAutoFit/>
              </a:bodyPr>
              <a:lstStyle/>
              <a:p>
                <a:r>
                  <a:rPr lang="en-US" altLang="zh-CN" dirty="0" smtClean="0"/>
                  <a:t>3</a:t>
                </a:r>
                <a:endParaRPr lang="zh-CN" altLang="en-US" dirty="0"/>
              </a:p>
            </p:txBody>
          </p:sp>
          <p:sp>
            <p:nvSpPr>
              <p:cNvPr id="52" name="文本框 51"/>
              <p:cNvSpPr txBox="1"/>
              <p:nvPr/>
            </p:nvSpPr>
            <p:spPr>
              <a:xfrm>
                <a:off x="2571378" y="4018072"/>
                <a:ext cx="301686" cy="369332"/>
              </a:xfrm>
              <a:prstGeom prst="rect">
                <a:avLst/>
              </a:prstGeom>
              <a:noFill/>
            </p:spPr>
            <p:txBody>
              <a:bodyPr wrap="none" rtlCol="0">
                <a:spAutoFit/>
              </a:bodyPr>
              <a:lstStyle/>
              <a:p>
                <a:r>
                  <a:rPr lang="en-US" altLang="zh-CN" dirty="0" smtClean="0"/>
                  <a:t>4</a:t>
                </a:r>
                <a:endParaRPr lang="zh-CN" altLang="en-US" dirty="0"/>
              </a:p>
            </p:txBody>
          </p:sp>
          <p:sp>
            <p:nvSpPr>
              <p:cNvPr id="53" name="文本框 52"/>
              <p:cNvSpPr txBox="1"/>
              <p:nvPr/>
            </p:nvSpPr>
            <p:spPr>
              <a:xfrm>
                <a:off x="4843834" y="4027837"/>
                <a:ext cx="301686" cy="369332"/>
              </a:xfrm>
              <a:prstGeom prst="rect">
                <a:avLst/>
              </a:prstGeom>
              <a:noFill/>
            </p:spPr>
            <p:txBody>
              <a:bodyPr wrap="none" rtlCol="0">
                <a:spAutoFit/>
              </a:bodyPr>
              <a:lstStyle/>
              <a:p>
                <a:r>
                  <a:rPr lang="en-US" altLang="zh-CN" dirty="0" smtClean="0"/>
                  <a:t>5</a:t>
                </a:r>
                <a:endParaRPr lang="zh-CN" altLang="en-US" dirty="0"/>
              </a:p>
            </p:txBody>
          </p:sp>
          <p:sp>
            <p:nvSpPr>
              <p:cNvPr id="55" name="文本框 54"/>
              <p:cNvSpPr txBox="1"/>
              <p:nvPr/>
            </p:nvSpPr>
            <p:spPr>
              <a:xfrm>
                <a:off x="6351105" y="3849122"/>
                <a:ext cx="301686" cy="369332"/>
              </a:xfrm>
              <a:prstGeom prst="rect">
                <a:avLst/>
              </a:prstGeom>
              <a:noFill/>
            </p:spPr>
            <p:txBody>
              <a:bodyPr wrap="none" rtlCol="0">
                <a:spAutoFit/>
              </a:bodyPr>
              <a:lstStyle/>
              <a:p>
                <a:r>
                  <a:rPr lang="en-US" altLang="zh-CN" dirty="0" smtClean="0"/>
                  <a:t>6</a:t>
                </a:r>
                <a:endParaRPr lang="zh-CN" altLang="en-US" dirty="0"/>
              </a:p>
            </p:txBody>
          </p:sp>
          <p:sp>
            <p:nvSpPr>
              <p:cNvPr id="56" name="文本框 55"/>
              <p:cNvSpPr txBox="1"/>
              <p:nvPr/>
            </p:nvSpPr>
            <p:spPr>
              <a:xfrm>
                <a:off x="8651862" y="3870242"/>
                <a:ext cx="301686" cy="369332"/>
              </a:xfrm>
              <a:prstGeom prst="rect">
                <a:avLst/>
              </a:prstGeom>
              <a:noFill/>
            </p:spPr>
            <p:txBody>
              <a:bodyPr wrap="none" rtlCol="0">
                <a:spAutoFit/>
              </a:bodyPr>
              <a:lstStyle/>
              <a:p>
                <a:r>
                  <a:rPr lang="en-US" altLang="zh-CN" dirty="0" smtClean="0"/>
                  <a:t>7</a:t>
                </a:r>
                <a:endParaRPr lang="zh-CN" altLang="en-US" dirty="0"/>
              </a:p>
            </p:txBody>
          </p:sp>
          <p:sp>
            <p:nvSpPr>
              <p:cNvPr id="57" name="文本框 56"/>
              <p:cNvSpPr txBox="1"/>
              <p:nvPr/>
            </p:nvSpPr>
            <p:spPr>
              <a:xfrm>
                <a:off x="2267956" y="4863502"/>
                <a:ext cx="301686" cy="369332"/>
              </a:xfrm>
              <a:prstGeom prst="rect">
                <a:avLst/>
              </a:prstGeom>
              <a:noFill/>
            </p:spPr>
            <p:txBody>
              <a:bodyPr wrap="none" rtlCol="0">
                <a:spAutoFit/>
              </a:bodyPr>
              <a:lstStyle/>
              <a:p>
                <a:r>
                  <a:rPr lang="en-US" altLang="zh-CN" dirty="0" smtClean="0"/>
                  <a:t>8</a:t>
                </a:r>
                <a:endParaRPr lang="zh-CN" altLang="en-US" dirty="0"/>
              </a:p>
            </p:txBody>
          </p:sp>
          <p:sp>
            <p:nvSpPr>
              <p:cNvPr id="58" name="文本框 57"/>
              <p:cNvSpPr txBox="1"/>
              <p:nvPr/>
            </p:nvSpPr>
            <p:spPr>
              <a:xfrm>
                <a:off x="3481018" y="4773892"/>
                <a:ext cx="301686" cy="369332"/>
              </a:xfrm>
              <a:prstGeom prst="rect">
                <a:avLst/>
              </a:prstGeom>
              <a:noFill/>
            </p:spPr>
            <p:txBody>
              <a:bodyPr wrap="none" rtlCol="0">
                <a:spAutoFit/>
              </a:bodyPr>
              <a:lstStyle/>
              <a:p>
                <a:r>
                  <a:rPr lang="en-US" altLang="zh-CN" dirty="0" smtClean="0"/>
                  <a:t>9</a:t>
                </a:r>
                <a:endParaRPr lang="zh-CN" altLang="en-US" dirty="0"/>
              </a:p>
            </p:txBody>
          </p:sp>
          <p:sp>
            <p:nvSpPr>
              <p:cNvPr id="59" name="文本框 58"/>
              <p:cNvSpPr txBox="1"/>
              <p:nvPr/>
            </p:nvSpPr>
            <p:spPr>
              <a:xfrm>
                <a:off x="3740748" y="4761747"/>
                <a:ext cx="418704" cy="369332"/>
              </a:xfrm>
              <a:prstGeom prst="rect">
                <a:avLst/>
              </a:prstGeom>
              <a:noFill/>
            </p:spPr>
            <p:txBody>
              <a:bodyPr wrap="none" rtlCol="0">
                <a:spAutoFit/>
              </a:bodyPr>
              <a:lstStyle/>
              <a:p>
                <a:r>
                  <a:rPr lang="en-US" altLang="zh-CN" dirty="0" smtClean="0"/>
                  <a:t>10</a:t>
                </a:r>
                <a:endParaRPr lang="zh-CN" altLang="en-US" dirty="0"/>
              </a:p>
            </p:txBody>
          </p:sp>
          <p:sp>
            <p:nvSpPr>
              <p:cNvPr id="60" name="文本框 59"/>
              <p:cNvSpPr txBox="1"/>
              <p:nvPr/>
            </p:nvSpPr>
            <p:spPr>
              <a:xfrm>
                <a:off x="4896259" y="4767626"/>
                <a:ext cx="418704" cy="369332"/>
              </a:xfrm>
              <a:prstGeom prst="rect">
                <a:avLst/>
              </a:prstGeom>
              <a:noFill/>
            </p:spPr>
            <p:txBody>
              <a:bodyPr wrap="none" rtlCol="0">
                <a:spAutoFit/>
              </a:bodyPr>
              <a:lstStyle/>
              <a:p>
                <a:r>
                  <a:rPr lang="en-US" altLang="zh-CN" dirty="0" smtClean="0"/>
                  <a:t>11</a:t>
                </a:r>
                <a:endParaRPr lang="zh-CN" altLang="en-US" dirty="0"/>
              </a:p>
            </p:txBody>
          </p:sp>
          <p:sp>
            <p:nvSpPr>
              <p:cNvPr id="61" name="文本框 60"/>
              <p:cNvSpPr txBox="1"/>
              <p:nvPr/>
            </p:nvSpPr>
            <p:spPr>
              <a:xfrm>
                <a:off x="6150265" y="4674264"/>
                <a:ext cx="418704" cy="369332"/>
              </a:xfrm>
              <a:prstGeom prst="rect">
                <a:avLst/>
              </a:prstGeom>
              <a:noFill/>
            </p:spPr>
            <p:txBody>
              <a:bodyPr wrap="none" rtlCol="0">
                <a:spAutoFit/>
              </a:bodyPr>
              <a:lstStyle/>
              <a:p>
                <a:r>
                  <a:rPr lang="en-US" altLang="zh-CN" dirty="0" smtClean="0"/>
                  <a:t>12</a:t>
                </a:r>
                <a:endParaRPr lang="zh-CN" altLang="en-US" dirty="0"/>
              </a:p>
            </p:txBody>
          </p:sp>
          <p:sp>
            <p:nvSpPr>
              <p:cNvPr id="62" name="文本框 61"/>
              <p:cNvSpPr txBox="1"/>
              <p:nvPr/>
            </p:nvSpPr>
            <p:spPr>
              <a:xfrm>
                <a:off x="7165866" y="4681965"/>
                <a:ext cx="418704" cy="369332"/>
              </a:xfrm>
              <a:prstGeom prst="rect">
                <a:avLst/>
              </a:prstGeom>
              <a:noFill/>
            </p:spPr>
            <p:txBody>
              <a:bodyPr wrap="none" rtlCol="0">
                <a:spAutoFit/>
              </a:bodyPr>
              <a:lstStyle/>
              <a:p>
                <a:r>
                  <a:rPr lang="en-US" altLang="zh-CN" dirty="0" smtClean="0"/>
                  <a:t>13</a:t>
                </a:r>
                <a:endParaRPr lang="zh-CN" altLang="en-US" dirty="0"/>
              </a:p>
            </p:txBody>
          </p:sp>
          <p:sp>
            <p:nvSpPr>
              <p:cNvPr id="63" name="文本框 62"/>
              <p:cNvSpPr txBox="1"/>
              <p:nvPr/>
            </p:nvSpPr>
            <p:spPr>
              <a:xfrm>
                <a:off x="7885001" y="4644827"/>
                <a:ext cx="467323" cy="369332"/>
              </a:xfrm>
              <a:prstGeom prst="rect">
                <a:avLst/>
              </a:prstGeom>
              <a:noFill/>
            </p:spPr>
            <p:txBody>
              <a:bodyPr wrap="square" rtlCol="0">
                <a:spAutoFit/>
              </a:bodyPr>
              <a:lstStyle/>
              <a:p>
                <a:r>
                  <a:rPr lang="en-US" altLang="zh-CN" dirty="0" smtClean="0"/>
                  <a:t>14</a:t>
                </a:r>
                <a:endParaRPr lang="zh-CN" altLang="en-US" dirty="0"/>
              </a:p>
            </p:txBody>
          </p:sp>
        </p:grpSp>
      </p:grpSp>
      <p:sp>
        <p:nvSpPr>
          <p:cNvPr id="110" name="文本框 109"/>
          <p:cNvSpPr txBox="1"/>
          <p:nvPr/>
        </p:nvSpPr>
        <p:spPr>
          <a:xfrm>
            <a:off x="8546279" y="3378339"/>
            <a:ext cx="3416320" cy="369332"/>
          </a:xfrm>
          <a:prstGeom prst="rect">
            <a:avLst/>
          </a:prstGeom>
          <a:noFill/>
        </p:spPr>
        <p:txBody>
          <a:bodyPr wrap="none" rtlCol="0">
            <a:spAutoFit/>
          </a:bodyPr>
          <a:lstStyle/>
          <a:p>
            <a:r>
              <a:rPr lang="zh-CN" altLang="en-US" dirty="0" smtClean="0"/>
              <a:t>先不必关心这个堆是如何建立的</a:t>
            </a:r>
            <a:endParaRPr lang="zh-CN" altLang="en-US" dirty="0"/>
          </a:p>
        </p:txBody>
      </p:sp>
    </p:spTree>
    <p:extLst>
      <p:ext uri="{BB962C8B-B14F-4D97-AF65-F5344CB8AC3E}">
        <p14:creationId xmlns:p14="http://schemas.microsoft.com/office/powerpoint/2010/main" val="161789061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1191438"/>
            <a:ext cx="6685592" cy="3231167"/>
            <a:chOff x="2350252" y="2608758"/>
            <a:chExt cx="6685592" cy="3231167"/>
          </a:xfrm>
        </p:grpSpPr>
        <p:sp>
          <p:nvSpPr>
            <p:cNvPr id="5" name="文本框 4"/>
            <p:cNvSpPr txBox="1"/>
            <p:nvPr/>
          </p:nvSpPr>
          <p:spPr>
            <a:xfrm>
              <a:off x="5914286" y="2608758"/>
              <a:ext cx="301686" cy="369332"/>
            </a:xfrm>
            <a:prstGeom prst="rect">
              <a:avLst/>
            </a:prstGeom>
            <a:noFill/>
          </p:spPr>
          <p:txBody>
            <a:bodyPr wrap="none" rtlCol="0">
              <a:spAutoFit/>
            </a:bodyPr>
            <a:lstStyle/>
            <a:p>
              <a:r>
                <a:rPr lang="en-US" altLang="zh-CN" dirty="0" smtClean="0"/>
                <a:t>1</a:t>
              </a:r>
              <a:endParaRPr lang="zh-CN" altLang="en-US" dirty="0"/>
            </a:p>
          </p:txBody>
        </p:sp>
        <p:grpSp>
          <p:nvGrpSpPr>
            <p:cNvPr id="6" name="组合 5"/>
            <p:cNvGrpSpPr/>
            <p:nvPr/>
          </p:nvGrpSpPr>
          <p:grpSpPr>
            <a:xfrm>
              <a:off x="2350252" y="2796943"/>
              <a:ext cx="6685592" cy="3042982"/>
              <a:chOff x="2267956" y="2747772"/>
              <a:chExt cx="6685592" cy="3042982"/>
            </a:xfrm>
          </p:grpSpPr>
          <p:sp>
            <p:nvSpPr>
              <p:cNvPr id="7" name="椭圆 6"/>
              <p:cNvSpPr/>
              <p:nvPr/>
            </p:nvSpPr>
            <p:spPr>
              <a:xfrm>
                <a:off x="5518404" y="2747772"/>
                <a:ext cx="393192" cy="3931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8" name="椭圆 7"/>
              <p:cNvSpPr/>
              <p:nvPr/>
            </p:nvSpPr>
            <p:spPr>
              <a:xfrm>
                <a:off x="3619620" y="3319272"/>
                <a:ext cx="393192" cy="3931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9" name="椭圆 8"/>
              <p:cNvSpPr/>
              <p:nvPr/>
            </p:nvSpPr>
            <p:spPr>
              <a:xfrm>
                <a:off x="7411822" y="3318384"/>
                <a:ext cx="393192" cy="3931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5</a:t>
                </a:r>
                <a:endParaRPr lang="zh-CN" altLang="en-US" dirty="0"/>
              </a:p>
            </p:txBody>
          </p:sp>
          <p:sp>
            <p:nvSpPr>
              <p:cNvPr id="10" name="椭圆 9"/>
              <p:cNvSpPr/>
              <p:nvPr/>
            </p:nvSpPr>
            <p:spPr>
              <a:xfrm>
                <a:off x="2809197" y="4027837"/>
                <a:ext cx="606552" cy="6065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12</a:t>
                </a:r>
                <a:endParaRPr lang="zh-CN" altLang="en-US" dirty="0"/>
              </a:p>
            </p:txBody>
          </p:sp>
          <p:sp>
            <p:nvSpPr>
              <p:cNvPr id="11" name="椭圆 10"/>
              <p:cNvSpPr/>
              <p:nvPr/>
            </p:nvSpPr>
            <p:spPr>
              <a:xfrm>
                <a:off x="4175563" y="4015692"/>
                <a:ext cx="6477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7</a:t>
                </a:r>
                <a:endParaRPr lang="zh-CN" altLang="en-US" dirty="0"/>
              </a:p>
            </p:txBody>
          </p:sp>
          <p:sp>
            <p:nvSpPr>
              <p:cNvPr id="12" name="椭圆 11"/>
              <p:cNvSpPr/>
              <p:nvPr/>
            </p:nvSpPr>
            <p:spPr>
              <a:xfrm>
                <a:off x="6478876" y="4063554"/>
                <a:ext cx="6477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17</a:t>
                </a:r>
                <a:endParaRPr lang="zh-CN" altLang="en-US" dirty="0"/>
              </a:p>
            </p:txBody>
          </p:sp>
          <p:sp>
            <p:nvSpPr>
              <p:cNvPr id="13" name="椭圆 12"/>
              <p:cNvSpPr/>
              <p:nvPr/>
            </p:nvSpPr>
            <p:spPr>
              <a:xfrm>
                <a:off x="8123519" y="4063554"/>
                <a:ext cx="6477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25</a:t>
                </a:r>
                <a:endParaRPr lang="zh-CN" altLang="en-US" dirty="0"/>
              </a:p>
            </p:txBody>
          </p:sp>
          <p:sp>
            <p:nvSpPr>
              <p:cNvPr id="14" name="椭圆 13"/>
              <p:cNvSpPr/>
              <p:nvPr/>
            </p:nvSpPr>
            <p:spPr>
              <a:xfrm>
                <a:off x="2418799" y="5076095"/>
                <a:ext cx="6477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19</a:t>
                </a:r>
                <a:endParaRPr lang="zh-CN" altLang="en-US" dirty="0"/>
              </a:p>
            </p:txBody>
          </p:sp>
          <p:sp>
            <p:nvSpPr>
              <p:cNvPr id="15" name="椭圆 14"/>
              <p:cNvSpPr/>
              <p:nvPr/>
            </p:nvSpPr>
            <p:spPr>
              <a:xfrm>
                <a:off x="3137117" y="5066508"/>
                <a:ext cx="6477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36</a:t>
                </a:r>
                <a:endParaRPr lang="zh-CN" altLang="en-US" dirty="0"/>
              </a:p>
            </p:txBody>
          </p:sp>
          <p:sp>
            <p:nvSpPr>
              <p:cNvPr id="16" name="椭圆 15"/>
              <p:cNvSpPr/>
              <p:nvPr/>
            </p:nvSpPr>
            <p:spPr>
              <a:xfrm>
                <a:off x="3816216" y="5076095"/>
                <a:ext cx="6477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99</a:t>
                </a:r>
                <a:endParaRPr lang="zh-CN" altLang="en-US" dirty="0"/>
              </a:p>
            </p:txBody>
          </p:sp>
          <p:sp>
            <p:nvSpPr>
              <p:cNvPr id="17" name="椭圆 16"/>
              <p:cNvSpPr/>
              <p:nvPr/>
            </p:nvSpPr>
            <p:spPr>
              <a:xfrm>
                <a:off x="4499413" y="5111973"/>
                <a:ext cx="6477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22</a:t>
                </a:r>
                <a:endParaRPr lang="zh-CN" altLang="en-US" dirty="0"/>
              </a:p>
            </p:txBody>
          </p:sp>
          <p:sp>
            <p:nvSpPr>
              <p:cNvPr id="18" name="椭圆 17"/>
              <p:cNvSpPr/>
              <p:nvPr/>
            </p:nvSpPr>
            <p:spPr>
              <a:xfrm>
                <a:off x="6106317" y="5111973"/>
                <a:ext cx="6477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28</a:t>
                </a:r>
                <a:endParaRPr lang="zh-CN" altLang="en-US" dirty="0"/>
              </a:p>
            </p:txBody>
          </p:sp>
          <p:sp>
            <p:nvSpPr>
              <p:cNvPr id="19" name="椭圆 18"/>
              <p:cNvSpPr/>
              <p:nvPr/>
            </p:nvSpPr>
            <p:spPr>
              <a:xfrm>
                <a:off x="7004659" y="5143054"/>
                <a:ext cx="6477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46</a:t>
                </a:r>
                <a:endParaRPr lang="zh-CN" altLang="en-US" dirty="0"/>
              </a:p>
            </p:txBody>
          </p:sp>
          <p:sp>
            <p:nvSpPr>
              <p:cNvPr id="20" name="椭圆 19"/>
              <p:cNvSpPr/>
              <p:nvPr/>
            </p:nvSpPr>
            <p:spPr>
              <a:xfrm>
                <a:off x="7821628" y="5101460"/>
                <a:ext cx="6477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92</a:t>
                </a:r>
                <a:endParaRPr lang="zh-CN" altLang="en-US" dirty="0"/>
              </a:p>
            </p:txBody>
          </p:sp>
          <p:cxnSp>
            <p:nvCxnSpPr>
              <p:cNvPr id="21" name="直接箭头连接符 20"/>
              <p:cNvCxnSpPr>
                <a:stCxn id="7" idx="6"/>
                <a:endCxn id="9" idx="0"/>
              </p:cNvCxnSpPr>
              <p:nvPr/>
            </p:nvCxnSpPr>
            <p:spPr>
              <a:xfrm>
                <a:off x="5911596" y="2944368"/>
                <a:ext cx="1696822" cy="3740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7" idx="2"/>
              </p:cNvCxnSpPr>
              <p:nvPr/>
            </p:nvCxnSpPr>
            <p:spPr>
              <a:xfrm flipH="1">
                <a:off x="3816216" y="2944368"/>
                <a:ext cx="1702188" cy="3740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8" idx="3"/>
                <a:endCxn id="10" idx="0"/>
              </p:cNvCxnSpPr>
              <p:nvPr/>
            </p:nvCxnSpPr>
            <p:spPr>
              <a:xfrm flipH="1">
                <a:off x="3112473" y="3654882"/>
                <a:ext cx="564729" cy="3729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8" idx="5"/>
                <a:endCxn id="11" idx="0"/>
              </p:cNvCxnSpPr>
              <p:nvPr/>
            </p:nvCxnSpPr>
            <p:spPr>
              <a:xfrm>
                <a:off x="3955230" y="3654882"/>
                <a:ext cx="544183" cy="3608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9" idx="3"/>
                <a:endCxn id="12" idx="0"/>
              </p:cNvCxnSpPr>
              <p:nvPr/>
            </p:nvCxnSpPr>
            <p:spPr>
              <a:xfrm flipH="1">
                <a:off x="6802726" y="3653994"/>
                <a:ext cx="666678" cy="4095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9" idx="5"/>
                <a:endCxn id="13" idx="0"/>
              </p:cNvCxnSpPr>
              <p:nvPr/>
            </p:nvCxnSpPr>
            <p:spPr>
              <a:xfrm>
                <a:off x="7747432" y="3653994"/>
                <a:ext cx="699937" cy="4095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10" idx="3"/>
                <a:endCxn id="14" idx="0"/>
              </p:cNvCxnSpPr>
              <p:nvPr/>
            </p:nvCxnSpPr>
            <p:spPr>
              <a:xfrm flipH="1">
                <a:off x="2742649" y="4545562"/>
                <a:ext cx="155375" cy="5305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stCxn id="10" idx="5"/>
                <a:endCxn id="15" idx="0"/>
              </p:cNvCxnSpPr>
              <p:nvPr/>
            </p:nvCxnSpPr>
            <p:spPr>
              <a:xfrm>
                <a:off x="3326922" y="4545562"/>
                <a:ext cx="134045" cy="5209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11" idx="3"/>
                <a:endCxn id="16" idx="0"/>
              </p:cNvCxnSpPr>
              <p:nvPr/>
            </p:nvCxnSpPr>
            <p:spPr>
              <a:xfrm flipH="1">
                <a:off x="4140066" y="4568539"/>
                <a:ext cx="130350" cy="5075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11" idx="5"/>
                <a:endCxn id="17" idx="0"/>
              </p:cNvCxnSpPr>
              <p:nvPr/>
            </p:nvCxnSpPr>
            <p:spPr>
              <a:xfrm>
                <a:off x="4728410" y="4568539"/>
                <a:ext cx="94853" cy="543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12" idx="3"/>
                <a:endCxn id="18" idx="0"/>
              </p:cNvCxnSpPr>
              <p:nvPr/>
            </p:nvCxnSpPr>
            <p:spPr>
              <a:xfrm flipH="1">
                <a:off x="6430167" y="4616401"/>
                <a:ext cx="143562" cy="495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12" idx="5"/>
                <a:endCxn id="19" idx="0"/>
              </p:cNvCxnSpPr>
              <p:nvPr/>
            </p:nvCxnSpPr>
            <p:spPr>
              <a:xfrm>
                <a:off x="7031723" y="4616401"/>
                <a:ext cx="296786" cy="5266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13" idx="3"/>
                <a:endCxn id="20" idx="0"/>
              </p:cNvCxnSpPr>
              <p:nvPr/>
            </p:nvCxnSpPr>
            <p:spPr>
              <a:xfrm flipH="1">
                <a:off x="8145478" y="4616401"/>
                <a:ext cx="72894" cy="4850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3215204" y="3007182"/>
                <a:ext cx="301686" cy="369332"/>
              </a:xfrm>
              <a:prstGeom prst="rect">
                <a:avLst/>
              </a:prstGeom>
              <a:noFill/>
            </p:spPr>
            <p:txBody>
              <a:bodyPr wrap="none" rtlCol="0">
                <a:spAutoFit/>
              </a:bodyPr>
              <a:lstStyle/>
              <a:p>
                <a:r>
                  <a:rPr lang="en-US" altLang="zh-CN" dirty="0" smtClean="0"/>
                  <a:t>2</a:t>
                </a:r>
                <a:endParaRPr lang="zh-CN" altLang="en-US" dirty="0"/>
              </a:p>
            </p:txBody>
          </p:sp>
          <p:sp>
            <p:nvSpPr>
              <p:cNvPr id="35" name="文本框 34"/>
              <p:cNvSpPr txBox="1"/>
              <p:nvPr/>
            </p:nvSpPr>
            <p:spPr>
              <a:xfrm>
                <a:off x="7821628" y="3248365"/>
                <a:ext cx="301686" cy="369332"/>
              </a:xfrm>
              <a:prstGeom prst="rect">
                <a:avLst/>
              </a:prstGeom>
              <a:noFill/>
            </p:spPr>
            <p:txBody>
              <a:bodyPr wrap="none" rtlCol="0">
                <a:spAutoFit/>
              </a:bodyPr>
              <a:lstStyle/>
              <a:p>
                <a:r>
                  <a:rPr lang="en-US" altLang="zh-CN" dirty="0" smtClean="0"/>
                  <a:t>3</a:t>
                </a:r>
                <a:endParaRPr lang="zh-CN" altLang="en-US" dirty="0"/>
              </a:p>
            </p:txBody>
          </p:sp>
          <p:sp>
            <p:nvSpPr>
              <p:cNvPr id="36" name="文本框 35"/>
              <p:cNvSpPr txBox="1"/>
              <p:nvPr/>
            </p:nvSpPr>
            <p:spPr>
              <a:xfrm>
                <a:off x="2571378" y="4018072"/>
                <a:ext cx="301686" cy="369332"/>
              </a:xfrm>
              <a:prstGeom prst="rect">
                <a:avLst/>
              </a:prstGeom>
              <a:noFill/>
            </p:spPr>
            <p:txBody>
              <a:bodyPr wrap="none" rtlCol="0">
                <a:spAutoFit/>
              </a:bodyPr>
              <a:lstStyle/>
              <a:p>
                <a:r>
                  <a:rPr lang="en-US" altLang="zh-CN" dirty="0" smtClean="0"/>
                  <a:t>4</a:t>
                </a:r>
                <a:endParaRPr lang="zh-CN" altLang="en-US" dirty="0"/>
              </a:p>
            </p:txBody>
          </p:sp>
          <p:sp>
            <p:nvSpPr>
              <p:cNvPr id="37" name="文本框 36"/>
              <p:cNvSpPr txBox="1"/>
              <p:nvPr/>
            </p:nvSpPr>
            <p:spPr>
              <a:xfrm>
                <a:off x="4843834" y="4027837"/>
                <a:ext cx="301686" cy="369332"/>
              </a:xfrm>
              <a:prstGeom prst="rect">
                <a:avLst/>
              </a:prstGeom>
              <a:noFill/>
            </p:spPr>
            <p:txBody>
              <a:bodyPr wrap="none" rtlCol="0">
                <a:spAutoFit/>
              </a:bodyPr>
              <a:lstStyle/>
              <a:p>
                <a:r>
                  <a:rPr lang="en-US" altLang="zh-CN" dirty="0" smtClean="0"/>
                  <a:t>5</a:t>
                </a:r>
                <a:endParaRPr lang="zh-CN" altLang="en-US" dirty="0"/>
              </a:p>
            </p:txBody>
          </p:sp>
          <p:sp>
            <p:nvSpPr>
              <p:cNvPr id="38" name="文本框 37"/>
              <p:cNvSpPr txBox="1"/>
              <p:nvPr/>
            </p:nvSpPr>
            <p:spPr>
              <a:xfrm>
                <a:off x="6351105" y="3849122"/>
                <a:ext cx="301686" cy="369332"/>
              </a:xfrm>
              <a:prstGeom prst="rect">
                <a:avLst/>
              </a:prstGeom>
              <a:noFill/>
            </p:spPr>
            <p:txBody>
              <a:bodyPr wrap="none" rtlCol="0">
                <a:spAutoFit/>
              </a:bodyPr>
              <a:lstStyle/>
              <a:p>
                <a:r>
                  <a:rPr lang="en-US" altLang="zh-CN" dirty="0" smtClean="0"/>
                  <a:t>6</a:t>
                </a:r>
                <a:endParaRPr lang="zh-CN" altLang="en-US" dirty="0"/>
              </a:p>
            </p:txBody>
          </p:sp>
          <p:sp>
            <p:nvSpPr>
              <p:cNvPr id="39" name="文本框 38"/>
              <p:cNvSpPr txBox="1"/>
              <p:nvPr/>
            </p:nvSpPr>
            <p:spPr>
              <a:xfrm>
                <a:off x="8651862" y="3870242"/>
                <a:ext cx="301686" cy="369332"/>
              </a:xfrm>
              <a:prstGeom prst="rect">
                <a:avLst/>
              </a:prstGeom>
              <a:noFill/>
            </p:spPr>
            <p:txBody>
              <a:bodyPr wrap="none" rtlCol="0">
                <a:spAutoFit/>
              </a:bodyPr>
              <a:lstStyle/>
              <a:p>
                <a:r>
                  <a:rPr lang="en-US" altLang="zh-CN" dirty="0" smtClean="0"/>
                  <a:t>7</a:t>
                </a:r>
                <a:endParaRPr lang="zh-CN" altLang="en-US" dirty="0"/>
              </a:p>
            </p:txBody>
          </p:sp>
          <p:sp>
            <p:nvSpPr>
              <p:cNvPr id="40" name="文本框 39"/>
              <p:cNvSpPr txBox="1"/>
              <p:nvPr/>
            </p:nvSpPr>
            <p:spPr>
              <a:xfrm>
                <a:off x="2267956" y="4863502"/>
                <a:ext cx="301686" cy="369332"/>
              </a:xfrm>
              <a:prstGeom prst="rect">
                <a:avLst/>
              </a:prstGeom>
              <a:noFill/>
            </p:spPr>
            <p:txBody>
              <a:bodyPr wrap="none" rtlCol="0">
                <a:spAutoFit/>
              </a:bodyPr>
              <a:lstStyle/>
              <a:p>
                <a:r>
                  <a:rPr lang="en-US" altLang="zh-CN" dirty="0" smtClean="0"/>
                  <a:t>8</a:t>
                </a:r>
                <a:endParaRPr lang="zh-CN" altLang="en-US" dirty="0"/>
              </a:p>
            </p:txBody>
          </p:sp>
          <p:sp>
            <p:nvSpPr>
              <p:cNvPr id="41" name="文本框 40"/>
              <p:cNvSpPr txBox="1"/>
              <p:nvPr/>
            </p:nvSpPr>
            <p:spPr>
              <a:xfrm>
                <a:off x="3481018" y="4773892"/>
                <a:ext cx="301686" cy="369332"/>
              </a:xfrm>
              <a:prstGeom prst="rect">
                <a:avLst/>
              </a:prstGeom>
              <a:noFill/>
            </p:spPr>
            <p:txBody>
              <a:bodyPr wrap="none" rtlCol="0">
                <a:spAutoFit/>
              </a:bodyPr>
              <a:lstStyle/>
              <a:p>
                <a:r>
                  <a:rPr lang="en-US" altLang="zh-CN" dirty="0" smtClean="0"/>
                  <a:t>9</a:t>
                </a:r>
                <a:endParaRPr lang="zh-CN" altLang="en-US" dirty="0"/>
              </a:p>
            </p:txBody>
          </p:sp>
          <p:sp>
            <p:nvSpPr>
              <p:cNvPr id="42" name="文本框 41"/>
              <p:cNvSpPr txBox="1"/>
              <p:nvPr/>
            </p:nvSpPr>
            <p:spPr>
              <a:xfrm>
                <a:off x="3740748" y="4761747"/>
                <a:ext cx="418704" cy="369332"/>
              </a:xfrm>
              <a:prstGeom prst="rect">
                <a:avLst/>
              </a:prstGeom>
              <a:noFill/>
            </p:spPr>
            <p:txBody>
              <a:bodyPr wrap="none" rtlCol="0">
                <a:spAutoFit/>
              </a:bodyPr>
              <a:lstStyle/>
              <a:p>
                <a:r>
                  <a:rPr lang="en-US" altLang="zh-CN" dirty="0" smtClean="0"/>
                  <a:t>10</a:t>
                </a:r>
                <a:endParaRPr lang="zh-CN" altLang="en-US" dirty="0"/>
              </a:p>
            </p:txBody>
          </p:sp>
          <p:sp>
            <p:nvSpPr>
              <p:cNvPr id="43" name="文本框 42"/>
              <p:cNvSpPr txBox="1"/>
              <p:nvPr/>
            </p:nvSpPr>
            <p:spPr>
              <a:xfrm>
                <a:off x="4896259" y="4767626"/>
                <a:ext cx="418704" cy="369332"/>
              </a:xfrm>
              <a:prstGeom prst="rect">
                <a:avLst/>
              </a:prstGeom>
              <a:noFill/>
            </p:spPr>
            <p:txBody>
              <a:bodyPr wrap="none" rtlCol="0">
                <a:spAutoFit/>
              </a:bodyPr>
              <a:lstStyle/>
              <a:p>
                <a:r>
                  <a:rPr lang="en-US" altLang="zh-CN" dirty="0" smtClean="0"/>
                  <a:t>11</a:t>
                </a:r>
                <a:endParaRPr lang="zh-CN" altLang="en-US" dirty="0"/>
              </a:p>
            </p:txBody>
          </p:sp>
          <p:sp>
            <p:nvSpPr>
              <p:cNvPr id="44" name="文本框 43"/>
              <p:cNvSpPr txBox="1"/>
              <p:nvPr/>
            </p:nvSpPr>
            <p:spPr>
              <a:xfrm>
                <a:off x="6150265" y="4674264"/>
                <a:ext cx="418704" cy="369332"/>
              </a:xfrm>
              <a:prstGeom prst="rect">
                <a:avLst/>
              </a:prstGeom>
              <a:noFill/>
            </p:spPr>
            <p:txBody>
              <a:bodyPr wrap="none" rtlCol="0">
                <a:spAutoFit/>
              </a:bodyPr>
              <a:lstStyle/>
              <a:p>
                <a:r>
                  <a:rPr lang="en-US" altLang="zh-CN" dirty="0" smtClean="0"/>
                  <a:t>12</a:t>
                </a:r>
                <a:endParaRPr lang="zh-CN" altLang="en-US" dirty="0"/>
              </a:p>
            </p:txBody>
          </p:sp>
          <p:sp>
            <p:nvSpPr>
              <p:cNvPr id="45" name="文本框 44"/>
              <p:cNvSpPr txBox="1"/>
              <p:nvPr/>
            </p:nvSpPr>
            <p:spPr>
              <a:xfrm>
                <a:off x="7165866" y="4681965"/>
                <a:ext cx="418704" cy="369332"/>
              </a:xfrm>
              <a:prstGeom prst="rect">
                <a:avLst/>
              </a:prstGeom>
              <a:noFill/>
            </p:spPr>
            <p:txBody>
              <a:bodyPr wrap="none" rtlCol="0">
                <a:spAutoFit/>
              </a:bodyPr>
              <a:lstStyle/>
              <a:p>
                <a:r>
                  <a:rPr lang="en-US" altLang="zh-CN" dirty="0" smtClean="0"/>
                  <a:t>13</a:t>
                </a:r>
                <a:endParaRPr lang="zh-CN" altLang="en-US" dirty="0"/>
              </a:p>
            </p:txBody>
          </p:sp>
          <p:sp>
            <p:nvSpPr>
              <p:cNvPr id="46" name="文本框 45"/>
              <p:cNvSpPr txBox="1"/>
              <p:nvPr/>
            </p:nvSpPr>
            <p:spPr>
              <a:xfrm>
                <a:off x="7885001" y="4644827"/>
                <a:ext cx="467323" cy="369332"/>
              </a:xfrm>
              <a:prstGeom prst="rect">
                <a:avLst/>
              </a:prstGeom>
              <a:noFill/>
            </p:spPr>
            <p:txBody>
              <a:bodyPr wrap="square" rtlCol="0">
                <a:spAutoFit/>
              </a:bodyPr>
              <a:lstStyle/>
              <a:p>
                <a:r>
                  <a:rPr lang="en-US" altLang="zh-CN" dirty="0" smtClean="0"/>
                  <a:t>14</a:t>
                </a:r>
                <a:endParaRPr lang="zh-CN" altLang="en-US" dirty="0"/>
              </a:p>
            </p:txBody>
          </p:sp>
        </p:grpSp>
      </p:grpSp>
      <p:sp>
        <p:nvSpPr>
          <p:cNvPr id="47" name="文本框 46"/>
          <p:cNvSpPr txBox="1"/>
          <p:nvPr/>
        </p:nvSpPr>
        <p:spPr>
          <a:xfrm>
            <a:off x="5201448" y="549103"/>
            <a:ext cx="6306535" cy="646331"/>
          </a:xfrm>
          <a:prstGeom prst="rect">
            <a:avLst/>
          </a:prstGeom>
          <a:noFill/>
        </p:spPr>
        <p:txBody>
          <a:bodyPr wrap="none" rtlCol="0">
            <a:spAutoFit/>
          </a:bodyPr>
          <a:lstStyle/>
          <a:p>
            <a:r>
              <a:rPr lang="zh-CN" altLang="en-US" dirty="0" smtClean="0"/>
              <a:t>我们构造这个最小堆，现在我们将堆顶的元素</a:t>
            </a:r>
            <a:r>
              <a:rPr lang="en-US" altLang="zh-CN" dirty="0" smtClean="0"/>
              <a:t>1</a:t>
            </a:r>
            <a:r>
              <a:rPr lang="zh-CN" altLang="en-US" dirty="0" smtClean="0"/>
              <a:t>删除，插入</a:t>
            </a:r>
            <a:r>
              <a:rPr lang="en-US" altLang="zh-CN" dirty="0" smtClean="0"/>
              <a:t>23</a:t>
            </a:r>
          </a:p>
          <a:p>
            <a:endParaRPr lang="zh-CN" altLang="en-US" dirty="0"/>
          </a:p>
        </p:txBody>
      </p:sp>
      <p:sp>
        <p:nvSpPr>
          <p:cNvPr id="49" name="椭圆 48"/>
          <p:cNvSpPr/>
          <p:nvPr/>
        </p:nvSpPr>
        <p:spPr>
          <a:xfrm>
            <a:off x="3250448" y="1378735"/>
            <a:ext cx="393192" cy="3931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solidFill>
              </a:rPr>
              <a:t>1</a:t>
            </a:r>
            <a:endParaRPr lang="zh-CN" altLang="en-US" dirty="0">
              <a:solidFill>
                <a:schemeClr val="tx1"/>
              </a:solidFill>
            </a:endParaRPr>
          </a:p>
        </p:txBody>
      </p:sp>
      <p:sp>
        <p:nvSpPr>
          <p:cNvPr id="48" name="椭圆 47"/>
          <p:cNvSpPr/>
          <p:nvPr/>
        </p:nvSpPr>
        <p:spPr>
          <a:xfrm>
            <a:off x="3143751" y="1256796"/>
            <a:ext cx="609096" cy="609096"/>
          </a:xfrm>
          <a:prstGeom prst="ellipse">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accent3">
                    <a:lumMod val="75000"/>
                  </a:schemeClr>
                </a:solidFill>
              </a:rPr>
              <a:t>23</a:t>
            </a:r>
            <a:endParaRPr lang="zh-CN" altLang="en-US" dirty="0">
              <a:solidFill>
                <a:schemeClr val="accent3">
                  <a:lumMod val="75000"/>
                </a:schemeClr>
              </a:solidFill>
            </a:endParaRPr>
          </a:p>
        </p:txBody>
      </p:sp>
      <p:sp>
        <p:nvSpPr>
          <p:cNvPr id="50" name="文本框 49"/>
          <p:cNvSpPr txBox="1"/>
          <p:nvPr/>
        </p:nvSpPr>
        <p:spPr>
          <a:xfrm>
            <a:off x="5201448" y="1059940"/>
            <a:ext cx="7109639" cy="369332"/>
          </a:xfrm>
          <a:prstGeom prst="rect">
            <a:avLst/>
          </a:prstGeom>
          <a:noFill/>
        </p:spPr>
        <p:txBody>
          <a:bodyPr wrap="none" rtlCol="0">
            <a:spAutoFit/>
          </a:bodyPr>
          <a:lstStyle/>
          <a:p>
            <a:r>
              <a:rPr lang="zh-CN" altLang="en-US" dirty="0" smtClean="0"/>
              <a:t>显然现在的堆已经不满足最小堆的基本要求了，我们尝试去重新调整</a:t>
            </a:r>
            <a:endParaRPr lang="zh-CN" altLang="en-US" dirty="0"/>
          </a:p>
        </p:txBody>
      </p:sp>
      <p:sp>
        <p:nvSpPr>
          <p:cNvPr id="51" name="文本框 50"/>
          <p:cNvSpPr txBox="1"/>
          <p:nvPr/>
        </p:nvSpPr>
        <p:spPr>
          <a:xfrm>
            <a:off x="6068568" y="1575331"/>
            <a:ext cx="5724644" cy="369332"/>
          </a:xfrm>
          <a:prstGeom prst="rect">
            <a:avLst/>
          </a:prstGeom>
          <a:noFill/>
        </p:spPr>
        <p:txBody>
          <a:bodyPr wrap="none" rtlCol="0">
            <a:spAutoFit/>
          </a:bodyPr>
          <a:lstStyle/>
          <a:p>
            <a:r>
              <a:rPr lang="zh-CN" altLang="en-US" dirty="0" smtClean="0"/>
              <a:t>调整方法是将该节点与其子节点比较，选择较小的交换</a:t>
            </a:r>
            <a:endParaRPr lang="zh-CN" altLang="en-US" dirty="0"/>
          </a:p>
        </p:txBody>
      </p:sp>
      <p:sp>
        <p:nvSpPr>
          <p:cNvPr id="52" name="椭圆 51"/>
          <p:cNvSpPr/>
          <p:nvPr/>
        </p:nvSpPr>
        <p:spPr>
          <a:xfrm>
            <a:off x="3250448" y="1360891"/>
            <a:ext cx="393192" cy="3931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53" name="椭圆 52"/>
          <p:cNvSpPr/>
          <p:nvPr/>
        </p:nvSpPr>
        <p:spPr>
          <a:xfrm>
            <a:off x="1229066" y="1858042"/>
            <a:ext cx="609096" cy="609096"/>
          </a:xfrm>
          <a:prstGeom prst="ellipse">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accent3">
                    <a:lumMod val="75000"/>
                  </a:schemeClr>
                </a:solidFill>
              </a:rPr>
              <a:t>23</a:t>
            </a:r>
            <a:endParaRPr lang="zh-CN" altLang="en-US" dirty="0">
              <a:solidFill>
                <a:schemeClr val="accent3">
                  <a:lumMod val="75000"/>
                </a:schemeClr>
              </a:solidFill>
            </a:endParaRPr>
          </a:p>
        </p:txBody>
      </p:sp>
      <p:sp>
        <p:nvSpPr>
          <p:cNvPr id="54" name="椭圆 53"/>
          <p:cNvSpPr/>
          <p:nvPr/>
        </p:nvSpPr>
        <p:spPr>
          <a:xfrm>
            <a:off x="1209473" y="1813396"/>
            <a:ext cx="6477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7</a:t>
            </a:r>
            <a:endParaRPr lang="zh-CN" altLang="en-US" dirty="0"/>
          </a:p>
        </p:txBody>
      </p:sp>
      <p:sp>
        <p:nvSpPr>
          <p:cNvPr id="55" name="椭圆 54"/>
          <p:cNvSpPr/>
          <p:nvPr/>
        </p:nvSpPr>
        <p:spPr>
          <a:xfrm>
            <a:off x="1918245" y="2678605"/>
            <a:ext cx="609096" cy="609096"/>
          </a:xfrm>
          <a:prstGeom prst="ellipse">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accent3">
                    <a:lumMod val="75000"/>
                  </a:schemeClr>
                </a:solidFill>
              </a:rPr>
              <a:t>23</a:t>
            </a:r>
            <a:endParaRPr lang="zh-CN" altLang="en-US" dirty="0">
              <a:solidFill>
                <a:schemeClr val="accent3">
                  <a:lumMod val="75000"/>
                </a:schemeClr>
              </a:solidFill>
            </a:endParaRPr>
          </a:p>
        </p:txBody>
      </p:sp>
      <p:sp>
        <p:nvSpPr>
          <p:cNvPr id="56" name="椭圆 55"/>
          <p:cNvSpPr/>
          <p:nvPr/>
        </p:nvSpPr>
        <p:spPr>
          <a:xfrm>
            <a:off x="2258684" y="3763126"/>
            <a:ext cx="609096" cy="609096"/>
          </a:xfrm>
          <a:prstGeom prst="ellipse">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accent3">
                    <a:lumMod val="75000"/>
                  </a:schemeClr>
                </a:solidFill>
              </a:rPr>
              <a:t>23</a:t>
            </a:r>
            <a:endParaRPr lang="zh-CN" altLang="en-US" dirty="0">
              <a:solidFill>
                <a:schemeClr val="accent3">
                  <a:lumMod val="75000"/>
                </a:schemeClr>
              </a:solidFill>
            </a:endParaRPr>
          </a:p>
        </p:txBody>
      </p:sp>
      <p:sp>
        <p:nvSpPr>
          <p:cNvPr id="58" name="椭圆 57"/>
          <p:cNvSpPr/>
          <p:nvPr/>
        </p:nvSpPr>
        <p:spPr>
          <a:xfrm>
            <a:off x="1905772" y="2647543"/>
            <a:ext cx="6477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22</a:t>
            </a:r>
            <a:endParaRPr lang="zh-CN" altLang="en-US" dirty="0"/>
          </a:p>
        </p:txBody>
      </p:sp>
      <p:sp>
        <p:nvSpPr>
          <p:cNvPr id="59" name="文本框 58"/>
          <p:cNvSpPr txBox="1"/>
          <p:nvPr/>
        </p:nvSpPr>
        <p:spPr>
          <a:xfrm>
            <a:off x="6890085" y="2244269"/>
            <a:ext cx="4801314" cy="923330"/>
          </a:xfrm>
          <a:prstGeom prst="rect">
            <a:avLst/>
          </a:prstGeom>
          <a:noFill/>
        </p:spPr>
        <p:txBody>
          <a:bodyPr wrap="none" rtlCol="0">
            <a:spAutoFit/>
          </a:bodyPr>
          <a:lstStyle/>
          <a:p>
            <a:r>
              <a:rPr lang="zh-CN" altLang="en-US" dirty="0" smtClean="0"/>
              <a:t>显然，可以得到的结果是，每删除一个数字后</a:t>
            </a:r>
            <a:endParaRPr lang="en-US" altLang="zh-CN" dirty="0" smtClean="0"/>
          </a:p>
          <a:p>
            <a:r>
              <a:rPr lang="zh-CN" altLang="en-US" dirty="0" smtClean="0"/>
              <a:t>增加一个数字，我们都按照这种通用的方法去</a:t>
            </a:r>
            <a:endParaRPr lang="en-US" altLang="zh-CN" dirty="0" smtClean="0"/>
          </a:p>
          <a:p>
            <a:r>
              <a:rPr lang="zh-CN" altLang="en-US" dirty="0" smtClean="0"/>
              <a:t>调整他的位置</a:t>
            </a:r>
            <a:endParaRPr lang="zh-CN" altLang="en-US" dirty="0"/>
          </a:p>
        </p:txBody>
      </p:sp>
    </p:spTree>
    <p:extLst>
      <p:ext uri="{BB962C8B-B14F-4D97-AF65-F5344CB8AC3E}">
        <p14:creationId xmlns:p14="http://schemas.microsoft.com/office/powerpoint/2010/main" val="1612174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48"/>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5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48" grpId="0" animBg="1"/>
      <p:bldP spid="48" grpId="1" animBg="1"/>
      <p:bldP spid="50" grpId="0"/>
      <p:bldP spid="51" grpId="0"/>
      <p:bldP spid="52" grpId="0" animBg="1"/>
      <p:bldP spid="53" grpId="0" animBg="1"/>
      <p:bldP spid="54" grpId="0" animBg="1"/>
      <p:bldP spid="55" grpId="0" animBg="1"/>
      <p:bldP spid="56" grpId="0" animBg="1"/>
      <p:bldP spid="58" grpId="0" animBg="1"/>
      <p:bldP spid="5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 name="组合 54"/>
          <p:cNvGrpSpPr/>
          <p:nvPr/>
        </p:nvGrpSpPr>
        <p:grpSpPr>
          <a:xfrm>
            <a:off x="0" y="1283294"/>
            <a:ext cx="6685592" cy="3231167"/>
            <a:chOff x="0" y="1191438"/>
            <a:chExt cx="6685592" cy="3231167"/>
          </a:xfrm>
        </p:grpSpPr>
        <p:grpSp>
          <p:nvGrpSpPr>
            <p:cNvPr id="4" name="组合 3"/>
            <p:cNvGrpSpPr/>
            <p:nvPr/>
          </p:nvGrpSpPr>
          <p:grpSpPr>
            <a:xfrm>
              <a:off x="0" y="1191438"/>
              <a:ext cx="6685592" cy="3231167"/>
              <a:chOff x="2350252" y="2608758"/>
              <a:chExt cx="6685592" cy="3231167"/>
            </a:xfrm>
          </p:grpSpPr>
          <p:sp>
            <p:nvSpPr>
              <p:cNvPr id="5" name="文本框 4"/>
              <p:cNvSpPr txBox="1"/>
              <p:nvPr/>
            </p:nvSpPr>
            <p:spPr>
              <a:xfrm>
                <a:off x="5914286" y="2608758"/>
                <a:ext cx="301686" cy="369332"/>
              </a:xfrm>
              <a:prstGeom prst="rect">
                <a:avLst/>
              </a:prstGeom>
              <a:noFill/>
            </p:spPr>
            <p:txBody>
              <a:bodyPr wrap="none" rtlCol="0">
                <a:spAutoFit/>
              </a:bodyPr>
              <a:lstStyle/>
              <a:p>
                <a:r>
                  <a:rPr lang="en-US" altLang="zh-CN" dirty="0" smtClean="0"/>
                  <a:t>1</a:t>
                </a:r>
                <a:endParaRPr lang="zh-CN" altLang="en-US" dirty="0"/>
              </a:p>
            </p:txBody>
          </p:sp>
          <p:grpSp>
            <p:nvGrpSpPr>
              <p:cNvPr id="6" name="组合 5"/>
              <p:cNvGrpSpPr/>
              <p:nvPr/>
            </p:nvGrpSpPr>
            <p:grpSpPr>
              <a:xfrm>
                <a:off x="2350252" y="2796943"/>
                <a:ext cx="6685592" cy="3042982"/>
                <a:chOff x="2267956" y="2747772"/>
                <a:chExt cx="6685592" cy="3042982"/>
              </a:xfrm>
            </p:grpSpPr>
            <p:sp>
              <p:nvSpPr>
                <p:cNvPr id="7" name="椭圆 6"/>
                <p:cNvSpPr/>
                <p:nvPr/>
              </p:nvSpPr>
              <p:spPr>
                <a:xfrm>
                  <a:off x="5518404" y="2747772"/>
                  <a:ext cx="393192" cy="3931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8" name="椭圆 7"/>
                <p:cNvSpPr/>
                <p:nvPr/>
              </p:nvSpPr>
              <p:spPr>
                <a:xfrm>
                  <a:off x="3619620" y="3319272"/>
                  <a:ext cx="393192" cy="3931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9" name="椭圆 8"/>
                <p:cNvSpPr/>
                <p:nvPr/>
              </p:nvSpPr>
              <p:spPr>
                <a:xfrm>
                  <a:off x="7411822" y="3318384"/>
                  <a:ext cx="393192" cy="3931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5</a:t>
                  </a:r>
                  <a:endParaRPr lang="zh-CN" altLang="en-US" dirty="0"/>
                </a:p>
              </p:txBody>
            </p:sp>
            <p:sp>
              <p:nvSpPr>
                <p:cNvPr id="10" name="椭圆 9"/>
                <p:cNvSpPr/>
                <p:nvPr/>
              </p:nvSpPr>
              <p:spPr>
                <a:xfrm>
                  <a:off x="2809197" y="4027837"/>
                  <a:ext cx="606552" cy="6065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12</a:t>
                  </a:r>
                  <a:endParaRPr lang="zh-CN" altLang="en-US" dirty="0"/>
                </a:p>
              </p:txBody>
            </p:sp>
            <p:sp>
              <p:nvSpPr>
                <p:cNvPr id="11" name="椭圆 10"/>
                <p:cNvSpPr/>
                <p:nvPr/>
              </p:nvSpPr>
              <p:spPr>
                <a:xfrm>
                  <a:off x="4175563" y="4015692"/>
                  <a:ext cx="6477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7</a:t>
                  </a:r>
                  <a:endParaRPr lang="zh-CN" altLang="en-US" dirty="0"/>
                </a:p>
              </p:txBody>
            </p:sp>
            <p:sp>
              <p:nvSpPr>
                <p:cNvPr id="12" name="椭圆 11"/>
                <p:cNvSpPr/>
                <p:nvPr/>
              </p:nvSpPr>
              <p:spPr>
                <a:xfrm>
                  <a:off x="6478876" y="4063554"/>
                  <a:ext cx="6477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17</a:t>
                  </a:r>
                  <a:endParaRPr lang="zh-CN" altLang="en-US" dirty="0"/>
                </a:p>
              </p:txBody>
            </p:sp>
            <p:sp>
              <p:nvSpPr>
                <p:cNvPr id="13" name="椭圆 12"/>
                <p:cNvSpPr/>
                <p:nvPr/>
              </p:nvSpPr>
              <p:spPr>
                <a:xfrm>
                  <a:off x="8123519" y="4063554"/>
                  <a:ext cx="6477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25</a:t>
                  </a:r>
                  <a:endParaRPr lang="zh-CN" altLang="en-US" dirty="0"/>
                </a:p>
              </p:txBody>
            </p:sp>
            <p:sp>
              <p:nvSpPr>
                <p:cNvPr id="14" name="椭圆 13"/>
                <p:cNvSpPr/>
                <p:nvPr/>
              </p:nvSpPr>
              <p:spPr>
                <a:xfrm>
                  <a:off x="2418799" y="5076095"/>
                  <a:ext cx="6477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19</a:t>
                  </a:r>
                  <a:endParaRPr lang="zh-CN" altLang="en-US" dirty="0"/>
                </a:p>
              </p:txBody>
            </p:sp>
            <p:sp>
              <p:nvSpPr>
                <p:cNvPr id="15" name="椭圆 14"/>
                <p:cNvSpPr/>
                <p:nvPr/>
              </p:nvSpPr>
              <p:spPr>
                <a:xfrm>
                  <a:off x="3137117" y="5066508"/>
                  <a:ext cx="6477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36</a:t>
                  </a:r>
                  <a:endParaRPr lang="zh-CN" altLang="en-US" dirty="0"/>
                </a:p>
              </p:txBody>
            </p:sp>
            <p:sp>
              <p:nvSpPr>
                <p:cNvPr id="16" name="椭圆 15"/>
                <p:cNvSpPr/>
                <p:nvPr/>
              </p:nvSpPr>
              <p:spPr>
                <a:xfrm>
                  <a:off x="3816216" y="5076095"/>
                  <a:ext cx="6477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99</a:t>
                  </a:r>
                  <a:endParaRPr lang="zh-CN" altLang="en-US" dirty="0"/>
                </a:p>
              </p:txBody>
            </p:sp>
            <p:sp>
              <p:nvSpPr>
                <p:cNvPr id="17" name="椭圆 16"/>
                <p:cNvSpPr/>
                <p:nvPr/>
              </p:nvSpPr>
              <p:spPr>
                <a:xfrm>
                  <a:off x="4499413" y="5111973"/>
                  <a:ext cx="6477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22</a:t>
                  </a:r>
                  <a:endParaRPr lang="zh-CN" altLang="en-US" dirty="0"/>
                </a:p>
              </p:txBody>
            </p:sp>
            <p:sp>
              <p:nvSpPr>
                <p:cNvPr id="18" name="椭圆 17"/>
                <p:cNvSpPr/>
                <p:nvPr/>
              </p:nvSpPr>
              <p:spPr>
                <a:xfrm>
                  <a:off x="6106317" y="5111973"/>
                  <a:ext cx="6477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28</a:t>
                  </a:r>
                  <a:endParaRPr lang="zh-CN" altLang="en-US" dirty="0"/>
                </a:p>
              </p:txBody>
            </p:sp>
            <p:sp>
              <p:nvSpPr>
                <p:cNvPr id="19" name="椭圆 18"/>
                <p:cNvSpPr/>
                <p:nvPr/>
              </p:nvSpPr>
              <p:spPr>
                <a:xfrm>
                  <a:off x="7004659" y="5143054"/>
                  <a:ext cx="6477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46</a:t>
                  </a:r>
                  <a:endParaRPr lang="zh-CN" altLang="en-US" dirty="0"/>
                </a:p>
              </p:txBody>
            </p:sp>
            <p:sp>
              <p:nvSpPr>
                <p:cNvPr id="20" name="椭圆 19"/>
                <p:cNvSpPr/>
                <p:nvPr/>
              </p:nvSpPr>
              <p:spPr>
                <a:xfrm>
                  <a:off x="7821628" y="5101460"/>
                  <a:ext cx="6477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92</a:t>
                  </a:r>
                  <a:endParaRPr lang="zh-CN" altLang="en-US" dirty="0"/>
                </a:p>
              </p:txBody>
            </p:sp>
            <p:cxnSp>
              <p:nvCxnSpPr>
                <p:cNvPr id="21" name="直接箭头连接符 20"/>
                <p:cNvCxnSpPr>
                  <a:stCxn id="7" idx="6"/>
                  <a:endCxn id="9" idx="0"/>
                </p:cNvCxnSpPr>
                <p:nvPr/>
              </p:nvCxnSpPr>
              <p:spPr>
                <a:xfrm>
                  <a:off x="5911596" y="2944368"/>
                  <a:ext cx="1696822" cy="3740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7" idx="2"/>
                </p:cNvCxnSpPr>
                <p:nvPr/>
              </p:nvCxnSpPr>
              <p:spPr>
                <a:xfrm flipH="1">
                  <a:off x="3816216" y="2944368"/>
                  <a:ext cx="1702188" cy="3740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8" idx="3"/>
                  <a:endCxn id="10" idx="0"/>
                </p:cNvCxnSpPr>
                <p:nvPr/>
              </p:nvCxnSpPr>
              <p:spPr>
                <a:xfrm flipH="1">
                  <a:off x="3112473" y="3654882"/>
                  <a:ext cx="564729" cy="3729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8" idx="5"/>
                  <a:endCxn id="11" idx="0"/>
                </p:cNvCxnSpPr>
                <p:nvPr/>
              </p:nvCxnSpPr>
              <p:spPr>
                <a:xfrm>
                  <a:off x="3955230" y="3654882"/>
                  <a:ext cx="544183" cy="3608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9" idx="3"/>
                  <a:endCxn id="12" idx="0"/>
                </p:cNvCxnSpPr>
                <p:nvPr/>
              </p:nvCxnSpPr>
              <p:spPr>
                <a:xfrm flipH="1">
                  <a:off x="6802726" y="3653994"/>
                  <a:ext cx="666678" cy="4095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9" idx="5"/>
                  <a:endCxn id="13" idx="0"/>
                </p:cNvCxnSpPr>
                <p:nvPr/>
              </p:nvCxnSpPr>
              <p:spPr>
                <a:xfrm>
                  <a:off x="7747432" y="3653994"/>
                  <a:ext cx="699937" cy="4095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10" idx="3"/>
                  <a:endCxn id="14" idx="0"/>
                </p:cNvCxnSpPr>
                <p:nvPr/>
              </p:nvCxnSpPr>
              <p:spPr>
                <a:xfrm flipH="1">
                  <a:off x="2742649" y="4545562"/>
                  <a:ext cx="155375" cy="5305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stCxn id="10" idx="5"/>
                  <a:endCxn id="15" idx="0"/>
                </p:cNvCxnSpPr>
                <p:nvPr/>
              </p:nvCxnSpPr>
              <p:spPr>
                <a:xfrm>
                  <a:off x="3326922" y="4545562"/>
                  <a:ext cx="134045" cy="5209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11" idx="3"/>
                  <a:endCxn id="16" idx="0"/>
                </p:cNvCxnSpPr>
                <p:nvPr/>
              </p:nvCxnSpPr>
              <p:spPr>
                <a:xfrm flipH="1">
                  <a:off x="4140066" y="4568539"/>
                  <a:ext cx="130350" cy="5075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11" idx="5"/>
                  <a:endCxn id="17" idx="0"/>
                </p:cNvCxnSpPr>
                <p:nvPr/>
              </p:nvCxnSpPr>
              <p:spPr>
                <a:xfrm>
                  <a:off x="4728410" y="4568539"/>
                  <a:ext cx="94853" cy="543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12" idx="3"/>
                  <a:endCxn id="18" idx="0"/>
                </p:cNvCxnSpPr>
                <p:nvPr/>
              </p:nvCxnSpPr>
              <p:spPr>
                <a:xfrm flipH="1">
                  <a:off x="6430167" y="4616401"/>
                  <a:ext cx="143562" cy="495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12" idx="5"/>
                  <a:endCxn id="19" idx="0"/>
                </p:cNvCxnSpPr>
                <p:nvPr/>
              </p:nvCxnSpPr>
              <p:spPr>
                <a:xfrm>
                  <a:off x="7031723" y="4616401"/>
                  <a:ext cx="296786" cy="5266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13" idx="3"/>
                  <a:endCxn id="20" idx="0"/>
                </p:cNvCxnSpPr>
                <p:nvPr/>
              </p:nvCxnSpPr>
              <p:spPr>
                <a:xfrm flipH="1">
                  <a:off x="8145478" y="4616401"/>
                  <a:ext cx="72894" cy="4850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3215204" y="3007182"/>
                  <a:ext cx="301686" cy="369332"/>
                </a:xfrm>
                <a:prstGeom prst="rect">
                  <a:avLst/>
                </a:prstGeom>
                <a:noFill/>
              </p:spPr>
              <p:txBody>
                <a:bodyPr wrap="none" rtlCol="0">
                  <a:spAutoFit/>
                </a:bodyPr>
                <a:lstStyle/>
                <a:p>
                  <a:r>
                    <a:rPr lang="en-US" altLang="zh-CN" dirty="0" smtClean="0"/>
                    <a:t>2</a:t>
                  </a:r>
                  <a:endParaRPr lang="zh-CN" altLang="en-US" dirty="0"/>
                </a:p>
              </p:txBody>
            </p:sp>
            <p:sp>
              <p:nvSpPr>
                <p:cNvPr id="35" name="文本框 34"/>
                <p:cNvSpPr txBox="1"/>
                <p:nvPr/>
              </p:nvSpPr>
              <p:spPr>
                <a:xfrm>
                  <a:off x="7821628" y="3248365"/>
                  <a:ext cx="301686" cy="369332"/>
                </a:xfrm>
                <a:prstGeom prst="rect">
                  <a:avLst/>
                </a:prstGeom>
                <a:noFill/>
              </p:spPr>
              <p:txBody>
                <a:bodyPr wrap="none" rtlCol="0">
                  <a:spAutoFit/>
                </a:bodyPr>
                <a:lstStyle/>
                <a:p>
                  <a:r>
                    <a:rPr lang="en-US" altLang="zh-CN" dirty="0" smtClean="0"/>
                    <a:t>3</a:t>
                  </a:r>
                  <a:endParaRPr lang="zh-CN" altLang="en-US" dirty="0"/>
                </a:p>
              </p:txBody>
            </p:sp>
            <p:sp>
              <p:nvSpPr>
                <p:cNvPr id="36" name="文本框 35"/>
                <p:cNvSpPr txBox="1"/>
                <p:nvPr/>
              </p:nvSpPr>
              <p:spPr>
                <a:xfrm>
                  <a:off x="2571378" y="4018072"/>
                  <a:ext cx="301686" cy="369332"/>
                </a:xfrm>
                <a:prstGeom prst="rect">
                  <a:avLst/>
                </a:prstGeom>
                <a:noFill/>
              </p:spPr>
              <p:txBody>
                <a:bodyPr wrap="none" rtlCol="0">
                  <a:spAutoFit/>
                </a:bodyPr>
                <a:lstStyle/>
                <a:p>
                  <a:r>
                    <a:rPr lang="en-US" altLang="zh-CN" dirty="0" smtClean="0"/>
                    <a:t>4</a:t>
                  </a:r>
                  <a:endParaRPr lang="zh-CN" altLang="en-US" dirty="0"/>
                </a:p>
              </p:txBody>
            </p:sp>
            <p:sp>
              <p:nvSpPr>
                <p:cNvPr id="37" name="文本框 36"/>
                <p:cNvSpPr txBox="1"/>
                <p:nvPr/>
              </p:nvSpPr>
              <p:spPr>
                <a:xfrm>
                  <a:off x="4843834" y="4027837"/>
                  <a:ext cx="301686" cy="369332"/>
                </a:xfrm>
                <a:prstGeom prst="rect">
                  <a:avLst/>
                </a:prstGeom>
                <a:noFill/>
              </p:spPr>
              <p:txBody>
                <a:bodyPr wrap="none" rtlCol="0">
                  <a:spAutoFit/>
                </a:bodyPr>
                <a:lstStyle/>
                <a:p>
                  <a:r>
                    <a:rPr lang="en-US" altLang="zh-CN" dirty="0" smtClean="0"/>
                    <a:t>5</a:t>
                  </a:r>
                  <a:endParaRPr lang="zh-CN" altLang="en-US" dirty="0"/>
                </a:p>
              </p:txBody>
            </p:sp>
            <p:sp>
              <p:nvSpPr>
                <p:cNvPr id="38" name="文本框 37"/>
                <p:cNvSpPr txBox="1"/>
                <p:nvPr/>
              </p:nvSpPr>
              <p:spPr>
                <a:xfrm>
                  <a:off x="6351105" y="3849122"/>
                  <a:ext cx="301686" cy="369332"/>
                </a:xfrm>
                <a:prstGeom prst="rect">
                  <a:avLst/>
                </a:prstGeom>
                <a:noFill/>
              </p:spPr>
              <p:txBody>
                <a:bodyPr wrap="none" rtlCol="0">
                  <a:spAutoFit/>
                </a:bodyPr>
                <a:lstStyle/>
                <a:p>
                  <a:r>
                    <a:rPr lang="en-US" altLang="zh-CN" dirty="0" smtClean="0"/>
                    <a:t>6</a:t>
                  </a:r>
                  <a:endParaRPr lang="zh-CN" altLang="en-US" dirty="0"/>
                </a:p>
              </p:txBody>
            </p:sp>
            <p:sp>
              <p:nvSpPr>
                <p:cNvPr id="39" name="文本框 38"/>
                <p:cNvSpPr txBox="1"/>
                <p:nvPr/>
              </p:nvSpPr>
              <p:spPr>
                <a:xfrm>
                  <a:off x="8651862" y="3870242"/>
                  <a:ext cx="301686" cy="369332"/>
                </a:xfrm>
                <a:prstGeom prst="rect">
                  <a:avLst/>
                </a:prstGeom>
                <a:noFill/>
              </p:spPr>
              <p:txBody>
                <a:bodyPr wrap="none" rtlCol="0">
                  <a:spAutoFit/>
                </a:bodyPr>
                <a:lstStyle/>
                <a:p>
                  <a:r>
                    <a:rPr lang="en-US" altLang="zh-CN" dirty="0" smtClean="0"/>
                    <a:t>7</a:t>
                  </a:r>
                  <a:endParaRPr lang="zh-CN" altLang="en-US" dirty="0"/>
                </a:p>
              </p:txBody>
            </p:sp>
            <p:sp>
              <p:nvSpPr>
                <p:cNvPr id="40" name="文本框 39"/>
                <p:cNvSpPr txBox="1"/>
                <p:nvPr/>
              </p:nvSpPr>
              <p:spPr>
                <a:xfrm>
                  <a:off x="2267956" y="4863502"/>
                  <a:ext cx="301686" cy="369332"/>
                </a:xfrm>
                <a:prstGeom prst="rect">
                  <a:avLst/>
                </a:prstGeom>
                <a:noFill/>
              </p:spPr>
              <p:txBody>
                <a:bodyPr wrap="none" rtlCol="0">
                  <a:spAutoFit/>
                </a:bodyPr>
                <a:lstStyle/>
                <a:p>
                  <a:r>
                    <a:rPr lang="en-US" altLang="zh-CN" dirty="0" smtClean="0"/>
                    <a:t>8</a:t>
                  </a:r>
                  <a:endParaRPr lang="zh-CN" altLang="en-US" dirty="0"/>
                </a:p>
              </p:txBody>
            </p:sp>
            <p:sp>
              <p:nvSpPr>
                <p:cNvPr id="41" name="文本框 40"/>
                <p:cNvSpPr txBox="1"/>
                <p:nvPr/>
              </p:nvSpPr>
              <p:spPr>
                <a:xfrm>
                  <a:off x="3481018" y="4773892"/>
                  <a:ext cx="301686" cy="369332"/>
                </a:xfrm>
                <a:prstGeom prst="rect">
                  <a:avLst/>
                </a:prstGeom>
                <a:noFill/>
              </p:spPr>
              <p:txBody>
                <a:bodyPr wrap="none" rtlCol="0">
                  <a:spAutoFit/>
                </a:bodyPr>
                <a:lstStyle/>
                <a:p>
                  <a:r>
                    <a:rPr lang="en-US" altLang="zh-CN" dirty="0" smtClean="0"/>
                    <a:t>9</a:t>
                  </a:r>
                  <a:endParaRPr lang="zh-CN" altLang="en-US" dirty="0"/>
                </a:p>
              </p:txBody>
            </p:sp>
            <p:sp>
              <p:nvSpPr>
                <p:cNvPr id="42" name="文本框 41"/>
                <p:cNvSpPr txBox="1"/>
                <p:nvPr/>
              </p:nvSpPr>
              <p:spPr>
                <a:xfrm>
                  <a:off x="3740748" y="4761747"/>
                  <a:ext cx="418704" cy="369332"/>
                </a:xfrm>
                <a:prstGeom prst="rect">
                  <a:avLst/>
                </a:prstGeom>
                <a:noFill/>
              </p:spPr>
              <p:txBody>
                <a:bodyPr wrap="none" rtlCol="0">
                  <a:spAutoFit/>
                </a:bodyPr>
                <a:lstStyle/>
                <a:p>
                  <a:r>
                    <a:rPr lang="en-US" altLang="zh-CN" dirty="0" smtClean="0"/>
                    <a:t>10</a:t>
                  </a:r>
                  <a:endParaRPr lang="zh-CN" altLang="en-US" dirty="0"/>
                </a:p>
              </p:txBody>
            </p:sp>
            <p:sp>
              <p:nvSpPr>
                <p:cNvPr id="43" name="文本框 42"/>
                <p:cNvSpPr txBox="1"/>
                <p:nvPr/>
              </p:nvSpPr>
              <p:spPr>
                <a:xfrm>
                  <a:off x="4896259" y="4767626"/>
                  <a:ext cx="418704" cy="369332"/>
                </a:xfrm>
                <a:prstGeom prst="rect">
                  <a:avLst/>
                </a:prstGeom>
                <a:noFill/>
              </p:spPr>
              <p:txBody>
                <a:bodyPr wrap="none" rtlCol="0">
                  <a:spAutoFit/>
                </a:bodyPr>
                <a:lstStyle/>
                <a:p>
                  <a:r>
                    <a:rPr lang="en-US" altLang="zh-CN" dirty="0" smtClean="0"/>
                    <a:t>11</a:t>
                  </a:r>
                  <a:endParaRPr lang="zh-CN" altLang="en-US" dirty="0"/>
                </a:p>
              </p:txBody>
            </p:sp>
            <p:sp>
              <p:nvSpPr>
                <p:cNvPr id="44" name="文本框 43"/>
                <p:cNvSpPr txBox="1"/>
                <p:nvPr/>
              </p:nvSpPr>
              <p:spPr>
                <a:xfrm>
                  <a:off x="6150265" y="4674264"/>
                  <a:ext cx="418704" cy="369332"/>
                </a:xfrm>
                <a:prstGeom prst="rect">
                  <a:avLst/>
                </a:prstGeom>
                <a:noFill/>
              </p:spPr>
              <p:txBody>
                <a:bodyPr wrap="none" rtlCol="0">
                  <a:spAutoFit/>
                </a:bodyPr>
                <a:lstStyle/>
                <a:p>
                  <a:r>
                    <a:rPr lang="en-US" altLang="zh-CN" dirty="0" smtClean="0"/>
                    <a:t>12</a:t>
                  </a:r>
                  <a:endParaRPr lang="zh-CN" altLang="en-US" dirty="0"/>
                </a:p>
              </p:txBody>
            </p:sp>
            <p:sp>
              <p:nvSpPr>
                <p:cNvPr id="45" name="文本框 44"/>
                <p:cNvSpPr txBox="1"/>
                <p:nvPr/>
              </p:nvSpPr>
              <p:spPr>
                <a:xfrm>
                  <a:off x="7165866" y="4681965"/>
                  <a:ext cx="418704" cy="369332"/>
                </a:xfrm>
                <a:prstGeom prst="rect">
                  <a:avLst/>
                </a:prstGeom>
                <a:noFill/>
              </p:spPr>
              <p:txBody>
                <a:bodyPr wrap="none" rtlCol="0">
                  <a:spAutoFit/>
                </a:bodyPr>
                <a:lstStyle/>
                <a:p>
                  <a:r>
                    <a:rPr lang="en-US" altLang="zh-CN" dirty="0" smtClean="0"/>
                    <a:t>13</a:t>
                  </a:r>
                  <a:endParaRPr lang="zh-CN" altLang="en-US" dirty="0"/>
                </a:p>
              </p:txBody>
            </p:sp>
            <p:sp>
              <p:nvSpPr>
                <p:cNvPr id="46" name="文本框 45"/>
                <p:cNvSpPr txBox="1"/>
                <p:nvPr/>
              </p:nvSpPr>
              <p:spPr>
                <a:xfrm>
                  <a:off x="7885001" y="4644827"/>
                  <a:ext cx="467323" cy="369332"/>
                </a:xfrm>
                <a:prstGeom prst="rect">
                  <a:avLst/>
                </a:prstGeom>
                <a:noFill/>
              </p:spPr>
              <p:txBody>
                <a:bodyPr wrap="square" rtlCol="0">
                  <a:spAutoFit/>
                </a:bodyPr>
                <a:lstStyle/>
                <a:p>
                  <a:r>
                    <a:rPr lang="en-US" altLang="zh-CN" dirty="0" smtClean="0"/>
                    <a:t>14</a:t>
                  </a:r>
                  <a:endParaRPr lang="zh-CN" altLang="en-US" dirty="0"/>
                </a:p>
              </p:txBody>
            </p:sp>
          </p:grpSp>
        </p:grpSp>
        <p:sp>
          <p:nvSpPr>
            <p:cNvPr id="47" name="椭圆 46"/>
            <p:cNvSpPr/>
            <p:nvPr/>
          </p:nvSpPr>
          <p:spPr>
            <a:xfrm>
              <a:off x="3250448" y="1378735"/>
              <a:ext cx="393192" cy="3931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solidFill>
                </a:rPr>
                <a:t>1</a:t>
              </a:r>
              <a:endParaRPr lang="zh-CN" altLang="en-US" dirty="0">
                <a:solidFill>
                  <a:schemeClr val="tx1"/>
                </a:solidFill>
              </a:endParaRPr>
            </a:p>
          </p:txBody>
        </p:sp>
        <p:sp>
          <p:nvSpPr>
            <p:cNvPr id="48" name="椭圆 47"/>
            <p:cNvSpPr/>
            <p:nvPr/>
          </p:nvSpPr>
          <p:spPr>
            <a:xfrm>
              <a:off x="3143751" y="1256796"/>
              <a:ext cx="609096" cy="609096"/>
            </a:xfrm>
            <a:prstGeom prst="ellipse">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accent3">
                      <a:lumMod val="75000"/>
                    </a:schemeClr>
                  </a:solidFill>
                </a:rPr>
                <a:t>23</a:t>
              </a:r>
              <a:endParaRPr lang="zh-CN" altLang="en-US" dirty="0">
                <a:solidFill>
                  <a:schemeClr val="accent3">
                    <a:lumMod val="75000"/>
                  </a:schemeClr>
                </a:solidFill>
              </a:endParaRPr>
            </a:p>
          </p:txBody>
        </p:sp>
        <p:sp>
          <p:nvSpPr>
            <p:cNvPr id="49" name="椭圆 48"/>
            <p:cNvSpPr/>
            <p:nvPr/>
          </p:nvSpPr>
          <p:spPr>
            <a:xfrm>
              <a:off x="3250448" y="1360891"/>
              <a:ext cx="393192" cy="3931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50" name="椭圆 49"/>
            <p:cNvSpPr/>
            <p:nvPr/>
          </p:nvSpPr>
          <p:spPr>
            <a:xfrm>
              <a:off x="1229066" y="1858042"/>
              <a:ext cx="609096" cy="609096"/>
            </a:xfrm>
            <a:prstGeom prst="ellipse">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accent3">
                      <a:lumMod val="75000"/>
                    </a:schemeClr>
                  </a:solidFill>
                </a:rPr>
                <a:t>23</a:t>
              </a:r>
              <a:endParaRPr lang="zh-CN" altLang="en-US" dirty="0">
                <a:solidFill>
                  <a:schemeClr val="accent3">
                    <a:lumMod val="75000"/>
                  </a:schemeClr>
                </a:solidFill>
              </a:endParaRPr>
            </a:p>
          </p:txBody>
        </p:sp>
        <p:sp>
          <p:nvSpPr>
            <p:cNvPr id="51" name="椭圆 50"/>
            <p:cNvSpPr/>
            <p:nvPr/>
          </p:nvSpPr>
          <p:spPr>
            <a:xfrm>
              <a:off x="1209473" y="1813396"/>
              <a:ext cx="6477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7</a:t>
              </a:r>
              <a:endParaRPr lang="zh-CN" altLang="en-US" dirty="0"/>
            </a:p>
          </p:txBody>
        </p:sp>
        <p:sp>
          <p:nvSpPr>
            <p:cNvPr id="52" name="椭圆 51"/>
            <p:cNvSpPr/>
            <p:nvPr/>
          </p:nvSpPr>
          <p:spPr>
            <a:xfrm>
              <a:off x="1918245" y="2678605"/>
              <a:ext cx="609096" cy="609096"/>
            </a:xfrm>
            <a:prstGeom prst="ellipse">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accent3">
                      <a:lumMod val="75000"/>
                    </a:schemeClr>
                  </a:solidFill>
                </a:rPr>
                <a:t>23</a:t>
              </a:r>
              <a:endParaRPr lang="zh-CN" altLang="en-US" dirty="0">
                <a:solidFill>
                  <a:schemeClr val="accent3">
                    <a:lumMod val="75000"/>
                  </a:schemeClr>
                </a:solidFill>
              </a:endParaRPr>
            </a:p>
          </p:txBody>
        </p:sp>
        <p:sp>
          <p:nvSpPr>
            <p:cNvPr id="53" name="椭圆 52"/>
            <p:cNvSpPr/>
            <p:nvPr/>
          </p:nvSpPr>
          <p:spPr>
            <a:xfrm>
              <a:off x="2258684" y="3763126"/>
              <a:ext cx="609096" cy="609096"/>
            </a:xfrm>
            <a:prstGeom prst="ellipse">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accent3">
                      <a:lumMod val="75000"/>
                    </a:schemeClr>
                  </a:solidFill>
                </a:rPr>
                <a:t>23</a:t>
              </a:r>
              <a:endParaRPr lang="zh-CN" altLang="en-US" dirty="0">
                <a:solidFill>
                  <a:schemeClr val="accent3">
                    <a:lumMod val="75000"/>
                  </a:schemeClr>
                </a:solidFill>
              </a:endParaRPr>
            </a:p>
          </p:txBody>
        </p:sp>
        <p:sp>
          <p:nvSpPr>
            <p:cNvPr id="54" name="椭圆 53"/>
            <p:cNvSpPr/>
            <p:nvPr/>
          </p:nvSpPr>
          <p:spPr>
            <a:xfrm>
              <a:off x="1905772" y="2647543"/>
              <a:ext cx="6477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22</a:t>
              </a:r>
              <a:endParaRPr lang="zh-CN" altLang="en-US" dirty="0"/>
            </a:p>
          </p:txBody>
        </p:sp>
      </p:grpSp>
      <p:sp>
        <p:nvSpPr>
          <p:cNvPr id="56" name="文本框 55"/>
          <p:cNvSpPr txBox="1"/>
          <p:nvPr/>
        </p:nvSpPr>
        <p:spPr>
          <a:xfrm>
            <a:off x="4652813" y="458165"/>
            <a:ext cx="7574509" cy="646331"/>
          </a:xfrm>
          <a:prstGeom prst="rect">
            <a:avLst/>
          </a:prstGeom>
          <a:noFill/>
        </p:spPr>
        <p:txBody>
          <a:bodyPr wrap="none" rtlCol="0">
            <a:spAutoFit/>
          </a:bodyPr>
          <a:lstStyle/>
          <a:p>
            <a:r>
              <a:rPr lang="zh-CN" altLang="en-US" dirty="0" smtClean="0"/>
              <a:t>我们发现，相比于</a:t>
            </a:r>
            <a:r>
              <a:rPr lang="en-US" altLang="zh-CN" dirty="0" smtClean="0"/>
              <a:t>14</a:t>
            </a:r>
            <a:r>
              <a:rPr lang="zh-CN" altLang="en-US" dirty="0" smtClean="0"/>
              <a:t>次，我们只是用了三次调整就得到了一次删除和增加</a:t>
            </a:r>
            <a:endParaRPr lang="en-US" altLang="zh-CN" dirty="0" smtClean="0"/>
          </a:p>
          <a:p>
            <a:r>
              <a:rPr lang="zh-CN" altLang="en-US" dirty="0" smtClean="0"/>
              <a:t>操作，那么如果我们只增加一个数字，而不删除数字呢</a:t>
            </a:r>
            <a:endParaRPr lang="zh-CN" altLang="en-US" dirty="0"/>
          </a:p>
        </p:txBody>
      </p:sp>
      <p:sp>
        <p:nvSpPr>
          <p:cNvPr id="57" name="文本框 56"/>
          <p:cNvSpPr txBox="1"/>
          <p:nvPr/>
        </p:nvSpPr>
        <p:spPr>
          <a:xfrm>
            <a:off x="4736703" y="1178888"/>
            <a:ext cx="7340471" cy="646331"/>
          </a:xfrm>
          <a:prstGeom prst="rect">
            <a:avLst/>
          </a:prstGeom>
          <a:noFill/>
        </p:spPr>
        <p:txBody>
          <a:bodyPr wrap="none" rtlCol="0">
            <a:spAutoFit/>
          </a:bodyPr>
          <a:lstStyle/>
          <a:p>
            <a:r>
              <a:rPr lang="zh-CN" altLang="en-US" dirty="0" smtClean="0"/>
              <a:t>如果增加一个数字，我们将其增加到完全二叉树的末尾，再判断是否需</a:t>
            </a:r>
            <a:endParaRPr lang="en-US" altLang="zh-CN" dirty="0" smtClean="0"/>
          </a:p>
          <a:p>
            <a:r>
              <a:rPr lang="zh-CN" altLang="en-US" dirty="0" smtClean="0"/>
              <a:t>要进行调整</a:t>
            </a:r>
            <a:endParaRPr lang="zh-CN" altLang="en-US" dirty="0"/>
          </a:p>
        </p:txBody>
      </p:sp>
      <p:sp>
        <p:nvSpPr>
          <p:cNvPr id="58" name="椭圆 57"/>
          <p:cNvSpPr/>
          <p:nvPr/>
        </p:nvSpPr>
        <p:spPr>
          <a:xfrm>
            <a:off x="6484831" y="3808802"/>
            <a:ext cx="393192" cy="393192"/>
          </a:xfrm>
          <a:prstGeom prst="ellipse">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cxnSp>
        <p:nvCxnSpPr>
          <p:cNvPr id="60" name="直接箭头连接符 59"/>
          <p:cNvCxnSpPr>
            <a:stCxn id="13" idx="5"/>
          </p:cNvCxnSpPr>
          <p:nvPr/>
        </p:nvCxnSpPr>
        <p:spPr>
          <a:xfrm>
            <a:off x="6408410" y="3340108"/>
            <a:ext cx="232450" cy="4850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椭圆 60"/>
          <p:cNvSpPr/>
          <p:nvPr/>
        </p:nvSpPr>
        <p:spPr>
          <a:xfrm>
            <a:off x="6370641" y="3801850"/>
            <a:ext cx="6477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25</a:t>
            </a:r>
            <a:endParaRPr lang="zh-CN" altLang="en-US" dirty="0"/>
          </a:p>
        </p:txBody>
      </p:sp>
      <p:sp>
        <p:nvSpPr>
          <p:cNvPr id="62" name="椭圆 61"/>
          <p:cNvSpPr/>
          <p:nvPr/>
        </p:nvSpPr>
        <p:spPr>
          <a:xfrm>
            <a:off x="5995380" y="2919129"/>
            <a:ext cx="393192" cy="393192"/>
          </a:xfrm>
          <a:prstGeom prst="ellipse">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sp>
        <p:nvSpPr>
          <p:cNvPr id="64" name="椭圆 63"/>
          <p:cNvSpPr/>
          <p:nvPr/>
        </p:nvSpPr>
        <p:spPr>
          <a:xfrm>
            <a:off x="5120018" y="2049076"/>
            <a:ext cx="393192" cy="393192"/>
          </a:xfrm>
          <a:prstGeom prst="ellipse">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sp>
        <p:nvSpPr>
          <p:cNvPr id="66" name="椭圆 65"/>
          <p:cNvSpPr/>
          <p:nvPr/>
        </p:nvSpPr>
        <p:spPr>
          <a:xfrm>
            <a:off x="5982817" y="2913022"/>
            <a:ext cx="393192" cy="3931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5</a:t>
            </a:r>
            <a:endParaRPr lang="zh-CN" altLang="en-US" dirty="0"/>
          </a:p>
        </p:txBody>
      </p:sp>
      <p:sp>
        <p:nvSpPr>
          <p:cNvPr id="67" name="文本框 66"/>
          <p:cNvSpPr txBox="1"/>
          <p:nvPr/>
        </p:nvSpPr>
        <p:spPr>
          <a:xfrm>
            <a:off x="7013436" y="1899611"/>
            <a:ext cx="4424609" cy="369332"/>
          </a:xfrm>
          <a:prstGeom prst="rect">
            <a:avLst/>
          </a:prstGeom>
          <a:noFill/>
        </p:spPr>
        <p:txBody>
          <a:bodyPr wrap="none" rtlCol="0">
            <a:spAutoFit/>
          </a:bodyPr>
          <a:lstStyle/>
          <a:p>
            <a:r>
              <a:rPr lang="zh-CN" altLang="en-US" dirty="0" smtClean="0"/>
              <a:t>增加一个数字，最多需要进行</a:t>
            </a:r>
            <a:r>
              <a:rPr lang="en-US" altLang="zh-CN" dirty="0" smtClean="0"/>
              <a:t>log(n)</a:t>
            </a:r>
            <a:r>
              <a:rPr lang="zh-CN" altLang="en-US" dirty="0" smtClean="0"/>
              <a:t>次调整</a:t>
            </a:r>
            <a:endParaRPr lang="zh-CN" altLang="en-US" dirty="0"/>
          </a:p>
        </p:txBody>
      </p:sp>
    </p:spTree>
    <p:extLst>
      <p:ext uri="{BB962C8B-B14F-4D97-AF65-F5344CB8AC3E}">
        <p14:creationId xmlns:p14="http://schemas.microsoft.com/office/powerpoint/2010/main" val="1594979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61" grpId="0" animBg="1"/>
      <p:bldP spid="62" grpId="0" animBg="1"/>
      <p:bldP spid="64" grpId="0" animBg="1"/>
      <p:bldP spid="6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如何建立一个堆</a:t>
            </a:r>
            <a:endParaRPr lang="zh-CN" altLang="en-US" dirty="0"/>
          </a:p>
        </p:txBody>
      </p:sp>
      <p:sp>
        <p:nvSpPr>
          <p:cNvPr id="3" name="内容占位符 2"/>
          <p:cNvSpPr>
            <a:spLocks noGrp="1"/>
          </p:cNvSpPr>
          <p:nvPr>
            <p:ph idx="1"/>
          </p:nvPr>
        </p:nvSpPr>
        <p:spPr/>
        <p:txBody>
          <a:bodyPr/>
          <a:lstStyle/>
          <a:p>
            <a:r>
              <a:rPr lang="zh-CN" altLang="en-US" dirty="0" smtClean="0"/>
              <a:t>我们刚刚演示了如何插入一个元素，那么根据一个数列去建立一个堆，不就是将堆中的所有元素执行一次插入操作吗？</a:t>
            </a:r>
            <a:endParaRPr lang="en-US" altLang="zh-CN" dirty="0" smtClean="0"/>
          </a:p>
          <a:p>
            <a:r>
              <a:rPr lang="zh-CN" altLang="en-US" dirty="0" smtClean="0"/>
              <a:t>在</a:t>
            </a:r>
            <a:r>
              <a:rPr lang="en-US" altLang="zh-CN" dirty="0" err="1" smtClean="0"/>
              <a:t>i</a:t>
            </a:r>
            <a:r>
              <a:rPr lang="zh-CN" altLang="en-US" dirty="0" smtClean="0"/>
              <a:t>个元素中插入一个数的时间复杂度为</a:t>
            </a:r>
            <a:r>
              <a:rPr lang="en-US" altLang="zh-CN" dirty="0" smtClean="0"/>
              <a:t>log(</a:t>
            </a:r>
            <a:r>
              <a:rPr lang="en-US" altLang="zh-CN" dirty="0" err="1" smtClean="0"/>
              <a:t>i</a:t>
            </a:r>
            <a:r>
              <a:rPr lang="en-US" altLang="zh-CN" dirty="0" smtClean="0"/>
              <a:t>)</a:t>
            </a:r>
          </a:p>
          <a:p>
            <a:r>
              <a:rPr lang="zh-CN" altLang="en-US" dirty="0" smtClean="0"/>
              <a:t>那么每个元素插入需要的时间为</a:t>
            </a:r>
            <a:r>
              <a:rPr lang="en-US" altLang="zh-CN" dirty="0" smtClean="0"/>
              <a:t>log(1), log(2)……log(n)</a:t>
            </a:r>
          </a:p>
          <a:p>
            <a:r>
              <a:rPr lang="zh-CN" altLang="en-US" dirty="0" smtClean="0"/>
              <a:t>加起来就是</a:t>
            </a:r>
            <a:r>
              <a:rPr lang="en-US" altLang="zh-CN" dirty="0" err="1" smtClean="0"/>
              <a:t>nlog</a:t>
            </a:r>
            <a:r>
              <a:rPr lang="en-US" altLang="zh-CN" dirty="0" smtClean="0"/>
              <a:t>(n)</a:t>
            </a:r>
            <a:r>
              <a:rPr lang="zh-CN" altLang="en-US" dirty="0" smtClean="0"/>
              <a:t>也就是说，建立一个堆的时间复杂度为</a:t>
            </a:r>
            <a:r>
              <a:rPr lang="en-US" altLang="zh-CN" dirty="0" err="1" smtClean="0"/>
              <a:t>nlog</a:t>
            </a:r>
            <a:r>
              <a:rPr lang="en-US" altLang="zh-CN" dirty="0" smtClean="0"/>
              <a:t>(n)</a:t>
            </a:r>
          </a:p>
          <a:p>
            <a:r>
              <a:rPr lang="zh-CN" altLang="en-US" dirty="0"/>
              <a:t>有一</a:t>
            </a:r>
            <a:r>
              <a:rPr lang="zh-CN" altLang="en-US" dirty="0" smtClean="0"/>
              <a:t>种建立堆的方法，可以使得时间复杂度优化到</a:t>
            </a:r>
            <a:r>
              <a:rPr lang="en-US" altLang="zh-CN" dirty="0" smtClean="0"/>
              <a:t>O(n)</a:t>
            </a:r>
            <a:endParaRPr lang="zh-CN" altLang="en-US" dirty="0"/>
          </a:p>
        </p:txBody>
      </p:sp>
    </p:spTree>
    <p:extLst>
      <p:ext uri="{BB962C8B-B14F-4D97-AF65-F5344CB8AC3E}">
        <p14:creationId xmlns:p14="http://schemas.microsoft.com/office/powerpoint/2010/main" val="34301820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t>将数列</a:t>
            </a:r>
            <a:r>
              <a:rPr lang="en-US" altLang="zh-CN" dirty="0" smtClean="0"/>
              <a:t>99,5,36,7,22,17,46,12,2,19,25,28,1,</a:t>
            </a:r>
            <a:r>
              <a:rPr lang="zh-CN" altLang="en-US" dirty="0" smtClean="0"/>
              <a:t>和</a:t>
            </a:r>
            <a:r>
              <a:rPr lang="en-US" altLang="zh-CN" dirty="0" smtClean="0"/>
              <a:t>92</a:t>
            </a:r>
            <a:r>
              <a:rPr lang="zh-CN" altLang="en-US" dirty="0" smtClean="0"/>
              <a:t>放入一个完全二叉树称为数组</a:t>
            </a:r>
            <a:r>
              <a:rPr lang="en-US" altLang="zh-CN" dirty="0" smtClean="0"/>
              <a:t>heap</a:t>
            </a:r>
          </a:p>
          <a:p>
            <a:r>
              <a:rPr lang="en-US" altLang="zh-CN" dirty="0" smtClean="0"/>
              <a:t>heap[] = {99,5,36,7,22,17,46,12,2,19,25,28,1,92}</a:t>
            </a:r>
          </a:p>
        </p:txBody>
      </p:sp>
      <p:grpSp>
        <p:nvGrpSpPr>
          <p:cNvPr id="47" name="组合 46"/>
          <p:cNvGrpSpPr/>
          <p:nvPr/>
        </p:nvGrpSpPr>
        <p:grpSpPr>
          <a:xfrm>
            <a:off x="4075176" y="2415763"/>
            <a:ext cx="5063151" cy="3415061"/>
            <a:chOff x="4075176" y="2415763"/>
            <a:chExt cx="5063151" cy="3415061"/>
          </a:xfrm>
        </p:grpSpPr>
        <p:sp>
          <p:nvSpPr>
            <p:cNvPr id="4" name="椭圆 3"/>
            <p:cNvSpPr/>
            <p:nvPr/>
          </p:nvSpPr>
          <p:spPr>
            <a:xfrm>
              <a:off x="6537960" y="2415763"/>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99</a:t>
              </a:r>
              <a:endParaRPr lang="zh-CN" altLang="en-US" sz="1600" dirty="0"/>
            </a:p>
          </p:txBody>
        </p:sp>
        <p:sp>
          <p:nvSpPr>
            <p:cNvPr id="5" name="椭圆 4"/>
            <p:cNvSpPr/>
            <p:nvPr/>
          </p:nvSpPr>
          <p:spPr>
            <a:xfrm>
              <a:off x="7863840" y="3338991"/>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36</a:t>
              </a:r>
              <a:endParaRPr lang="zh-CN" altLang="en-US" dirty="0"/>
            </a:p>
          </p:txBody>
        </p:sp>
        <p:sp>
          <p:nvSpPr>
            <p:cNvPr id="6" name="椭圆 5"/>
            <p:cNvSpPr/>
            <p:nvPr/>
          </p:nvSpPr>
          <p:spPr>
            <a:xfrm>
              <a:off x="5157216" y="3428112"/>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5</a:t>
              </a:r>
              <a:endParaRPr lang="zh-CN" altLang="en-US" dirty="0"/>
            </a:p>
          </p:txBody>
        </p:sp>
        <p:sp>
          <p:nvSpPr>
            <p:cNvPr id="7" name="椭圆 6"/>
            <p:cNvSpPr/>
            <p:nvPr/>
          </p:nvSpPr>
          <p:spPr>
            <a:xfrm>
              <a:off x="8571399" y="4302920"/>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92</a:t>
              </a:r>
              <a:endParaRPr lang="zh-CN" altLang="en-US" sz="1600" dirty="0"/>
            </a:p>
          </p:txBody>
        </p:sp>
        <p:sp>
          <p:nvSpPr>
            <p:cNvPr id="8" name="椭圆 7"/>
            <p:cNvSpPr/>
            <p:nvPr/>
          </p:nvSpPr>
          <p:spPr>
            <a:xfrm>
              <a:off x="7193280" y="4305554"/>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17</a:t>
              </a:r>
              <a:endParaRPr lang="zh-CN" altLang="en-US" sz="1600" dirty="0"/>
            </a:p>
          </p:txBody>
        </p:sp>
        <p:sp>
          <p:nvSpPr>
            <p:cNvPr id="9" name="椭圆 8"/>
            <p:cNvSpPr/>
            <p:nvPr/>
          </p:nvSpPr>
          <p:spPr>
            <a:xfrm>
              <a:off x="5827353" y="4366957"/>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22</a:t>
              </a:r>
              <a:endParaRPr lang="zh-CN" altLang="en-US" sz="1600" dirty="0"/>
            </a:p>
          </p:txBody>
        </p:sp>
        <p:sp>
          <p:nvSpPr>
            <p:cNvPr id="10" name="椭圆 9"/>
            <p:cNvSpPr/>
            <p:nvPr/>
          </p:nvSpPr>
          <p:spPr>
            <a:xfrm>
              <a:off x="4456176" y="4366957"/>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7</a:t>
              </a:r>
              <a:endParaRPr lang="zh-CN" altLang="en-US" dirty="0"/>
            </a:p>
          </p:txBody>
        </p:sp>
        <p:sp>
          <p:nvSpPr>
            <p:cNvPr id="11" name="椭圆 10"/>
            <p:cNvSpPr/>
            <p:nvPr/>
          </p:nvSpPr>
          <p:spPr>
            <a:xfrm>
              <a:off x="8218254" y="5263896"/>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46</a:t>
              </a:r>
              <a:endParaRPr lang="zh-CN" altLang="en-US" sz="1600" dirty="0"/>
            </a:p>
          </p:txBody>
        </p:sp>
        <p:sp>
          <p:nvSpPr>
            <p:cNvPr id="12" name="椭圆 11"/>
            <p:cNvSpPr/>
            <p:nvPr/>
          </p:nvSpPr>
          <p:spPr>
            <a:xfrm>
              <a:off x="7525935" y="5263896"/>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13" name="椭圆 12"/>
            <p:cNvSpPr/>
            <p:nvPr/>
          </p:nvSpPr>
          <p:spPr>
            <a:xfrm>
              <a:off x="6833616" y="5263896"/>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28</a:t>
              </a:r>
              <a:endParaRPr lang="zh-CN" altLang="en-US" sz="1600" dirty="0"/>
            </a:p>
          </p:txBody>
        </p:sp>
        <p:sp>
          <p:nvSpPr>
            <p:cNvPr id="14" name="椭圆 13"/>
            <p:cNvSpPr/>
            <p:nvPr/>
          </p:nvSpPr>
          <p:spPr>
            <a:xfrm>
              <a:off x="6141720" y="5263896"/>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25</a:t>
              </a:r>
              <a:endParaRPr lang="zh-CN" altLang="en-US" sz="1600" dirty="0"/>
            </a:p>
          </p:txBody>
        </p:sp>
        <p:sp>
          <p:nvSpPr>
            <p:cNvPr id="15" name="椭圆 14"/>
            <p:cNvSpPr/>
            <p:nvPr/>
          </p:nvSpPr>
          <p:spPr>
            <a:xfrm>
              <a:off x="5452872" y="5263896"/>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19</a:t>
              </a:r>
              <a:endParaRPr lang="zh-CN" altLang="en-US" sz="1600" dirty="0"/>
            </a:p>
          </p:txBody>
        </p:sp>
        <p:sp>
          <p:nvSpPr>
            <p:cNvPr id="16" name="椭圆 15"/>
            <p:cNvSpPr/>
            <p:nvPr/>
          </p:nvSpPr>
          <p:spPr>
            <a:xfrm>
              <a:off x="4764024" y="5263896"/>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17" name="椭圆 16"/>
            <p:cNvSpPr/>
            <p:nvPr/>
          </p:nvSpPr>
          <p:spPr>
            <a:xfrm>
              <a:off x="4075176" y="5263896"/>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12</a:t>
              </a:r>
              <a:endParaRPr lang="zh-CN" altLang="en-US" sz="1600" dirty="0"/>
            </a:p>
          </p:txBody>
        </p:sp>
        <p:cxnSp>
          <p:nvCxnSpPr>
            <p:cNvPr id="19" name="直接箭头连接符 18"/>
            <p:cNvCxnSpPr>
              <a:stCxn id="4" idx="3"/>
              <a:endCxn id="6" idx="0"/>
            </p:cNvCxnSpPr>
            <p:nvPr/>
          </p:nvCxnSpPr>
          <p:spPr>
            <a:xfrm flipH="1">
              <a:off x="5440680" y="2899666"/>
              <a:ext cx="1180305" cy="5284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4" idx="5"/>
              <a:endCxn id="5" idx="0"/>
            </p:cNvCxnSpPr>
            <p:nvPr/>
          </p:nvCxnSpPr>
          <p:spPr>
            <a:xfrm>
              <a:off x="7021863" y="2899666"/>
              <a:ext cx="1125441" cy="439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6" idx="3"/>
              <a:endCxn id="10" idx="0"/>
            </p:cNvCxnSpPr>
            <p:nvPr/>
          </p:nvCxnSpPr>
          <p:spPr>
            <a:xfrm flipH="1">
              <a:off x="4739640" y="3912015"/>
              <a:ext cx="500601" cy="4549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6" idx="5"/>
              <a:endCxn id="9" idx="0"/>
            </p:cNvCxnSpPr>
            <p:nvPr/>
          </p:nvCxnSpPr>
          <p:spPr>
            <a:xfrm>
              <a:off x="5641119" y="3912015"/>
              <a:ext cx="469698" cy="4549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5" idx="3"/>
              <a:endCxn id="8" idx="0"/>
            </p:cNvCxnSpPr>
            <p:nvPr/>
          </p:nvCxnSpPr>
          <p:spPr>
            <a:xfrm flipH="1">
              <a:off x="7476744" y="3822894"/>
              <a:ext cx="470121" cy="482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5" idx="5"/>
              <a:endCxn id="7" idx="0"/>
            </p:cNvCxnSpPr>
            <p:nvPr/>
          </p:nvCxnSpPr>
          <p:spPr>
            <a:xfrm>
              <a:off x="8347743" y="3822894"/>
              <a:ext cx="507120" cy="4800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10" idx="3"/>
              <a:endCxn id="17" idx="0"/>
            </p:cNvCxnSpPr>
            <p:nvPr/>
          </p:nvCxnSpPr>
          <p:spPr>
            <a:xfrm flipH="1">
              <a:off x="4358640" y="4850860"/>
              <a:ext cx="180561" cy="4130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10" idx="5"/>
              <a:endCxn id="16" idx="0"/>
            </p:cNvCxnSpPr>
            <p:nvPr/>
          </p:nvCxnSpPr>
          <p:spPr>
            <a:xfrm>
              <a:off x="4940079" y="4850860"/>
              <a:ext cx="107409" cy="4130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endCxn id="15" idx="0"/>
            </p:cNvCxnSpPr>
            <p:nvPr/>
          </p:nvCxnSpPr>
          <p:spPr>
            <a:xfrm flipH="1">
              <a:off x="5736336" y="4869848"/>
              <a:ext cx="139632" cy="3940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stCxn id="9" idx="5"/>
              <a:endCxn id="14" idx="0"/>
            </p:cNvCxnSpPr>
            <p:nvPr/>
          </p:nvCxnSpPr>
          <p:spPr>
            <a:xfrm>
              <a:off x="6311256" y="4850860"/>
              <a:ext cx="113928" cy="4130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stCxn id="8" idx="3"/>
              <a:endCxn id="13" idx="0"/>
            </p:cNvCxnSpPr>
            <p:nvPr/>
          </p:nvCxnSpPr>
          <p:spPr>
            <a:xfrm flipH="1">
              <a:off x="7117080" y="4789457"/>
              <a:ext cx="159225" cy="4744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stCxn id="8" idx="5"/>
              <a:endCxn id="12" idx="0"/>
            </p:cNvCxnSpPr>
            <p:nvPr/>
          </p:nvCxnSpPr>
          <p:spPr>
            <a:xfrm>
              <a:off x="7677183" y="4789457"/>
              <a:ext cx="132216" cy="4744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a:stCxn id="7" idx="3"/>
              <a:endCxn id="11" idx="0"/>
            </p:cNvCxnSpPr>
            <p:nvPr/>
          </p:nvCxnSpPr>
          <p:spPr>
            <a:xfrm flipH="1">
              <a:off x="8501718" y="4786823"/>
              <a:ext cx="152706" cy="4770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571257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t>方法：在这个完全二叉树中，</a:t>
            </a:r>
            <a:r>
              <a:rPr lang="zh-CN" altLang="en-US" dirty="0" smtClean="0">
                <a:solidFill>
                  <a:srgbClr val="FF0000"/>
                </a:solidFill>
              </a:rPr>
              <a:t>从最后一个节点</a:t>
            </a:r>
            <a:r>
              <a:rPr lang="zh-CN" altLang="en-US" dirty="0" smtClean="0">
                <a:solidFill>
                  <a:srgbClr val="FF0000"/>
                </a:solidFill>
              </a:rPr>
              <a:t>开始（</a:t>
            </a:r>
            <a:r>
              <a:rPr lang="en-US" altLang="zh-CN" dirty="0" smtClean="0">
                <a:solidFill>
                  <a:srgbClr val="FF0000"/>
                </a:solidFill>
              </a:rPr>
              <a:t>x/2</a:t>
            </a:r>
            <a:r>
              <a:rPr lang="zh-CN" altLang="en-US" dirty="0" smtClean="0">
                <a:solidFill>
                  <a:srgbClr val="FF0000"/>
                </a:solidFill>
              </a:rPr>
              <a:t>）</a:t>
            </a:r>
            <a:r>
              <a:rPr lang="en-US" altLang="zh-CN" dirty="0" smtClean="0">
                <a:solidFill>
                  <a:srgbClr val="FF0000"/>
                </a:solidFill>
              </a:rPr>
              <a:t>(</a:t>
            </a:r>
            <a:r>
              <a:rPr lang="zh-CN" altLang="en-US" dirty="0" smtClean="0">
                <a:solidFill>
                  <a:srgbClr val="FF0000"/>
                </a:solidFill>
              </a:rPr>
              <a:t>使用</a:t>
            </a:r>
            <a:r>
              <a:rPr lang="en-US" altLang="zh-CN" dirty="0" smtClean="0">
                <a:solidFill>
                  <a:srgbClr val="FF0000"/>
                </a:solidFill>
              </a:rPr>
              <a:t>for</a:t>
            </a:r>
            <a:r>
              <a:rPr lang="zh-CN" altLang="en-US" dirty="0" smtClean="0">
                <a:solidFill>
                  <a:srgbClr val="FF0000"/>
                </a:solidFill>
              </a:rPr>
              <a:t>循环</a:t>
            </a:r>
            <a:r>
              <a:rPr lang="en-US" altLang="zh-CN" dirty="0" smtClean="0">
                <a:solidFill>
                  <a:srgbClr val="FF0000"/>
                </a:solidFill>
              </a:rPr>
              <a:t>)</a:t>
            </a:r>
            <a:r>
              <a:rPr lang="zh-CN" altLang="en-US" dirty="0" smtClean="0"/>
              <a:t>，</a:t>
            </a:r>
            <a:r>
              <a:rPr lang="zh-CN" altLang="en-US" dirty="0" smtClean="0">
                <a:solidFill>
                  <a:srgbClr val="FF0000"/>
                </a:solidFill>
              </a:rPr>
              <a:t>依次判断以这个节点为根的子树是否符合最小堆</a:t>
            </a:r>
            <a:r>
              <a:rPr lang="zh-CN" altLang="en-US" smtClean="0">
                <a:solidFill>
                  <a:srgbClr val="FF0000"/>
                </a:solidFill>
              </a:rPr>
              <a:t>的</a:t>
            </a:r>
            <a:r>
              <a:rPr lang="zh-CN" altLang="en-US" smtClean="0">
                <a:solidFill>
                  <a:srgbClr val="FF0000"/>
                </a:solidFill>
              </a:rPr>
              <a:t>性质（递归）</a:t>
            </a:r>
            <a:r>
              <a:rPr lang="zh-CN" altLang="en-US" smtClean="0"/>
              <a:t>，</a:t>
            </a:r>
            <a:r>
              <a:rPr lang="zh-CN" altLang="en-US" dirty="0" smtClean="0"/>
              <a:t>如果所有子树都符合最小堆的性质，那么得到的这棵树就是最小堆了</a:t>
            </a:r>
            <a:endParaRPr lang="zh-CN" altLang="en-US" dirty="0"/>
          </a:p>
        </p:txBody>
      </p:sp>
      <p:grpSp>
        <p:nvGrpSpPr>
          <p:cNvPr id="4" name="组合 3"/>
          <p:cNvGrpSpPr/>
          <p:nvPr/>
        </p:nvGrpSpPr>
        <p:grpSpPr>
          <a:xfrm>
            <a:off x="6534066" y="2004045"/>
            <a:ext cx="5063151" cy="3415061"/>
            <a:chOff x="4075176" y="2415763"/>
            <a:chExt cx="5063151" cy="3415061"/>
          </a:xfrm>
        </p:grpSpPr>
        <p:sp>
          <p:nvSpPr>
            <p:cNvPr id="5" name="椭圆 4"/>
            <p:cNvSpPr/>
            <p:nvPr/>
          </p:nvSpPr>
          <p:spPr>
            <a:xfrm>
              <a:off x="6537960" y="2415763"/>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99</a:t>
              </a:r>
              <a:endParaRPr lang="zh-CN" altLang="en-US" sz="1600" dirty="0"/>
            </a:p>
          </p:txBody>
        </p:sp>
        <p:sp>
          <p:nvSpPr>
            <p:cNvPr id="6" name="椭圆 5"/>
            <p:cNvSpPr/>
            <p:nvPr/>
          </p:nvSpPr>
          <p:spPr>
            <a:xfrm>
              <a:off x="7863840" y="3338991"/>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36</a:t>
              </a:r>
              <a:endParaRPr lang="zh-CN" altLang="en-US" dirty="0"/>
            </a:p>
          </p:txBody>
        </p:sp>
        <p:sp>
          <p:nvSpPr>
            <p:cNvPr id="7" name="椭圆 6"/>
            <p:cNvSpPr/>
            <p:nvPr/>
          </p:nvSpPr>
          <p:spPr>
            <a:xfrm>
              <a:off x="5157216" y="3428112"/>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5</a:t>
              </a:r>
              <a:endParaRPr lang="zh-CN" altLang="en-US" dirty="0"/>
            </a:p>
          </p:txBody>
        </p:sp>
        <p:sp>
          <p:nvSpPr>
            <p:cNvPr id="8" name="椭圆 7"/>
            <p:cNvSpPr/>
            <p:nvPr/>
          </p:nvSpPr>
          <p:spPr>
            <a:xfrm>
              <a:off x="8571399" y="4302920"/>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92</a:t>
              </a:r>
              <a:endParaRPr lang="zh-CN" altLang="en-US" sz="1600" dirty="0"/>
            </a:p>
          </p:txBody>
        </p:sp>
        <p:sp>
          <p:nvSpPr>
            <p:cNvPr id="9" name="椭圆 8"/>
            <p:cNvSpPr/>
            <p:nvPr/>
          </p:nvSpPr>
          <p:spPr>
            <a:xfrm>
              <a:off x="7193280" y="4305554"/>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17</a:t>
              </a:r>
              <a:endParaRPr lang="zh-CN" altLang="en-US" sz="1600" dirty="0"/>
            </a:p>
          </p:txBody>
        </p:sp>
        <p:sp>
          <p:nvSpPr>
            <p:cNvPr id="10" name="椭圆 9"/>
            <p:cNvSpPr/>
            <p:nvPr/>
          </p:nvSpPr>
          <p:spPr>
            <a:xfrm>
              <a:off x="5827353" y="4366957"/>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22</a:t>
              </a:r>
              <a:endParaRPr lang="zh-CN" altLang="en-US" sz="1600" dirty="0"/>
            </a:p>
          </p:txBody>
        </p:sp>
        <p:sp>
          <p:nvSpPr>
            <p:cNvPr id="11" name="椭圆 10"/>
            <p:cNvSpPr/>
            <p:nvPr/>
          </p:nvSpPr>
          <p:spPr>
            <a:xfrm>
              <a:off x="4456176" y="4366957"/>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7</a:t>
              </a:r>
              <a:endParaRPr lang="zh-CN" altLang="en-US" dirty="0"/>
            </a:p>
          </p:txBody>
        </p:sp>
        <p:sp>
          <p:nvSpPr>
            <p:cNvPr id="12" name="椭圆 11"/>
            <p:cNvSpPr/>
            <p:nvPr/>
          </p:nvSpPr>
          <p:spPr>
            <a:xfrm>
              <a:off x="8218254" y="5263896"/>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46</a:t>
              </a:r>
              <a:endParaRPr lang="zh-CN" altLang="en-US" sz="1600" dirty="0"/>
            </a:p>
          </p:txBody>
        </p:sp>
        <p:sp>
          <p:nvSpPr>
            <p:cNvPr id="13" name="椭圆 12"/>
            <p:cNvSpPr/>
            <p:nvPr/>
          </p:nvSpPr>
          <p:spPr>
            <a:xfrm>
              <a:off x="7525935" y="5263896"/>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14" name="椭圆 13"/>
            <p:cNvSpPr/>
            <p:nvPr/>
          </p:nvSpPr>
          <p:spPr>
            <a:xfrm>
              <a:off x="6833616" y="5263896"/>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28</a:t>
              </a:r>
              <a:endParaRPr lang="zh-CN" altLang="en-US" sz="1600" dirty="0"/>
            </a:p>
          </p:txBody>
        </p:sp>
        <p:sp>
          <p:nvSpPr>
            <p:cNvPr id="15" name="椭圆 14"/>
            <p:cNvSpPr/>
            <p:nvPr/>
          </p:nvSpPr>
          <p:spPr>
            <a:xfrm>
              <a:off x="6141720" y="5263896"/>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25</a:t>
              </a:r>
              <a:endParaRPr lang="zh-CN" altLang="en-US" sz="1600" dirty="0"/>
            </a:p>
          </p:txBody>
        </p:sp>
        <p:sp>
          <p:nvSpPr>
            <p:cNvPr id="16" name="椭圆 15"/>
            <p:cNvSpPr/>
            <p:nvPr/>
          </p:nvSpPr>
          <p:spPr>
            <a:xfrm>
              <a:off x="5452872" y="5263896"/>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19</a:t>
              </a:r>
              <a:endParaRPr lang="zh-CN" altLang="en-US" sz="1600" dirty="0"/>
            </a:p>
          </p:txBody>
        </p:sp>
        <p:sp>
          <p:nvSpPr>
            <p:cNvPr id="17" name="椭圆 16"/>
            <p:cNvSpPr/>
            <p:nvPr/>
          </p:nvSpPr>
          <p:spPr>
            <a:xfrm>
              <a:off x="4764024" y="5263896"/>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18" name="椭圆 17"/>
            <p:cNvSpPr/>
            <p:nvPr/>
          </p:nvSpPr>
          <p:spPr>
            <a:xfrm>
              <a:off x="4075176" y="5263896"/>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12</a:t>
              </a:r>
              <a:endParaRPr lang="zh-CN" altLang="en-US" sz="1600" dirty="0"/>
            </a:p>
          </p:txBody>
        </p:sp>
        <p:cxnSp>
          <p:nvCxnSpPr>
            <p:cNvPr id="19" name="直接箭头连接符 18"/>
            <p:cNvCxnSpPr>
              <a:stCxn id="5" idx="3"/>
              <a:endCxn id="7" idx="0"/>
            </p:cNvCxnSpPr>
            <p:nvPr/>
          </p:nvCxnSpPr>
          <p:spPr>
            <a:xfrm flipH="1">
              <a:off x="5440680" y="2899666"/>
              <a:ext cx="1180305" cy="5284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5" idx="5"/>
              <a:endCxn id="6" idx="0"/>
            </p:cNvCxnSpPr>
            <p:nvPr/>
          </p:nvCxnSpPr>
          <p:spPr>
            <a:xfrm>
              <a:off x="7021863" y="2899666"/>
              <a:ext cx="1125441" cy="439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7" idx="3"/>
              <a:endCxn id="11" idx="0"/>
            </p:cNvCxnSpPr>
            <p:nvPr/>
          </p:nvCxnSpPr>
          <p:spPr>
            <a:xfrm flipH="1">
              <a:off x="4739640" y="3912015"/>
              <a:ext cx="500601" cy="4549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7" idx="5"/>
              <a:endCxn id="10" idx="0"/>
            </p:cNvCxnSpPr>
            <p:nvPr/>
          </p:nvCxnSpPr>
          <p:spPr>
            <a:xfrm>
              <a:off x="5641119" y="3912015"/>
              <a:ext cx="469698" cy="4549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6" idx="3"/>
              <a:endCxn id="9" idx="0"/>
            </p:cNvCxnSpPr>
            <p:nvPr/>
          </p:nvCxnSpPr>
          <p:spPr>
            <a:xfrm flipH="1">
              <a:off x="7476744" y="3822894"/>
              <a:ext cx="470121" cy="482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6" idx="5"/>
              <a:endCxn id="8" idx="0"/>
            </p:cNvCxnSpPr>
            <p:nvPr/>
          </p:nvCxnSpPr>
          <p:spPr>
            <a:xfrm>
              <a:off x="8347743" y="3822894"/>
              <a:ext cx="507120" cy="4800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11" idx="3"/>
              <a:endCxn id="18" idx="0"/>
            </p:cNvCxnSpPr>
            <p:nvPr/>
          </p:nvCxnSpPr>
          <p:spPr>
            <a:xfrm flipH="1">
              <a:off x="4358640" y="4850860"/>
              <a:ext cx="180561" cy="4130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11" idx="5"/>
              <a:endCxn id="17" idx="0"/>
            </p:cNvCxnSpPr>
            <p:nvPr/>
          </p:nvCxnSpPr>
          <p:spPr>
            <a:xfrm>
              <a:off x="4940079" y="4850860"/>
              <a:ext cx="107409" cy="4130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endCxn id="16" idx="0"/>
            </p:cNvCxnSpPr>
            <p:nvPr/>
          </p:nvCxnSpPr>
          <p:spPr>
            <a:xfrm flipH="1">
              <a:off x="5736336" y="4869848"/>
              <a:ext cx="139632" cy="3940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stCxn id="10" idx="5"/>
              <a:endCxn id="15" idx="0"/>
            </p:cNvCxnSpPr>
            <p:nvPr/>
          </p:nvCxnSpPr>
          <p:spPr>
            <a:xfrm>
              <a:off x="6311256" y="4850860"/>
              <a:ext cx="113928" cy="4130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9" idx="3"/>
              <a:endCxn id="14" idx="0"/>
            </p:cNvCxnSpPr>
            <p:nvPr/>
          </p:nvCxnSpPr>
          <p:spPr>
            <a:xfrm flipH="1">
              <a:off x="7117080" y="4789457"/>
              <a:ext cx="159225" cy="4744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9" idx="5"/>
              <a:endCxn id="13" idx="0"/>
            </p:cNvCxnSpPr>
            <p:nvPr/>
          </p:nvCxnSpPr>
          <p:spPr>
            <a:xfrm>
              <a:off x="7677183" y="4789457"/>
              <a:ext cx="132216" cy="4744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8" idx="3"/>
              <a:endCxn id="12" idx="0"/>
            </p:cNvCxnSpPr>
            <p:nvPr/>
          </p:nvCxnSpPr>
          <p:spPr>
            <a:xfrm flipH="1">
              <a:off x="8501718" y="4786823"/>
              <a:ext cx="152706" cy="4770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1350094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6534066" y="2004045"/>
            <a:ext cx="5063151" cy="3415061"/>
            <a:chOff x="4075176" y="2415763"/>
            <a:chExt cx="5063151" cy="3415061"/>
          </a:xfrm>
        </p:grpSpPr>
        <p:sp>
          <p:nvSpPr>
            <p:cNvPr id="5" name="椭圆 4"/>
            <p:cNvSpPr/>
            <p:nvPr/>
          </p:nvSpPr>
          <p:spPr>
            <a:xfrm>
              <a:off x="6537960" y="2415763"/>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99</a:t>
              </a:r>
              <a:endParaRPr lang="zh-CN" altLang="en-US" sz="1600" dirty="0"/>
            </a:p>
          </p:txBody>
        </p:sp>
        <p:sp>
          <p:nvSpPr>
            <p:cNvPr id="6" name="椭圆 5"/>
            <p:cNvSpPr/>
            <p:nvPr/>
          </p:nvSpPr>
          <p:spPr>
            <a:xfrm>
              <a:off x="7863840" y="3338991"/>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36</a:t>
              </a:r>
              <a:endParaRPr lang="zh-CN" altLang="en-US" dirty="0"/>
            </a:p>
          </p:txBody>
        </p:sp>
        <p:sp>
          <p:nvSpPr>
            <p:cNvPr id="7" name="椭圆 6"/>
            <p:cNvSpPr/>
            <p:nvPr/>
          </p:nvSpPr>
          <p:spPr>
            <a:xfrm>
              <a:off x="5157216" y="3428112"/>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5</a:t>
              </a:r>
              <a:endParaRPr lang="zh-CN" altLang="en-US" dirty="0"/>
            </a:p>
          </p:txBody>
        </p:sp>
        <p:sp>
          <p:nvSpPr>
            <p:cNvPr id="8" name="椭圆 7"/>
            <p:cNvSpPr/>
            <p:nvPr/>
          </p:nvSpPr>
          <p:spPr>
            <a:xfrm>
              <a:off x="8571399" y="4302920"/>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92</a:t>
              </a:r>
              <a:endParaRPr lang="zh-CN" altLang="en-US" sz="1600" dirty="0"/>
            </a:p>
          </p:txBody>
        </p:sp>
        <p:sp>
          <p:nvSpPr>
            <p:cNvPr id="9" name="椭圆 8"/>
            <p:cNvSpPr/>
            <p:nvPr/>
          </p:nvSpPr>
          <p:spPr>
            <a:xfrm>
              <a:off x="7193280" y="4305554"/>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17</a:t>
              </a:r>
              <a:endParaRPr lang="zh-CN" altLang="en-US" sz="1600" dirty="0"/>
            </a:p>
          </p:txBody>
        </p:sp>
        <p:sp>
          <p:nvSpPr>
            <p:cNvPr id="10" name="椭圆 9"/>
            <p:cNvSpPr/>
            <p:nvPr/>
          </p:nvSpPr>
          <p:spPr>
            <a:xfrm>
              <a:off x="5827353" y="4366957"/>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22</a:t>
              </a:r>
              <a:endParaRPr lang="zh-CN" altLang="en-US" sz="1600" dirty="0"/>
            </a:p>
          </p:txBody>
        </p:sp>
        <p:sp>
          <p:nvSpPr>
            <p:cNvPr id="11" name="椭圆 10"/>
            <p:cNvSpPr/>
            <p:nvPr/>
          </p:nvSpPr>
          <p:spPr>
            <a:xfrm>
              <a:off x="4456176" y="4366957"/>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7</a:t>
              </a:r>
              <a:endParaRPr lang="zh-CN" altLang="en-US" dirty="0"/>
            </a:p>
          </p:txBody>
        </p:sp>
        <p:sp>
          <p:nvSpPr>
            <p:cNvPr id="12" name="椭圆 11"/>
            <p:cNvSpPr/>
            <p:nvPr/>
          </p:nvSpPr>
          <p:spPr>
            <a:xfrm>
              <a:off x="8218254" y="5263896"/>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46</a:t>
              </a:r>
              <a:endParaRPr lang="zh-CN" altLang="en-US" sz="1600" dirty="0"/>
            </a:p>
          </p:txBody>
        </p:sp>
        <p:sp>
          <p:nvSpPr>
            <p:cNvPr id="13" name="椭圆 12"/>
            <p:cNvSpPr/>
            <p:nvPr/>
          </p:nvSpPr>
          <p:spPr>
            <a:xfrm>
              <a:off x="7525935" y="5263896"/>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14" name="椭圆 13"/>
            <p:cNvSpPr/>
            <p:nvPr/>
          </p:nvSpPr>
          <p:spPr>
            <a:xfrm>
              <a:off x="6833616" y="5263896"/>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28</a:t>
              </a:r>
              <a:endParaRPr lang="zh-CN" altLang="en-US" sz="1600" dirty="0"/>
            </a:p>
          </p:txBody>
        </p:sp>
        <p:sp>
          <p:nvSpPr>
            <p:cNvPr id="15" name="椭圆 14"/>
            <p:cNvSpPr/>
            <p:nvPr/>
          </p:nvSpPr>
          <p:spPr>
            <a:xfrm>
              <a:off x="6141720" y="5263896"/>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25</a:t>
              </a:r>
              <a:endParaRPr lang="zh-CN" altLang="en-US" sz="1600" dirty="0"/>
            </a:p>
          </p:txBody>
        </p:sp>
        <p:sp>
          <p:nvSpPr>
            <p:cNvPr id="16" name="椭圆 15"/>
            <p:cNvSpPr/>
            <p:nvPr/>
          </p:nvSpPr>
          <p:spPr>
            <a:xfrm>
              <a:off x="5452872" y="5263896"/>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19</a:t>
              </a:r>
              <a:endParaRPr lang="zh-CN" altLang="en-US" sz="1600" dirty="0"/>
            </a:p>
          </p:txBody>
        </p:sp>
        <p:sp>
          <p:nvSpPr>
            <p:cNvPr id="17" name="椭圆 16"/>
            <p:cNvSpPr/>
            <p:nvPr/>
          </p:nvSpPr>
          <p:spPr>
            <a:xfrm>
              <a:off x="4764024" y="5263896"/>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18" name="椭圆 17"/>
            <p:cNvSpPr/>
            <p:nvPr/>
          </p:nvSpPr>
          <p:spPr>
            <a:xfrm>
              <a:off x="4075176" y="5263896"/>
              <a:ext cx="566928" cy="5669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12</a:t>
              </a:r>
              <a:endParaRPr lang="zh-CN" altLang="en-US" sz="1600" dirty="0"/>
            </a:p>
          </p:txBody>
        </p:sp>
        <p:cxnSp>
          <p:nvCxnSpPr>
            <p:cNvPr id="19" name="直接箭头连接符 18"/>
            <p:cNvCxnSpPr>
              <a:stCxn id="5" idx="3"/>
              <a:endCxn id="7" idx="0"/>
            </p:cNvCxnSpPr>
            <p:nvPr/>
          </p:nvCxnSpPr>
          <p:spPr>
            <a:xfrm flipH="1">
              <a:off x="5440680" y="2899666"/>
              <a:ext cx="1180305" cy="5284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5" idx="5"/>
              <a:endCxn id="6" idx="0"/>
            </p:cNvCxnSpPr>
            <p:nvPr/>
          </p:nvCxnSpPr>
          <p:spPr>
            <a:xfrm>
              <a:off x="7021863" y="2899666"/>
              <a:ext cx="1125441" cy="439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7" idx="3"/>
              <a:endCxn id="11" idx="0"/>
            </p:cNvCxnSpPr>
            <p:nvPr/>
          </p:nvCxnSpPr>
          <p:spPr>
            <a:xfrm flipH="1">
              <a:off x="4739640" y="3912015"/>
              <a:ext cx="500601" cy="4549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7" idx="5"/>
              <a:endCxn id="10" idx="0"/>
            </p:cNvCxnSpPr>
            <p:nvPr/>
          </p:nvCxnSpPr>
          <p:spPr>
            <a:xfrm>
              <a:off x="5641119" y="3912015"/>
              <a:ext cx="469698" cy="4549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6" idx="3"/>
              <a:endCxn id="9" idx="0"/>
            </p:cNvCxnSpPr>
            <p:nvPr/>
          </p:nvCxnSpPr>
          <p:spPr>
            <a:xfrm flipH="1">
              <a:off x="7476744" y="3822894"/>
              <a:ext cx="470121" cy="482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6" idx="5"/>
              <a:endCxn id="8" idx="0"/>
            </p:cNvCxnSpPr>
            <p:nvPr/>
          </p:nvCxnSpPr>
          <p:spPr>
            <a:xfrm>
              <a:off x="8347743" y="3822894"/>
              <a:ext cx="507120" cy="4800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11" idx="3"/>
              <a:endCxn id="18" idx="0"/>
            </p:cNvCxnSpPr>
            <p:nvPr/>
          </p:nvCxnSpPr>
          <p:spPr>
            <a:xfrm flipH="1">
              <a:off x="4358640" y="4850860"/>
              <a:ext cx="180561" cy="4130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11" idx="5"/>
              <a:endCxn id="17" idx="0"/>
            </p:cNvCxnSpPr>
            <p:nvPr/>
          </p:nvCxnSpPr>
          <p:spPr>
            <a:xfrm>
              <a:off x="4940079" y="4850860"/>
              <a:ext cx="107409" cy="4130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endCxn id="16" idx="0"/>
            </p:cNvCxnSpPr>
            <p:nvPr/>
          </p:nvCxnSpPr>
          <p:spPr>
            <a:xfrm flipH="1">
              <a:off x="5736336" y="4869848"/>
              <a:ext cx="139632" cy="3940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stCxn id="10" idx="5"/>
              <a:endCxn id="15" idx="0"/>
            </p:cNvCxnSpPr>
            <p:nvPr/>
          </p:nvCxnSpPr>
          <p:spPr>
            <a:xfrm>
              <a:off x="6311256" y="4850860"/>
              <a:ext cx="113928" cy="4130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9" idx="3"/>
              <a:endCxn id="14" idx="0"/>
            </p:cNvCxnSpPr>
            <p:nvPr/>
          </p:nvCxnSpPr>
          <p:spPr>
            <a:xfrm flipH="1">
              <a:off x="7117080" y="4789457"/>
              <a:ext cx="159225" cy="4744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9" idx="5"/>
              <a:endCxn id="13" idx="0"/>
            </p:cNvCxnSpPr>
            <p:nvPr/>
          </p:nvCxnSpPr>
          <p:spPr>
            <a:xfrm>
              <a:off x="7677183" y="4789457"/>
              <a:ext cx="132216" cy="4744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8" idx="3"/>
              <a:endCxn id="12" idx="0"/>
            </p:cNvCxnSpPr>
            <p:nvPr/>
          </p:nvCxnSpPr>
          <p:spPr>
            <a:xfrm flipH="1">
              <a:off x="8501718" y="4786823"/>
              <a:ext cx="152706" cy="4770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32" name="矩形 31"/>
          <p:cNvSpPr/>
          <p:nvPr/>
        </p:nvSpPr>
        <p:spPr>
          <a:xfrm>
            <a:off x="209169" y="1210584"/>
            <a:ext cx="4634602" cy="369332"/>
          </a:xfrm>
          <a:prstGeom prst="rect">
            <a:avLst/>
          </a:prstGeom>
        </p:spPr>
        <p:txBody>
          <a:bodyPr wrap="none">
            <a:spAutoFit/>
          </a:bodyPr>
          <a:lstStyle/>
          <a:p>
            <a:r>
              <a:rPr lang="zh-CN" altLang="en-US" dirty="0" smtClean="0"/>
              <a:t>选择</a:t>
            </a:r>
            <a:r>
              <a:rPr lang="en-US" altLang="zh-CN" dirty="0" smtClean="0"/>
              <a:t>92,92</a:t>
            </a:r>
            <a:r>
              <a:rPr lang="zh-CN" altLang="en-US" dirty="0" smtClean="0"/>
              <a:t>显然不满足最小堆条件，开始调整</a:t>
            </a:r>
            <a:endParaRPr lang="zh-CN" altLang="en-US" dirty="0"/>
          </a:p>
        </p:txBody>
      </p:sp>
      <p:sp>
        <p:nvSpPr>
          <p:cNvPr id="33" name="矩形 32"/>
          <p:cNvSpPr/>
          <p:nvPr/>
        </p:nvSpPr>
        <p:spPr>
          <a:xfrm>
            <a:off x="204098" y="723379"/>
            <a:ext cx="5958682" cy="369332"/>
          </a:xfrm>
          <a:prstGeom prst="rect">
            <a:avLst/>
          </a:prstGeom>
        </p:spPr>
        <p:txBody>
          <a:bodyPr wrap="none">
            <a:spAutoFit/>
          </a:bodyPr>
          <a:lstStyle/>
          <a:p>
            <a:r>
              <a:rPr lang="zh-CN" altLang="en-US" dirty="0" smtClean="0"/>
              <a:t>节点</a:t>
            </a:r>
            <a:r>
              <a:rPr lang="en-US" altLang="zh-CN" dirty="0" smtClean="0"/>
              <a:t>46</a:t>
            </a:r>
            <a:r>
              <a:rPr lang="zh-CN" altLang="en-US" dirty="0" smtClean="0"/>
              <a:t>没有子节点，所有叶节点都没有子节点，所以跳过</a:t>
            </a:r>
            <a:endParaRPr lang="en-US" altLang="zh-CN" dirty="0" smtClean="0"/>
          </a:p>
        </p:txBody>
      </p:sp>
      <p:sp>
        <p:nvSpPr>
          <p:cNvPr id="34" name="矩形 33"/>
          <p:cNvSpPr/>
          <p:nvPr/>
        </p:nvSpPr>
        <p:spPr>
          <a:xfrm>
            <a:off x="204098" y="264613"/>
            <a:ext cx="11692245" cy="369332"/>
          </a:xfrm>
          <a:prstGeom prst="rect">
            <a:avLst/>
          </a:prstGeom>
        </p:spPr>
        <p:txBody>
          <a:bodyPr wrap="square">
            <a:spAutoFit/>
          </a:bodyPr>
          <a:lstStyle/>
          <a:p>
            <a:r>
              <a:rPr lang="zh-CN" altLang="en-US" dirty="0" smtClean="0"/>
              <a:t>从最后一个节点开始，选择节点</a:t>
            </a:r>
            <a:r>
              <a:rPr lang="en-US" altLang="zh-CN" dirty="0" smtClean="0"/>
              <a:t>46</a:t>
            </a:r>
            <a:r>
              <a:rPr lang="zh-CN" altLang="en-US" dirty="0" smtClean="0"/>
              <a:t>，以</a:t>
            </a:r>
            <a:r>
              <a:rPr lang="en-US" altLang="zh-CN" dirty="0" smtClean="0"/>
              <a:t>46</a:t>
            </a:r>
            <a:r>
              <a:rPr lang="zh-CN" altLang="en-US" dirty="0" smtClean="0"/>
              <a:t>为根，测试其所有子树是否满足最小堆的性质</a:t>
            </a:r>
            <a:endParaRPr lang="en-US" altLang="zh-CN" dirty="0" smtClean="0"/>
          </a:p>
        </p:txBody>
      </p:sp>
      <p:sp>
        <p:nvSpPr>
          <p:cNvPr id="35" name="椭圆 34"/>
          <p:cNvSpPr/>
          <p:nvPr/>
        </p:nvSpPr>
        <p:spPr>
          <a:xfrm>
            <a:off x="11037828" y="3897876"/>
            <a:ext cx="566928" cy="566928"/>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46</a:t>
            </a:r>
            <a:endParaRPr lang="zh-CN" altLang="en-US" sz="1600" dirty="0"/>
          </a:p>
        </p:txBody>
      </p:sp>
      <p:sp>
        <p:nvSpPr>
          <p:cNvPr id="36" name="椭圆 35"/>
          <p:cNvSpPr/>
          <p:nvPr/>
        </p:nvSpPr>
        <p:spPr>
          <a:xfrm>
            <a:off x="10682219" y="4853435"/>
            <a:ext cx="566928" cy="566928"/>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92</a:t>
            </a:r>
            <a:endParaRPr lang="zh-CN" altLang="en-US" sz="1600" dirty="0"/>
          </a:p>
        </p:txBody>
      </p:sp>
      <p:sp>
        <p:nvSpPr>
          <p:cNvPr id="37" name="文本框 36"/>
          <p:cNvSpPr txBox="1"/>
          <p:nvPr/>
        </p:nvSpPr>
        <p:spPr>
          <a:xfrm>
            <a:off x="204098" y="1634713"/>
            <a:ext cx="2501006" cy="369332"/>
          </a:xfrm>
          <a:prstGeom prst="rect">
            <a:avLst/>
          </a:prstGeom>
          <a:noFill/>
        </p:spPr>
        <p:txBody>
          <a:bodyPr wrap="none" rtlCol="0">
            <a:spAutoFit/>
          </a:bodyPr>
          <a:lstStyle/>
          <a:p>
            <a:r>
              <a:rPr lang="zh-CN" altLang="en-US" dirty="0" smtClean="0"/>
              <a:t>选择</a:t>
            </a:r>
            <a:r>
              <a:rPr lang="en-US" altLang="zh-CN" dirty="0" smtClean="0"/>
              <a:t>17,22,7</a:t>
            </a:r>
            <a:r>
              <a:rPr lang="zh-CN" altLang="en-US" dirty="0" smtClean="0"/>
              <a:t>均需要调整</a:t>
            </a:r>
            <a:endParaRPr lang="zh-CN" altLang="en-US" dirty="0"/>
          </a:p>
        </p:txBody>
      </p:sp>
      <p:sp>
        <p:nvSpPr>
          <p:cNvPr id="38" name="椭圆 37"/>
          <p:cNvSpPr/>
          <p:nvPr/>
        </p:nvSpPr>
        <p:spPr>
          <a:xfrm>
            <a:off x="9979845" y="4858575"/>
            <a:ext cx="566928" cy="566928"/>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17</a:t>
            </a:r>
            <a:endParaRPr lang="zh-CN" altLang="en-US" sz="1600" dirty="0"/>
          </a:p>
        </p:txBody>
      </p:sp>
      <p:sp>
        <p:nvSpPr>
          <p:cNvPr id="39" name="椭圆 38"/>
          <p:cNvSpPr/>
          <p:nvPr/>
        </p:nvSpPr>
        <p:spPr>
          <a:xfrm>
            <a:off x="10322730" y="2906916"/>
            <a:ext cx="566928" cy="566928"/>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40" name="椭圆 39"/>
          <p:cNvSpPr/>
          <p:nvPr/>
        </p:nvSpPr>
        <p:spPr>
          <a:xfrm>
            <a:off x="7909961" y="4849615"/>
            <a:ext cx="566928" cy="566928"/>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22</a:t>
            </a:r>
            <a:endParaRPr lang="zh-CN" altLang="en-US" sz="1600" dirty="0"/>
          </a:p>
        </p:txBody>
      </p:sp>
      <p:sp>
        <p:nvSpPr>
          <p:cNvPr id="41" name="椭圆 40"/>
          <p:cNvSpPr/>
          <p:nvPr/>
        </p:nvSpPr>
        <p:spPr>
          <a:xfrm>
            <a:off x="8278704" y="3952676"/>
            <a:ext cx="566928" cy="566928"/>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19</a:t>
            </a:r>
            <a:endParaRPr lang="zh-CN" altLang="en-US" sz="1600" dirty="0"/>
          </a:p>
        </p:txBody>
      </p:sp>
      <p:sp>
        <p:nvSpPr>
          <p:cNvPr id="42" name="椭圆 41"/>
          <p:cNvSpPr/>
          <p:nvPr/>
        </p:nvSpPr>
        <p:spPr>
          <a:xfrm>
            <a:off x="7224616" y="4853283"/>
            <a:ext cx="566928" cy="566928"/>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7</a:t>
            </a:r>
            <a:endParaRPr lang="zh-CN" altLang="en-US" dirty="0"/>
          </a:p>
        </p:txBody>
      </p:sp>
      <p:sp>
        <p:nvSpPr>
          <p:cNvPr id="43" name="椭圆 42"/>
          <p:cNvSpPr/>
          <p:nvPr/>
        </p:nvSpPr>
        <p:spPr>
          <a:xfrm>
            <a:off x="6909925" y="3954134"/>
            <a:ext cx="566928" cy="566928"/>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44" name="文本框 43"/>
          <p:cNvSpPr txBox="1"/>
          <p:nvPr/>
        </p:nvSpPr>
        <p:spPr>
          <a:xfrm>
            <a:off x="204098" y="2125334"/>
            <a:ext cx="2209259" cy="369332"/>
          </a:xfrm>
          <a:prstGeom prst="rect">
            <a:avLst/>
          </a:prstGeom>
          <a:noFill/>
        </p:spPr>
        <p:txBody>
          <a:bodyPr wrap="none" rtlCol="0">
            <a:spAutoFit/>
          </a:bodyPr>
          <a:lstStyle/>
          <a:p>
            <a:r>
              <a:rPr lang="zh-CN" altLang="en-US" dirty="0" smtClean="0"/>
              <a:t>选择</a:t>
            </a:r>
            <a:r>
              <a:rPr lang="en-US" altLang="zh-CN" dirty="0" smtClean="0"/>
              <a:t>36,5</a:t>
            </a:r>
            <a:r>
              <a:rPr lang="zh-CN" altLang="en-US" dirty="0" smtClean="0"/>
              <a:t>均需要调整</a:t>
            </a:r>
            <a:endParaRPr lang="zh-CN" altLang="en-US" dirty="0"/>
          </a:p>
        </p:txBody>
      </p:sp>
      <p:sp>
        <p:nvSpPr>
          <p:cNvPr id="103" name="椭圆 102"/>
          <p:cNvSpPr/>
          <p:nvPr/>
        </p:nvSpPr>
        <p:spPr>
          <a:xfrm>
            <a:off x="9654365" y="3887485"/>
            <a:ext cx="566928" cy="566928"/>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104" name="椭圆 103"/>
          <p:cNvSpPr/>
          <p:nvPr/>
        </p:nvSpPr>
        <p:spPr>
          <a:xfrm>
            <a:off x="9659709" y="3900187"/>
            <a:ext cx="566928" cy="566928"/>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36</a:t>
            </a:r>
            <a:endParaRPr lang="zh-CN" altLang="en-US" dirty="0"/>
          </a:p>
        </p:txBody>
      </p:sp>
      <p:sp>
        <p:nvSpPr>
          <p:cNvPr id="105" name="椭圆 104"/>
          <p:cNvSpPr/>
          <p:nvPr/>
        </p:nvSpPr>
        <p:spPr>
          <a:xfrm>
            <a:off x="6915066" y="3960222"/>
            <a:ext cx="566928" cy="566928"/>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5</a:t>
            </a:r>
            <a:endParaRPr lang="zh-CN" altLang="en-US" dirty="0"/>
          </a:p>
        </p:txBody>
      </p:sp>
      <p:sp>
        <p:nvSpPr>
          <p:cNvPr id="106" name="椭圆 105"/>
          <p:cNvSpPr/>
          <p:nvPr/>
        </p:nvSpPr>
        <p:spPr>
          <a:xfrm>
            <a:off x="7613736" y="3009711"/>
            <a:ext cx="566928" cy="566928"/>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107" name="椭圆 106"/>
          <p:cNvSpPr/>
          <p:nvPr/>
        </p:nvSpPr>
        <p:spPr>
          <a:xfrm>
            <a:off x="10322911" y="2915025"/>
            <a:ext cx="566928" cy="566928"/>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99</a:t>
            </a:r>
            <a:endParaRPr lang="zh-CN" altLang="en-US" sz="1600" dirty="0"/>
          </a:p>
        </p:txBody>
      </p:sp>
      <p:sp>
        <p:nvSpPr>
          <p:cNvPr id="108" name="椭圆 107"/>
          <p:cNvSpPr/>
          <p:nvPr/>
        </p:nvSpPr>
        <p:spPr>
          <a:xfrm>
            <a:off x="8992314" y="2011953"/>
            <a:ext cx="566928" cy="566928"/>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109" name="文本框 108"/>
          <p:cNvSpPr txBox="1"/>
          <p:nvPr/>
        </p:nvSpPr>
        <p:spPr>
          <a:xfrm>
            <a:off x="204098" y="2615955"/>
            <a:ext cx="1342034" cy="369332"/>
          </a:xfrm>
          <a:prstGeom prst="rect">
            <a:avLst/>
          </a:prstGeom>
          <a:noFill/>
        </p:spPr>
        <p:txBody>
          <a:bodyPr wrap="none" rtlCol="0">
            <a:spAutoFit/>
          </a:bodyPr>
          <a:lstStyle/>
          <a:p>
            <a:r>
              <a:rPr lang="zh-CN" altLang="en-US" dirty="0" smtClean="0"/>
              <a:t>最后调整</a:t>
            </a:r>
            <a:r>
              <a:rPr lang="en-US" altLang="zh-CN" dirty="0" smtClean="0"/>
              <a:t>99</a:t>
            </a:r>
            <a:endParaRPr lang="zh-CN" altLang="en-US" dirty="0"/>
          </a:p>
        </p:txBody>
      </p:sp>
    </p:spTree>
    <p:extLst>
      <p:ext uri="{BB962C8B-B14F-4D97-AF65-F5344CB8AC3E}">
        <p14:creationId xmlns:p14="http://schemas.microsoft.com/office/powerpoint/2010/main" val="2085683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0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0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0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4" grpId="0"/>
      <p:bldP spid="35" grpId="0" animBg="1"/>
      <p:bldP spid="36" grpId="0" animBg="1"/>
      <p:bldP spid="37" grpId="0"/>
      <p:bldP spid="38" grpId="0" animBg="1"/>
      <p:bldP spid="39" grpId="0" animBg="1"/>
      <p:bldP spid="40" grpId="0" animBg="1"/>
      <p:bldP spid="41" grpId="0" animBg="1"/>
      <p:bldP spid="42" grpId="0" animBg="1"/>
      <p:bldP spid="43" grpId="0" animBg="1"/>
      <p:bldP spid="44" grpId="0"/>
      <p:bldP spid="103" grpId="0" animBg="1"/>
      <p:bldP spid="104" grpId="0" animBg="1"/>
      <p:bldP spid="105" grpId="0" animBg="1"/>
      <p:bldP spid="106" grpId="0" animBg="1"/>
      <p:bldP spid="107" grpId="0" animBg="1"/>
      <p:bldP spid="108" grpId="0" animBg="1"/>
      <p:bldP spid="10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t>这个算法首先是将</a:t>
            </a:r>
            <a:r>
              <a:rPr lang="en-US" altLang="zh-CN" dirty="0" smtClean="0"/>
              <a:t>n</a:t>
            </a:r>
            <a:r>
              <a:rPr lang="zh-CN" altLang="en-US" dirty="0" smtClean="0"/>
              <a:t>个元素建立一个完全二叉树，从最后一个非叶节点开始调整（最后一个非叶节点的下标总是</a:t>
            </a:r>
            <a:r>
              <a:rPr lang="en-US" altLang="zh-CN" dirty="0" smtClean="0"/>
              <a:t>n/2</a:t>
            </a:r>
            <a:r>
              <a:rPr lang="zh-CN" altLang="en-US" dirty="0" smtClean="0"/>
              <a:t>）到第一个节点。</a:t>
            </a:r>
            <a:endParaRPr lang="en-US" altLang="zh-CN" dirty="0" smtClean="0"/>
          </a:p>
          <a:p>
            <a:r>
              <a:rPr lang="zh-CN" altLang="en-US" dirty="0" smtClean="0"/>
              <a:t>代码展示</a:t>
            </a:r>
            <a:endParaRPr lang="en-US" altLang="zh-CN" dirty="0" smtClean="0"/>
          </a:p>
          <a:p>
            <a:r>
              <a:rPr lang="en-US" altLang="zh-CN" dirty="0" smtClean="0"/>
              <a:t>for(int </a:t>
            </a:r>
            <a:r>
              <a:rPr lang="en-US" altLang="zh-CN" dirty="0" err="1" smtClean="0"/>
              <a:t>i</a:t>
            </a:r>
            <a:r>
              <a:rPr lang="en-US" altLang="zh-CN" dirty="0" smtClean="0"/>
              <a:t> = n/2; </a:t>
            </a:r>
            <a:r>
              <a:rPr lang="en-US" altLang="zh-CN" dirty="0" err="1" smtClean="0"/>
              <a:t>i</a:t>
            </a:r>
            <a:r>
              <a:rPr lang="en-US" altLang="zh-CN" dirty="0" smtClean="0"/>
              <a:t>&gt;=1; </a:t>
            </a:r>
            <a:r>
              <a:rPr lang="en-US" altLang="zh-CN" dirty="0" err="1" smtClean="0"/>
              <a:t>i</a:t>
            </a:r>
            <a:r>
              <a:rPr lang="en-US" altLang="zh-CN" dirty="0" smtClean="0"/>
              <a:t>--){</a:t>
            </a:r>
          </a:p>
          <a:p>
            <a:pPr marL="914377" lvl="2" indent="0">
              <a:buNone/>
            </a:pPr>
            <a:r>
              <a:rPr lang="en-US" altLang="zh-CN" sz="2000" dirty="0" err="1" smtClean="0"/>
              <a:t>siftdown</a:t>
            </a:r>
            <a:r>
              <a:rPr lang="en-US" altLang="zh-CN" sz="2000" dirty="0" smtClean="0"/>
              <a:t>(</a:t>
            </a:r>
            <a:r>
              <a:rPr lang="en-US" altLang="zh-CN" sz="2000" dirty="0" err="1" smtClean="0"/>
              <a:t>i</a:t>
            </a:r>
            <a:r>
              <a:rPr lang="en-US" altLang="zh-CN" sz="2000" dirty="0" smtClean="0"/>
              <a:t>);</a:t>
            </a:r>
            <a:endParaRPr lang="en-US" altLang="zh-CN" dirty="0"/>
          </a:p>
          <a:p>
            <a:r>
              <a:rPr lang="en-US" altLang="zh-CN" dirty="0" smtClean="0"/>
              <a:t>}</a:t>
            </a:r>
          </a:p>
          <a:p>
            <a:r>
              <a:rPr lang="zh-CN" altLang="en-US" dirty="0" smtClean="0"/>
              <a:t>在堆的基础上产生的堆排序的算法时间复杂度为</a:t>
            </a:r>
            <a:r>
              <a:rPr lang="en-US" altLang="zh-CN" dirty="0" smtClean="0"/>
              <a:t>O(</a:t>
            </a:r>
            <a:r>
              <a:rPr lang="en-US" altLang="zh-CN" dirty="0" err="1" smtClean="0"/>
              <a:t>nlogn</a:t>
            </a:r>
            <a:r>
              <a:rPr lang="en-US" altLang="zh-CN" dirty="0" smtClean="0"/>
              <a:t>)</a:t>
            </a:r>
          </a:p>
          <a:p>
            <a:r>
              <a:rPr lang="zh-CN" altLang="en-US" dirty="0" smtClean="0"/>
              <a:t>建立最小堆，每次从堆中挑选一个最小的拿出来，调整后再次重复上述操作，直到堆空为止。</a:t>
            </a:r>
            <a:endParaRPr lang="en-US" altLang="zh-CN" dirty="0" smtClean="0"/>
          </a:p>
          <a:p>
            <a:r>
              <a:rPr lang="zh-CN" altLang="en-US" dirty="0" smtClean="0"/>
              <a:t>当然最大堆也可以的。</a:t>
            </a:r>
            <a:endParaRPr lang="zh-CN" altLang="en-US" dirty="0"/>
          </a:p>
        </p:txBody>
      </p:sp>
    </p:spTree>
    <p:extLst>
      <p:ext uri="{BB962C8B-B14F-4D97-AF65-F5344CB8AC3E}">
        <p14:creationId xmlns:p14="http://schemas.microsoft.com/office/powerpoint/2010/main" val="205620862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t>类似这种支持插入元素和寻找最大（小）值元素的数据结构称为优先队列。相比于普通队列，这种队列具有很好的时间复杂度去寻找整个队列中的最大值或最小值。</a:t>
            </a:r>
            <a:endParaRPr lang="en-US" altLang="zh-CN" dirty="0" smtClean="0"/>
          </a:p>
          <a:p>
            <a:endParaRPr lang="en-US" altLang="zh-CN" dirty="0"/>
          </a:p>
          <a:p>
            <a:r>
              <a:rPr lang="zh-CN" altLang="en-US" dirty="0" smtClean="0"/>
              <a:t>堆的具体应用：</a:t>
            </a:r>
            <a:r>
              <a:rPr lang="en-US" altLang="zh-CN" dirty="0" err="1" smtClean="0"/>
              <a:t>Dijkstra</a:t>
            </a:r>
            <a:r>
              <a:rPr lang="zh-CN" altLang="en-US" dirty="0" smtClean="0"/>
              <a:t>算法中的优化，求第</a:t>
            </a:r>
            <a:r>
              <a:rPr lang="en-US" altLang="zh-CN" dirty="0" smtClean="0"/>
              <a:t>k</a:t>
            </a:r>
            <a:r>
              <a:rPr lang="zh-CN" altLang="en-US" smtClean="0"/>
              <a:t>大数字</a:t>
            </a:r>
            <a:endParaRPr lang="zh-CN" altLang="en-US"/>
          </a:p>
        </p:txBody>
      </p:sp>
    </p:spTree>
    <p:extLst>
      <p:ext uri="{BB962C8B-B14F-4D97-AF65-F5344CB8AC3E}">
        <p14:creationId xmlns:p14="http://schemas.microsoft.com/office/powerpoint/2010/main" val="1821017701"/>
      </p:ext>
    </p:extLst>
  </p:cSld>
  <p:clrMapOvr>
    <a:masterClrMapping/>
  </p:clrMapOvr>
  <p:timing>
    <p:tnLst>
      <p:par>
        <p:cTn id="1" dur="indefinite" restart="never" nodeType="tmRoot"/>
      </p:par>
    </p:tnLst>
  </p:timing>
</p:sld>
</file>

<file path=ppt/theme/theme1.xml><?xml version="1.0" encoding="utf-8"?>
<a:theme xmlns:a="http://schemas.openxmlformats.org/drawingml/2006/main" name="A000120141114A17PWBG">
  <a:themeElements>
    <a:clrScheme name="自定义 1">
      <a:dk1>
        <a:srgbClr val="555555"/>
      </a:dk1>
      <a:lt1>
        <a:sysClr val="window" lastClr="FFFFFF"/>
      </a:lt1>
      <a:dk2>
        <a:srgbClr val="555555"/>
      </a:dk2>
      <a:lt2>
        <a:srgbClr val="FFFFFF"/>
      </a:lt2>
      <a:accent1>
        <a:srgbClr val="E77817"/>
      </a:accent1>
      <a:accent2>
        <a:srgbClr val="D4A444"/>
      </a:accent2>
      <a:accent3>
        <a:srgbClr val="F4B183"/>
      </a:accent3>
      <a:accent4>
        <a:srgbClr val="B6ACDD"/>
      </a:accent4>
      <a:accent5>
        <a:srgbClr val="AA8FFF"/>
      </a:accent5>
      <a:accent6>
        <a:srgbClr val="FFC000"/>
      </a:accent6>
      <a:hlink>
        <a:srgbClr val="00B0F0"/>
      </a:hlink>
      <a:folHlink>
        <a:srgbClr val="7F7F7F"/>
      </a:folHlink>
    </a:clrScheme>
    <a:fontScheme name="自定义 20">
      <a:majorFont>
        <a:latin typeface="MS UI Gothic"/>
        <a:ea typeface="微软雅黑"/>
        <a:cs typeface=""/>
      </a:majorFont>
      <a:minorFont>
        <a:latin typeface="Calibri"/>
        <a:ea typeface="幼圆"/>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A000120141114A17KPBG</Template>
  <TotalTime>159</TotalTime>
  <Words>932</Words>
  <Application>Microsoft Office PowerPoint</Application>
  <PresentationFormat>宽屏</PresentationFormat>
  <Paragraphs>209</Paragraphs>
  <Slides>11</Slides>
  <Notes>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11</vt:i4>
      </vt:variant>
    </vt:vector>
  </HeadingPairs>
  <TitlesOfParts>
    <vt:vector size="19" baseType="lpstr">
      <vt:lpstr>MS UI Gothic</vt:lpstr>
      <vt:lpstr>等线</vt:lpstr>
      <vt:lpstr>宋体</vt:lpstr>
      <vt:lpstr>微软雅黑</vt:lpstr>
      <vt:lpstr>幼圆</vt:lpstr>
      <vt:lpstr>Arial</vt:lpstr>
      <vt:lpstr>Calibri</vt:lpstr>
      <vt:lpstr>A000120141114A17PWBG</vt:lpstr>
      <vt:lpstr>堆排序算法演示</vt:lpstr>
      <vt:lpstr>一个排序和查找</vt:lpstr>
      <vt:lpstr>构造堆</vt:lpstr>
      <vt:lpstr>PowerPoint 演示文稿</vt:lpstr>
      <vt:lpstr>PowerPoint 演示文稿</vt:lpstr>
      <vt:lpstr>如何建立一个堆</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堆排序算法演示</dc:title>
  <dc:creator>Tortoise -</dc:creator>
  <cp:lastModifiedBy>Tortoise -</cp:lastModifiedBy>
  <cp:revision>14</cp:revision>
  <dcterms:created xsi:type="dcterms:W3CDTF">2018-08-27T04:57:34Z</dcterms:created>
  <dcterms:modified xsi:type="dcterms:W3CDTF">2018-08-27T13:44:25Z</dcterms:modified>
</cp:coreProperties>
</file>