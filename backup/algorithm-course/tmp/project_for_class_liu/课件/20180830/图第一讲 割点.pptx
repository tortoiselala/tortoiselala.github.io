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rtoise -" initials="T-" lastIdx="1" clrIdx="0">
    <p:extLst>
      <p:ext uri="{19B8F6BF-5375-455C-9EA6-DF929625EA0E}">
        <p15:presenceInfo xmlns:p15="http://schemas.microsoft.com/office/powerpoint/2012/main" userId="90cda6621fea150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8-30T11:29:38.681"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DEB70-0CA2-438D-BC51-754D889FC14D}" type="datetimeFigureOut">
              <a:rPr lang="zh-CN" altLang="en-US" smtClean="0"/>
              <a:t>2018/8/30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DBEBC-5AE0-4D4A-ACED-FF57F990175B}" type="slidenum">
              <a:rPr lang="zh-CN" altLang="en-US" smtClean="0"/>
              <a:t>‹#›</a:t>
            </a:fld>
            <a:endParaRPr lang="zh-CN" altLang="en-US"/>
          </a:p>
        </p:txBody>
      </p:sp>
    </p:spTree>
    <p:extLst>
      <p:ext uri="{BB962C8B-B14F-4D97-AF65-F5344CB8AC3E}">
        <p14:creationId xmlns:p14="http://schemas.microsoft.com/office/powerpoint/2010/main" val="1330299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15719" b="3444"/>
          <a:stretch/>
        </p:blipFill>
        <p:spPr>
          <a:xfrm>
            <a:off x="0" y="0"/>
            <a:ext cx="12192000" cy="6858000"/>
          </a:xfrm>
          <a:prstGeom prst="rect">
            <a:avLst/>
          </a:prstGeom>
        </p:spPr>
      </p:pic>
      <p:sp>
        <p:nvSpPr>
          <p:cNvPr id="4" name="Date Placeholder 3"/>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AAC77AB-4811-4B2B-8F60-72E76DF610F1}" type="slidenum">
              <a:rPr lang="zh-CN" altLang="en-US" smtClean="0"/>
              <a:t>‹#›</a:t>
            </a:fld>
            <a:endParaRPr lang="zh-CN" altLang="en-US"/>
          </a:p>
        </p:txBody>
      </p:sp>
      <p:sp>
        <p:nvSpPr>
          <p:cNvPr id="2" name="Title 1"/>
          <p:cNvSpPr>
            <a:spLocks noGrp="1"/>
          </p:cNvSpPr>
          <p:nvPr>
            <p:ph type="ctrTitle"/>
          </p:nvPr>
        </p:nvSpPr>
        <p:spPr>
          <a:xfrm>
            <a:off x="681447" y="685800"/>
            <a:ext cx="8561251" cy="1485055"/>
          </a:xfrm>
        </p:spPr>
        <p:txBody>
          <a:bodyPr vert="horz" anchor="b">
            <a:normAutofit/>
          </a:bodyPr>
          <a:lstStyle>
            <a:lvl1pPr algn="l">
              <a:lnSpc>
                <a:spcPct val="100000"/>
              </a:lnSpc>
              <a:defRPr sz="4000" b="0" i="0">
                <a:ln w="14605">
                  <a:noFill/>
                </a:ln>
                <a:solidFill>
                  <a:schemeClr val="accent1"/>
                </a:solidFill>
                <a:effectLst/>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681447" y="2307378"/>
            <a:ext cx="8561251" cy="539931"/>
          </a:xfrm>
        </p:spPr>
        <p:txBody>
          <a:bodyPr vert="horz">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3430540988"/>
      </p:ext>
    </p:extLst>
  </p:cSld>
  <p:clrMapOvr>
    <a:masterClrMapping/>
  </p:clrMapOvr>
  <p:extLst mod="1">
    <p:ext uri="{DCECCB84-F9BA-43D5-87BE-67443E8EF086}">
      <p15:sldGuideLst xmlns:p15="http://schemas.microsoft.com/office/powerpoint/2012/main">
        <p15:guide id="0" orient="horz" pos="2160">
          <p15:clr>
            <a:srgbClr val="FBAE40"/>
          </p15:clr>
        </p15:guide>
        <p15:guide id="1" pos="66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p:txBody>
      </p:sp>
      <p:sp>
        <p:nvSpPr>
          <p:cNvPr id="4" name="Date Placeholder 3"/>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214252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2786743"/>
            <a:ext cx="10515600" cy="1070339"/>
          </a:xfrm>
        </p:spPr>
        <p:txBody>
          <a:bodyPr anchor="b"/>
          <a:lstStyle>
            <a:lvl1pPr>
              <a:defRPr sz="4800">
                <a:solidFill>
                  <a:schemeClr val="tx1"/>
                </a:solidFill>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3884070"/>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3181677284"/>
      </p:ext>
    </p:extLst>
  </p:cSld>
  <p:clrMapOvr>
    <a:masterClrMapping/>
  </p:clrMapOvr>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158056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1175794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4003529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419737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255466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85793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726995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AAC77AB-4811-4B2B-8F60-72E76DF610F1}" type="slidenum">
              <a:rPr lang="zh-CN" altLang="en-US" smtClean="0"/>
              <a:t>‹#›</a:t>
            </a:fld>
            <a:endParaRPr lang="zh-CN" altLang="en-US"/>
          </a:p>
        </p:txBody>
      </p:sp>
    </p:spTree>
    <p:extLst>
      <p:ext uri="{BB962C8B-B14F-4D97-AF65-F5344CB8AC3E}">
        <p14:creationId xmlns:p14="http://schemas.microsoft.com/office/powerpoint/2010/main" val="2154256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3">
            <a:extLst>
              <a:ext uri="{28A0092B-C50C-407E-A947-70E740481C1C}">
                <a14:useLocalDpi xmlns:a14="http://schemas.microsoft.com/office/drawing/2010/main" val="0"/>
              </a:ext>
            </a:extLst>
          </a:blip>
          <a:srcRect t="11950" b="3145"/>
          <a:stretch/>
        </p:blipFill>
        <p:spPr>
          <a:xfrm>
            <a:off x="0" y="0"/>
            <a:ext cx="12192000" cy="6858000"/>
          </a:xfrm>
          <a:prstGeom prst="rect">
            <a:avLst/>
          </a:prstGeom>
        </p:spPr>
      </p:pic>
      <p:sp>
        <p:nvSpPr>
          <p:cNvPr id="7" name="矩形 6"/>
          <p:cNvSpPr/>
          <p:nvPr/>
        </p:nvSpPr>
        <p:spPr>
          <a:xfrm>
            <a:off x="0" y="0"/>
            <a:ext cx="12192000" cy="6858000"/>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Text Placeholder 2"/>
          <p:cNvSpPr>
            <a:spLocks noGrp="1"/>
          </p:cNvSpPr>
          <p:nvPr>
            <p:ph type="body" idx="1"/>
          </p:nvPr>
        </p:nvSpPr>
        <p:spPr>
          <a:xfrm>
            <a:off x="754746" y="1149531"/>
            <a:ext cx="10680337" cy="5206820"/>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bg1">
                    <a:lumMod val="65000"/>
                  </a:schemeClr>
                </a:solidFill>
              </a:defRPr>
            </a:lvl1pPr>
          </a:lstStyle>
          <a:p>
            <a:fld id="{B8E86E39-C7CE-41D8-8112-7D7E618F3771}" type="datetimeFigureOut">
              <a:rPr lang="zh-CN" altLang="en-US" smtClean="0"/>
              <a:t>2018/8/30</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bg1">
                    <a:lumMod val="6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bg1">
                    <a:lumMod val="65000"/>
                  </a:schemeClr>
                </a:solidFill>
              </a:defRPr>
            </a:lvl1pPr>
          </a:lstStyle>
          <a:p>
            <a:fld id="{4AAC77AB-4811-4B2B-8F60-72E76DF610F1}" type="slidenum">
              <a:rPr lang="zh-CN" altLang="en-US" smtClean="0"/>
              <a:t>‹#›</a:t>
            </a:fld>
            <a:endParaRPr lang="zh-CN" altLang="en-US"/>
          </a:p>
        </p:txBody>
      </p:sp>
      <p:sp>
        <p:nvSpPr>
          <p:cNvPr id="2" name="Title Placeholder 1"/>
          <p:cNvSpPr>
            <a:spLocks noGrp="1"/>
          </p:cNvSpPr>
          <p:nvPr>
            <p:ph type="title"/>
          </p:nvPr>
        </p:nvSpPr>
        <p:spPr>
          <a:xfrm>
            <a:off x="754746" y="371383"/>
            <a:ext cx="10227839" cy="601525"/>
          </a:xfrm>
          <a:prstGeom prst="rect">
            <a:avLst/>
          </a:prstGeom>
        </p:spPr>
        <p:txBody>
          <a:bodyPr vert="horz" lIns="91440" tIns="45720" rIns="91440" bIns="45720" rtlCol="0" anchor="b">
            <a:noAutofit/>
          </a:bodyPr>
          <a:lstStyle/>
          <a:p>
            <a:r>
              <a:rPr lang="zh-CN" altLang="en-US" dirty="0" smtClean="0"/>
              <a:t>单击此处编辑母版标题样式</a:t>
            </a:r>
            <a:endParaRPr lang="en-US" dirty="0"/>
          </a:p>
        </p:txBody>
      </p:sp>
    </p:spTree>
    <p:extLst>
      <p:ext uri="{BB962C8B-B14F-4D97-AF65-F5344CB8AC3E}">
        <p14:creationId xmlns:p14="http://schemas.microsoft.com/office/powerpoint/2010/main" val="41925858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600" kern="1200">
          <a:solidFill>
            <a:schemeClr val="accent1">
              <a:lumMod val="75000"/>
            </a:schemeClr>
          </a:solidFill>
          <a:latin typeface="+mj-lt"/>
          <a:ea typeface="+mj-ea"/>
          <a:cs typeface="+mj-cs"/>
        </a:defRPr>
      </a:lvl1pPr>
    </p:titleStyle>
    <p:bodyStyle>
      <a:lvl1pPr marL="357188" indent="-357188" algn="l" defTabSz="914400" rtl="0" eaLnBrk="1" latinLnBrk="0" hangingPunct="1">
        <a:lnSpc>
          <a:spcPct val="90000"/>
        </a:lnSpc>
        <a:spcBef>
          <a:spcPts val="1800"/>
        </a:spcBef>
        <a:buClr>
          <a:schemeClr val="accent1"/>
        </a:buClr>
        <a:buSzPct val="80000"/>
        <a:buFont typeface="Webdings" panose="05030102010509060703" pitchFamily="18" charset="2"/>
        <a:buChar char="Y"/>
        <a:defRPr sz="2800" kern="1200">
          <a:solidFill>
            <a:schemeClr val="accent2">
              <a:lumMod val="75000"/>
            </a:schemeClr>
          </a:solidFill>
          <a:latin typeface="+mn-lt"/>
          <a:ea typeface="+mn-ea"/>
          <a:cs typeface="+mn-cs"/>
        </a:defRPr>
      </a:lvl1pPr>
      <a:lvl2pPr marL="357188" indent="-357188" algn="l" defTabSz="914400" rtl="0" eaLnBrk="1" latinLnBrk="0" hangingPunct="1">
        <a:lnSpc>
          <a:spcPct val="130000"/>
        </a:lnSpc>
        <a:spcBef>
          <a:spcPts val="0"/>
        </a:spcBef>
        <a:buFont typeface="Calibri" panose="020F0502020204030204" pitchFamily="34" charset="0"/>
        <a:buChar char=" "/>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图的割点</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271223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找出割点</a:t>
            </a:r>
            <a:endParaRPr lang="zh-CN" altLang="en-US" dirty="0"/>
          </a:p>
        </p:txBody>
      </p:sp>
      <p:sp>
        <p:nvSpPr>
          <p:cNvPr id="3" name="内容占位符 2"/>
          <p:cNvSpPr>
            <a:spLocks noGrp="1"/>
          </p:cNvSpPr>
          <p:nvPr>
            <p:ph idx="1"/>
          </p:nvPr>
        </p:nvSpPr>
        <p:spPr/>
        <p:txBody>
          <a:bodyPr/>
          <a:lstStyle/>
          <a:p>
            <a:pPr marL="0" lvl="0" indent="0" eaLnBrk="0" fontAlgn="base" hangingPunct="0">
              <a:lnSpc>
                <a:spcPct val="100000"/>
              </a:lnSpc>
              <a:spcBef>
                <a:spcPct val="0"/>
              </a:spcBef>
              <a:spcAft>
                <a:spcPct val="0"/>
              </a:spcAft>
              <a:buClrTx/>
              <a:buSzTx/>
              <a:buNone/>
            </a:pPr>
            <a:r>
              <a:rPr lang="zh-CN" altLang="zh-CN" dirty="0">
                <a:solidFill>
                  <a:srgbClr val="333333"/>
                </a:solidFill>
                <a:latin typeface="Open Sans" panose="020B0606030504020204" pitchFamily="34" charset="0"/>
                <a:cs typeface="Open Sans" panose="020B0606030504020204" pitchFamily="34" charset="0"/>
              </a:rPr>
              <a:t>1.依次删除各个顶点</a:t>
            </a:r>
            <a:r>
              <a:rPr lang="zh-CN" altLang="zh-CN" dirty="0" smtClean="0">
                <a:solidFill>
                  <a:srgbClr val="333333"/>
                </a:solidFill>
                <a:latin typeface="Open Sans" panose="020B0606030504020204" pitchFamily="34" charset="0"/>
                <a:cs typeface="Open Sans" panose="020B0606030504020204" pitchFamily="34" charset="0"/>
              </a:rPr>
              <a:t>，使用</a:t>
            </a:r>
            <a:r>
              <a:rPr lang="zh-CN" altLang="zh-CN" dirty="0">
                <a:solidFill>
                  <a:srgbClr val="333333"/>
                </a:solidFill>
                <a:latin typeface="Open Sans" panose="020B0606030504020204" pitchFamily="34" charset="0"/>
                <a:cs typeface="Open Sans" panose="020B0606030504020204" pitchFamily="34" charset="0"/>
              </a:rPr>
              <a:t>深度优先搜索或广度优先搜索测试图是否连通，该方法时间复杂度</a:t>
            </a:r>
            <a:r>
              <a:rPr lang="zh-CN" altLang="zh-CN" dirty="0" smtClean="0">
                <a:solidFill>
                  <a:srgbClr val="333333"/>
                </a:solidFill>
                <a:latin typeface="Open Sans" panose="020B0606030504020204" pitchFamily="34" charset="0"/>
                <a:cs typeface="Open Sans" panose="020B0606030504020204" pitchFamily="34" charset="0"/>
              </a:rPr>
              <a:t>较高</a:t>
            </a:r>
            <a:r>
              <a:rPr lang="en-US" altLang="zh-CN" dirty="0" smtClean="0">
                <a:solidFill>
                  <a:srgbClr val="333333"/>
                </a:solidFill>
                <a:latin typeface="Open Sans" panose="020B0606030504020204" pitchFamily="34" charset="0"/>
                <a:cs typeface="Open Sans" panose="020B0606030504020204" pitchFamily="34" charset="0"/>
              </a:rPr>
              <a:t>O(M(</a:t>
            </a:r>
            <a:r>
              <a:rPr lang="en-US" altLang="zh-CN" dirty="0" err="1" smtClean="0">
                <a:solidFill>
                  <a:srgbClr val="333333"/>
                </a:solidFill>
                <a:latin typeface="Open Sans" panose="020B0606030504020204" pitchFamily="34" charset="0"/>
                <a:cs typeface="Open Sans" panose="020B0606030504020204" pitchFamily="34" charset="0"/>
              </a:rPr>
              <a:t>M+N</a:t>
            </a:r>
            <a:r>
              <a:rPr lang="en-US" altLang="zh-CN" dirty="0" smtClean="0">
                <a:solidFill>
                  <a:srgbClr val="333333"/>
                </a:solidFill>
                <a:latin typeface="Open Sans" panose="020B0606030504020204" pitchFamily="34" charset="0"/>
                <a:cs typeface="Open Sans" panose="020B0606030504020204" pitchFamily="34" charset="0"/>
              </a:rPr>
              <a:t>))</a:t>
            </a:r>
            <a:endParaRPr lang="zh-CN" altLang="zh-CN" sz="1400" dirty="0">
              <a:solidFill>
                <a:schemeClr val="tx1"/>
              </a:solidFill>
            </a:endParaRPr>
          </a:p>
          <a:p>
            <a:pPr marL="0" lvl="0" indent="0" eaLnBrk="0" fontAlgn="base" hangingPunct="0">
              <a:lnSpc>
                <a:spcPct val="100000"/>
              </a:lnSpc>
              <a:spcBef>
                <a:spcPct val="0"/>
              </a:spcBef>
              <a:spcAft>
                <a:spcPct val="0"/>
              </a:spcAft>
              <a:buClrTx/>
              <a:buSzTx/>
              <a:buNone/>
            </a:pPr>
            <a:endParaRPr lang="en-US" altLang="zh-CN" dirty="0" smtClean="0">
              <a:solidFill>
                <a:srgbClr val="333333"/>
              </a:solidFill>
              <a:latin typeface="Open Sans" panose="020B0606030504020204" pitchFamily="34" charset="0"/>
              <a:cs typeface="Open Sans" panose="020B0606030504020204" pitchFamily="34" charset="0"/>
            </a:endParaRPr>
          </a:p>
          <a:p>
            <a:endParaRPr lang="zh-CN" altLang="en-US" dirty="0"/>
          </a:p>
        </p:txBody>
      </p:sp>
    </p:spTree>
    <p:extLst>
      <p:ext uri="{BB962C8B-B14F-4D97-AF65-F5344CB8AC3E}">
        <p14:creationId xmlns:p14="http://schemas.microsoft.com/office/powerpoint/2010/main" val="30698308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marL="0" lvl="0" indent="0" eaLnBrk="0" fontAlgn="base" hangingPunct="0">
              <a:lnSpc>
                <a:spcPct val="100000"/>
              </a:lnSpc>
              <a:spcBef>
                <a:spcPct val="0"/>
              </a:spcBef>
              <a:spcAft>
                <a:spcPct val="0"/>
              </a:spcAft>
              <a:buClrTx/>
              <a:buSzTx/>
              <a:buNone/>
            </a:pPr>
            <a:r>
              <a:rPr lang="zh-CN" altLang="zh-CN" sz="2000" dirty="0">
                <a:solidFill>
                  <a:srgbClr val="333333"/>
                </a:solidFill>
                <a:latin typeface="Open Sans" panose="020B0606030504020204" pitchFamily="34" charset="0"/>
                <a:cs typeface="Open Sans" panose="020B0606030504020204" pitchFamily="34" charset="0"/>
              </a:rPr>
              <a:t>2.如果我们尝试去使用广度优先搜索或深度优先搜索去访问所有节点的时候，割点是在里面的，我们需要找到，哪一个顶点是割点。</a:t>
            </a:r>
            <a:endParaRPr lang="zh-CN" altLang="zh-CN" sz="1100" dirty="0">
              <a:solidFill>
                <a:schemeClr val="tx1"/>
              </a:solidFill>
            </a:endParaRPr>
          </a:p>
          <a:p>
            <a:pPr marL="0" lvl="0" indent="0" eaLnBrk="0" fontAlgn="base" hangingPunct="0">
              <a:lnSpc>
                <a:spcPct val="100000"/>
              </a:lnSpc>
              <a:spcBef>
                <a:spcPct val="0"/>
              </a:spcBef>
              <a:spcAft>
                <a:spcPct val="0"/>
              </a:spcAft>
              <a:buClrTx/>
              <a:buSzTx/>
              <a:buNone/>
            </a:pPr>
            <a:r>
              <a:rPr lang="zh-CN" altLang="zh-CN" sz="2000" dirty="0">
                <a:solidFill>
                  <a:srgbClr val="333333"/>
                </a:solidFill>
                <a:latin typeface="Open Sans" panose="020B0606030504020204" pitchFamily="34" charset="0"/>
                <a:cs typeface="Open Sans" panose="020B0606030504020204" pitchFamily="34" charset="0"/>
              </a:rPr>
              <a:t>使用深度优先搜索会得到一个生成树。</a:t>
            </a: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r>
              <a:rPr lang="zh-CN" altLang="en-US" sz="2000" dirty="0">
                <a:solidFill>
                  <a:srgbClr val="333333"/>
                </a:solidFill>
                <a:latin typeface="Open Sans" panose="020B0606030504020204" pitchFamily="34" charset="0"/>
                <a:cs typeface="Open Sans" panose="020B0606030504020204" pitchFamily="34" charset="0"/>
              </a:rPr>
              <a:t>对于生成的树，我们依然使用一维数组表示，</a:t>
            </a:r>
            <a:r>
              <a:rPr lang="zh-CN" altLang="en-US" sz="2000" dirty="0" smtClean="0">
                <a:solidFill>
                  <a:srgbClr val="333333"/>
                </a:solidFill>
                <a:latin typeface="Open Sans" panose="020B0606030504020204" pitchFamily="34" charset="0"/>
                <a:cs typeface="Open Sans" panose="020B0606030504020204" pitchFamily="34" charset="0"/>
              </a:rPr>
              <a:t>如下</a:t>
            </a: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endParaRPr lang="en-US" altLang="zh-CN" sz="2000" dirty="0" smtClean="0">
              <a:solidFill>
                <a:srgbClr val="333333"/>
              </a:solidFill>
              <a:latin typeface="Open Sans" panose="020B0606030504020204" pitchFamily="34" charset="0"/>
              <a:cs typeface="Open Sans" panose="020B0606030504020204" pitchFamily="34" charset="0"/>
            </a:endParaRPr>
          </a:p>
          <a:p>
            <a:pPr marL="0" lvl="0" indent="0" eaLnBrk="0" fontAlgn="base" hangingPunct="0">
              <a:lnSpc>
                <a:spcPct val="100000"/>
              </a:lnSpc>
              <a:spcBef>
                <a:spcPct val="0"/>
              </a:spcBef>
              <a:spcAft>
                <a:spcPct val="0"/>
              </a:spcAft>
              <a:buClrTx/>
              <a:buSzTx/>
              <a:buNone/>
            </a:pPr>
            <a:r>
              <a:rPr lang="zh-CN" altLang="en-US" sz="2000" dirty="0" smtClean="0">
                <a:solidFill>
                  <a:srgbClr val="333333"/>
                </a:solidFill>
                <a:latin typeface="Open Sans" panose="020B0606030504020204" pitchFamily="34" charset="0"/>
                <a:cs typeface="Open Sans" panose="020B0606030504020204" pitchFamily="34" charset="0"/>
              </a:rPr>
              <a:t>将顶点访问的顺序记下来，称为时间戳</a:t>
            </a:r>
            <a:endParaRPr lang="en-US" altLang="zh-CN" sz="2000" dirty="0">
              <a:solidFill>
                <a:srgbClr val="333333"/>
              </a:solidFill>
              <a:latin typeface="Open Sans" panose="020B0606030504020204" pitchFamily="34" charset="0"/>
              <a:cs typeface="Open Sans" panose="020B0606030504020204" pitchFamily="34" charset="0"/>
            </a:endParaRPr>
          </a:p>
          <a:p>
            <a:endParaRPr lang="zh-CN" altLang="en-US" sz="2000" dirty="0"/>
          </a:p>
        </p:txBody>
      </p:sp>
      <p:grpSp>
        <p:nvGrpSpPr>
          <p:cNvPr id="4" name="组合 3"/>
          <p:cNvGrpSpPr/>
          <p:nvPr/>
        </p:nvGrpSpPr>
        <p:grpSpPr>
          <a:xfrm>
            <a:off x="1854030" y="2328685"/>
            <a:ext cx="1459992" cy="2698601"/>
            <a:chOff x="2813304" y="2029968"/>
            <a:chExt cx="1664208" cy="3076067"/>
          </a:xfrm>
        </p:grpSpPr>
        <p:sp>
          <p:nvSpPr>
            <p:cNvPr id="5" name="椭圆 4"/>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7" name="椭圆 6"/>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9" name="椭圆 8"/>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11" name="直接连接符 10"/>
            <p:cNvCxnSpPr>
              <a:stCxn id="5" idx="3"/>
              <a:endCxn id="6" idx="0"/>
            </p:cNvCxnSpPr>
            <p:nvPr/>
          </p:nvCxnSpPr>
          <p:spPr>
            <a:xfrm flipH="1">
              <a:off x="3192780" y="2443627"/>
              <a:ext cx="389489"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 idx="5"/>
              <a:endCxn id="7"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6" idx="5"/>
              <a:endCxn id="8"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3"/>
              <a:endCxn id="8"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8" idx="3"/>
              <a:endCxn id="9"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0" idx="0"/>
            </p:cNvCxnSpPr>
            <p:nvPr/>
          </p:nvCxnSpPr>
          <p:spPr>
            <a:xfrm>
              <a:off x="3878366" y="4178574"/>
              <a:ext cx="35683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6"/>
              <a:endCxn id="10" idx="2"/>
            </p:cNvCxnSpPr>
            <p:nvPr/>
          </p:nvCxnSpPr>
          <p:spPr>
            <a:xfrm>
              <a:off x="3297936" y="4863719"/>
              <a:ext cx="69494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4129506" y="2266241"/>
            <a:ext cx="1558062" cy="2671585"/>
            <a:chOff x="4004199" y="2633317"/>
            <a:chExt cx="2058489" cy="3529660"/>
          </a:xfrm>
        </p:grpSpPr>
        <p:grpSp>
          <p:nvGrpSpPr>
            <p:cNvPr id="18" name="组合 17"/>
            <p:cNvGrpSpPr/>
            <p:nvPr/>
          </p:nvGrpSpPr>
          <p:grpSpPr>
            <a:xfrm>
              <a:off x="4004199" y="2763547"/>
              <a:ext cx="1664208" cy="3076067"/>
              <a:chOff x="2813304" y="2029968"/>
              <a:chExt cx="1664208" cy="3076067"/>
            </a:xfrm>
          </p:grpSpPr>
          <p:sp>
            <p:nvSpPr>
              <p:cNvPr id="19" name="椭圆 18"/>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0" name="椭圆 19"/>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21" name="椭圆 20"/>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2" name="椭圆 21"/>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3" name="椭圆 22"/>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24" name="椭圆 23"/>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26" name="直接连接符 25"/>
              <p:cNvCxnSpPr>
                <a:stCxn id="19" idx="5"/>
                <a:endCxn id="21"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0" idx="5"/>
                <a:endCxn id="22"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3"/>
                <a:endCxn id="22"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2" idx="3"/>
                <a:endCxn id="23"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grpSp>
        <p:sp>
          <p:nvSpPr>
            <p:cNvPr id="33" name="圆角矩形 32"/>
            <p:cNvSpPr/>
            <p:nvPr/>
          </p:nvSpPr>
          <p:spPr>
            <a:xfrm>
              <a:off x="5141429" y="2633317"/>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1</a:t>
              </a:r>
              <a:endParaRPr lang="zh-CN" altLang="en-US" dirty="0"/>
            </a:p>
          </p:txBody>
        </p:sp>
        <p:sp>
          <p:nvSpPr>
            <p:cNvPr id="34" name="圆角矩形 33"/>
            <p:cNvSpPr/>
            <p:nvPr/>
          </p:nvSpPr>
          <p:spPr>
            <a:xfrm>
              <a:off x="5288169"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6</a:t>
              </a:r>
              <a:endParaRPr lang="zh-CN" altLang="en-US" dirty="0"/>
            </a:p>
          </p:txBody>
        </p:sp>
        <p:sp>
          <p:nvSpPr>
            <p:cNvPr id="35" name="圆角矩形 34"/>
            <p:cNvSpPr/>
            <p:nvPr/>
          </p:nvSpPr>
          <p:spPr>
            <a:xfrm>
              <a:off x="5769207" y="3669993"/>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2</a:t>
              </a:r>
              <a:endParaRPr lang="zh-CN" altLang="en-US" dirty="0"/>
            </a:p>
          </p:txBody>
        </p:sp>
        <p:sp>
          <p:nvSpPr>
            <p:cNvPr id="36" name="圆角矩形 35"/>
            <p:cNvSpPr/>
            <p:nvPr/>
          </p:nvSpPr>
          <p:spPr>
            <a:xfrm>
              <a:off x="4577439" y="3549062"/>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4</a:t>
              </a:r>
              <a:endParaRPr lang="zh-CN" altLang="en-US" dirty="0"/>
            </a:p>
          </p:txBody>
        </p:sp>
        <p:sp>
          <p:nvSpPr>
            <p:cNvPr id="37" name="圆角矩形 36"/>
            <p:cNvSpPr/>
            <p:nvPr/>
          </p:nvSpPr>
          <p:spPr>
            <a:xfrm>
              <a:off x="5204234" y="4576869"/>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3</a:t>
              </a:r>
              <a:endParaRPr lang="zh-CN" altLang="en-US" dirty="0"/>
            </a:p>
          </p:txBody>
        </p:sp>
        <p:sp>
          <p:nvSpPr>
            <p:cNvPr id="38" name="圆角矩形 37"/>
            <p:cNvSpPr/>
            <p:nvPr/>
          </p:nvSpPr>
          <p:spPr>
            <a:xfrm>
              <a:off x="4076256"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5</a:t>
              </a:r>
              <a:endParaRPr lang="zh-CN" altLang="en-US" dirty="0"/>
            </a:p>
          </p:txBody>
        </p:sp>
      </p:grpSp>
      <p:cxnSp>
        <p:nvCxnSpPr>
          <p:cNvPr id="39" name="直接连接符 38"/>
          <p:cNvCxnSpPr/>
          <p:nvPr/>
        </p:nvCxnSpPr>
        <p:spPr>
          <a:xfrm>
            <a:off x="4467060" y="5597298"/>
            <a:ext cx="694944"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0" name="表格 39"/>
          <p:cNvGraphicFramePr>
            <a:graphicFrameLocks noGrp="1"/>
          </p:cNvGraphicFramePr>
          <p:nvPr>
            <p:extLst>
              <p:ext uri="{D42A27DB-BD31-4B8C-83A1-F6EECF244321}">
                <p14:modId xmlns:p14="http://schemas.microsoft.com/office/powerpoint/2010/main" val="1422996207"/>
              </p:ext>
            </p:extLst>
          </p:nvPr>
        </p:nvGraphicFramePr>
        <p:xfrm>
          <a:off x="7639235" y="3695802"/>
          <a:ext cx="2668452" cy="741680"/>
        </p:xfrm>
        <a:graphic>
          <a:graphicData uri="http://schemas.openxmlformats.org/drawingml/2006/table">
            <a:tbl>
              <a:tblPr firstRow="1" bandRow="1">
                <a:tableStyleId>{5C22544A-7EE6-4342-B048-85BDC9FD1C3A}</a:tableStyleId>
              </a:tblPr>
              <a:tblGrid>
                <a:gridCol w="444742">
                  <a:extLst>
                    <a:ext uri="{9D8B030D-6E8A-4147-A177-3AD203B41FA5}">
                      <a16:colId xmlns:a16="http://schemas.microsoft.com/office/drawing/2014/main" val="3579970495"/>
                    </a:ext>
                  </a:extLst>
                </a:gridCol>
                <a:gridCol w="444742">
                  <a:extLst>
                    <a:ext uri="{9D8B030D-6E8A-4147-A177-3AD203B41FA5}">
                      <a16:colId xmlns:a16="http://schemas.microsoft.com/office/drawing/2014/main" val="3827195745"/>
                    </a:ext>
                  </a:extLst>
                </a:gridCol>
                <a:gridCol w="444742">
                  <a:extLst>
                    <a:ext uri="{9D8B030D-6E8A-4147-A177-3AD203B41FA5}">
                      <a16:colId xmlns:a16="http://schemas.microsoft.com/office/drawing/2014/main" val="3689894132"/>
                    </a:ext>
                  </a:extLst>
                </a:gridCol>
                <a:gridCol w="444742">
                  <a:extLst>
                    <a:ext uri="{9D8B030D-6E8A-4147-A177-3AD203B41FA5}">
                      <a16:colId xmlns:a16="http://schemas.microsoft.com/office/drawing/2014/main" val="2504414549"/>
                    </a:ext>
                  </a:extLst>
                </a:gridCol>
                <a:gridCol w="444742">
                  <a:extLst>
                    <a:ext uri="{9D8B030D-6E8A-4147-A177-3AD203B41FA5}">
                      <a16:colId xmlns:a16="http://schemas.microsoft.com/office/drawing/2014/main" val="264895724"/>
                    </a:ext>
                  </a:extLst>
                </a:gridCol>
                <a:gridCol w="444742">
                  <a:extLst>
                    <a:ext uri="{9D8B030D-6E8A-4147-A177-3AD203B41FA5}">
                      <a16:colId xmlns:a16="http://schemas.microsoft.com/office/drawing/2014/main" val="1307115928"/>
                    </a:ext>
                  </a:extLst>
                </a:gridCol>
              </a:tblGrid>
              <a:tr h="370840">
                <a:tc>
                  <a:txBody>
                    <a:bodyPr/>
                    <a:lstStyle/>
                    <a:p>
                      <a:r>
                        <a:rPr lang="en-US" altLang="zh-CN" dirty="0" smtClean="0"/>
                        <a:t>1</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extLst>
                  <a:ext uri="{0D108BD9-81ED-4DB2-BD59-A6C34878D82A}">
                    <a16:rowId xmlns:a16="http://schemas.microsoft.com/office/drawing/2014/main" val="2077912533"/>
                  </a:ext>
                </a:extLst>
              </a:tr>
              <a:tr h="370840">
                <a:tc>
                  <a:txBody>
                    <a:bodyPr/>
                    <a:lstStyle/>
                    <a:p>
                      <a:r>
                        <a:rPr lang="en-US" altLang="zh-CN" dirty="0" smtClean="0"/>
                        <a:t>1</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extLst>
                  <a:ext uri="{0D108BD9-81ED-4DB2-BD59-A6C34878D82A}">
                    <a16:rowId xmlns:a16="http://schemas.microsoft.com/office/drawing/2014/main" val="1051113524"/>
                  </a:ext>
                </a:extLst>
              </a:tr>
            </a:tbl>
          </a:graphicData>
        </a:graphic>
      </p:graphicFrame>
      <p:cxnSp>
        <p:nvCxnSpPr>
          <p:cNvPr id="30" name="直接连接符 29"/>
          <p:cNvCxnSpPr>
            <a:stCxn id="23" idx="5"/>
            <a:endCxn id="24" idx="2"/>
          </p:cNvCxnSpPr>
          <p:nvPr/>
        </p:nvCxnSpPr>
        <p:spPr>
          <a:xfrm flipV="1">
            <a:off x="4442603" y="4509666"/>
            <a:ext cx="579719" cy="12968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5506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lvl="0"/>
            <a:r>
              <a:rPr lang="zh-CN" altLang="zh-CN" dirty="0">
                <a:solidFill>
                  <a:srgbClr val="333333"/>
                </a:solidFill>
                <a:latin typeface="Open Sans" panose="020B0606030504020204" pitchFamily="34" charset="0"/>
                <a:cs typeface="Open Sans" panose="020B0606030504020204" pitchFamily="34" charset="0"/>
              </a:rPr>
              <a:t>测试是否是割点的方法</a:t>
            </a:r>
            <a:r>
              <a:rPr lang="zh-CN" altLang="zh-CN" dirty="0" smtClean="0">
                <a:solidFill>
                  <a:srgbClr val="333333"/>
                </a:solidFill>
                <a:latin typeface="Open Sans" panose="020B0606030504020204" pitchFamily="34" charset="0"/>
                <a:cs typeface="Open Sans" panose="020B0606030504020204" pitchFamily="34" charset="0"/>
              </a:rPr>
              <a:t>：</a:t>
            </a:r>
            <a:r>
              <a:rPr lang="zh-CN" altLang="en-US" dirty="0">
                <a:solidFill>
                  <a:srgbClr val="333333"/>
                </a:solidFill>
                <a:latin typeface="Open Sans" panose="020B0606030504020204" pitchFamily="34" charset="0"/>
                <a:cs typeface="Open Sans" panose="020B0606030504020204" pitchFamily="34" charset="0"/>
              </a:rPr>
              <a:t>当</a:t>
            </a:r>
            <a:r>
              <a:rPr lang="zh-CN" altLang="en-US" dirty="0" smtClean="0">
                <a:solidFill>
                  <a:srgbClr val="333333"/>
                </a:solidFill>
                <a:latin typeface="Open Sans" panose="020B0606030504020204" pitchFamily="34" charset="0"/>
                <a:cs typeface="Open Sans" panose="020B0606030504020204" pitchFamily="34" charset="0"/>
              </a:rPr>
              <a:t>我们在使用深度优先搜索访问图的第</a:t>
            </a:r>
            <a:r>
              <a:rPr lang="en-US" altLang="zh-CN" dirty="0" smtClean="0">
                <a:solidFill>
                  <a:srgbClr val="333333"/>
                </a:solidFill>
                <a:latin typeface="Open Sans" panose="020B0606030504020204" pitchFamily="34" charset="0"/>
                <a:cs typeface="Open Sans" panose="020B0606030504020204" pitchFamily="34" charset="0"/>
              </a:rPr>
              <a:t>k</a:t>
            </a:r>
            <a:r>
              <a:rPr lang="zh-CN" altLang="en-US" dirty="0" smtClean="0">
                <a:solidFill>
                  <a:srgbClr val="333333"/>
                </a:solidFill>
                <a:latin typeface="Open Sans" panose="020B0606030504020204" pitchFamily="34" charset="0"/>
                <a:cs typeface="Open Sans" panose="020B0606030504020204" pitchFamily="34" charset="0"/>
              </a:rPr>
              <a:t>个点时， 此时</a:t>
            </a:r>
            <a:r>
              <a:rPr lang="en-US" altLang="zh-CN" dirty="0" smtClean="0">
                <a:solidFill>
                  <a:srgbClr val="333333"/>
                </a:solidFill>
                <a:latin typeface="Open Sans" panose="020B0606030504020204" pitchFamily="34" charset="0"/>
                <a:cs typeface="Open Sans" panose="020B0606030504020204" pitchFamily="34" charset="0"/>
              </a:rPr>
              <a:t>k</a:t>
            </a:r>
            <a:r>
              <a:rPr lang="zh-CN" altLang="en-US" dirty="0" smtClean="0">
                <a:solidFill>
                  <a:srgbClr val="333333"/>
                </a:solidFill>
                <a:latin typeface="Open Sans" panose="020B0606030504020204" pitchFamily="34" charset="0"/>
                <a:cs typeface="Open Sans" panose="020B0606030504020204" pitchFamily="34" charset="0"/>
              </a:rPr>
              <a:t>点将图分为两部分（已访问和未访问），如果第</a:t>
            </a:r>
            <a:r>
              <a:rPr lang="en-US" altLang="zh-CN" dirty="0" smtClean="0">
                <a:solidFill>
                  <a:srgbClr val="333333"/>
                </a:solidFill>
                <a:latin typeface="Open Sans" panose="020B0606030504020204" pitchFamily="34" charset="0"/>
                <a:cs typeface="Open Sans" panose="020B0606030504020204" pitchFamily="34" charset="0"/>
              </a:rPr>
              <a:t>k</a:t>
            </a:r>
            <a:r>
              <a:rPr lang="zh-CN" altLang="en-US" dirty="0" smtClean="0">
                <a:solidFill>
                  <a:srgbClr val="333333"/>
                </a:solidFill>
                <a:latin typeface="Open Sans" panose="020B0606030504020204" pitchFamily="34" charset="0"/>
                <a:cs typeface="Open Sans" panose="020B0606030504020204" pitchFamily="34" charset="0"/>
              </a:rPr>
              <a:t>个点是割点，那么剩下的未访问的点在不经过</a:t>
            </a:r>
            <a:r>
              <a:rPr lang="en-US" altLang="zh-CN" dirty="0" smtClean="0">
                <a:solidFill>
                  <a:srgbClr val="333333"/>
                </a:solidFill>
                <a:latin typeface="Open Sans" panose="020B0606030504020204" pitchFamily="34" charset="0"/>
                <a:cs typeface="Open Sans" panose="020B0606030504020204" pitchFamily="34" charset="0"/>
              </a:rPr>
              <a:t>k</a:t>
            </a:r>
            <a:r>
              <a:rPr lang="zh-CN" altLang="en-US" dirty="0" smtClean="0">
                <a:solidFill>
                  <a:srgbClr val="333333"/>
                </a:solidFill>
                <a:latin typeface="Open Sans" panose="020B0606030504020204" pitchFamily="34" charset="0"/>
                <a:cs typeface="Open Sans" panose="020B0606030504020204" pitchFamily="34" charset="0"/>
              </a:rPr>
              <a:t>点的情况下，至少有一个顶点是不能回到已访问的点的</a:t>
            </a:r>
            <a:endParaRPr lang="zh-CN" altLang="zh-CN" sz="4000" dirty="0">
              <a:solidFill>
                <a:schemeClr val="tx1"/>
              </a:solidFill>
              <a:latin typeface="Arial" panose="020B0604020202020204" pitchFamily="34" charset="0"/>
            </a:endParaRPr>
          </a:p>
          <a:p>
            <a:endParaRPr lang="zh-CN" altLang="en-US" dirty="0"/>
          </a:p>
        </p:txBody>
      </p:sp>
      <p:grpSp>
        <p:nvGrpSpPr>
          <p:cNvPr id="18" name="组合 17"/>
          <p:cNvGrpSpPr/>
          <p:nvPr/>
        </p:nvGrpSpPr>
        <p:grpSpPr>
          <a:xfrm>
            <a:off x="1716870" y="2977909"/>
            <a:ext cx="1459992" cy="2698601"/>
            <a:chOff x="2813304" y="2029968"/>
            <a:chExt cx="1664208" cy="3076067"/>
          </a:xfrm>
        </p:grpSpPr>
        <p:sp>
          <p:nvSpPr>
            <p:cNvPr id="19" name="椭圆 18"/>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0" name="椭圆 19"/>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21" name="椭圆 20"/>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2" name="椭圆 21"/>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23" name="椭圆 22"/>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24" name="椭圆 23"/>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25" name="直接连接符 24"/>
            <p:cNvCxnSpPr>
              <a:stCxn id="19" idx="3"/>
              <a:endCxn id="20" idx="0"/>
            </p:cNvCxnSpPr>
            <p:nvPr/>
          </p:nvCxnSpPr>
          <p:spPr>
            <a:xfrm flipH="1">
              <a:off x="3192780" y="2443627"/>
              <a:ext cx="389489"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9" idx="5"/>
              <a:endCxn id="21"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0" idx="5"/>
              <a:endCxn id="22"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3"/>
              <a:endCxn id="22"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2" idx="3"/>
              <a:endCxn id="23"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2" idx="5"/>
              <a:endCxn id="24" idx="0"/>
            </p:cNvCxnSpPr>
            <p:nvPr/>
          </p:nvCxnSpPr>
          <p:spPr>
            <a:xfrm>
              <a:off x="3878366" y="4178574"/>
              <a:ext cx="35683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3" idx="6"/>
              <a:endCxn id="24" idx="2"/>
            </p:cNvCxnSpPr>
            <p:nvPr/>
          </p:nvCxnSpPr>
          <p:spPr>
            <a:xfrm>
              <a:off x="3297936" y="4863719"/>
              <a:ext cx="69494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4040341" y="3164167"/>
            <a:ext cx="1558062" cy="2671585"/>
            <a:chOff x="4004199" y="2633317"/>
            <a:chExt cx="2058489" cy="3529660"/>
          </a:xfrm>
        </p:grpSpPr>
        <p:grpSp>
          <p:nvGrpSpPr>
            <p:cNvPr id="33" name="组合 32"/>
            <p:cNvGrpSpPr/>
            <p:nvPr/>
          </p:nvGrpSpPr>
          <p:grpSpPr>
            <a:xfrm>
              <a:off x="4004199" y="2763547"/>
              <a:ext cx="1664208" cy="3076067"/>
              <a:chOff x="2813304" y="2029968"/>
              <a:chExt cx="1664208" cy="3076067"/>
            </a:xfrm>
          </p:grpSpPr>
          <p:sp>
            <p:nvSpPr>
              <p:cNvPr id="40" name="椭圆 39"/>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41" name="椭圆 40"/>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42" name="椭圆 41"/>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43" name="椭圆 42"/>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44" name="椭圆 43"/>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45" name="椭圆 44"/>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46" name="直接连接符 45"/>
              <p:cNvCxnSpPr>
                <a:stCxn id="40" idx="5"/>
                <a:endCxn id="42"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1" idx="5"/>
                <a:endCxn id="43"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2" idx="3"/>
                <a:endCxn id="43"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3" idx="3"/>
                <a:endCxn id="44"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grpSp>
        <p:sp>
          <p:nvSpPr>
            <p:cNvPr id="34" name="圆角矩形 33"/>
            <p:cNvSpPr/>
            <p:nvPr/>
          </p:nvSpPr>
          <p:spPr>
            <a:xfrm>
              <a:off x="5141429" y="2633317"/>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1</a:t>
              </a:r>
              <a:endParaRPr lang="zh-CN" altLang="en-US" dirty="0"/>
            </a:p>
          </p:txBody>
        </p:sp>
        <p:sp>
          <p:nvSpPr>
            <p:cNvPr id="35" name="圆角矩形 34"/>
            <p:cNvSpPr/>
            <p:nvPr/>
          </p:nvSpPr>
          <p:spPr>
            <a:xfrm>
              <a:off x="5288169"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6</a:t>
              </a:r>
              <a:endParaRPr lang="zh-CN" altLang="en-US" dirty="0"/>
            </a:p>
          </p:txBody>
        </p:sp>
        <p:sp>
          <p:nvSpPr>
            <p:cNvPr id="36" name="圆角矩形 35"/>
            <p:cNvSpPr/>
            <p:nvPr/>
          </p:nvSpPr>
          <p:spPr>
            <a:xfrm>
              <a:off x="5769207" y="3669993"/>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2</a:t>
              </a:r>
              <a:endParaRPr lang="zh-CN" altLang="en-US" dirty="0"/>
            </a:p>
          </p:txBody>
        </p:sp>
        <p:sp>
          <p:nvSpPr>
            <p:cNvPr id="37" name="圆角矩形 36"/>
            <p:cNvSpPr/>
            <p:nvPr/>
          </p:nvSpPr>
          <p:spPr>
            <a:xfrm>
              <a:off x="4577439" y="3549062"/>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4</a:t>
              </a:r>
              <a:endParaRPr lang="zh-CN" altLang="en-US" dirty="0"/>
            </a:p>
          </p:txBody>
        </p:sp>
        <p:sp>
          <p:nvSpPr>
            <p:cNvPr id="38" name="圆角矩形 37"/>
            <p:cNvSpPr/>
            <p:nvPr/>
          </p:nvSpPr>
          <p:spPr>
            <a:xfrm>
              <a:off x="5204234" y="4576869"/>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3</a:t>
              </a:r>
              <a:endParaRPr lang="zh-CN" altLang="en-US" dirty="0"/>
            </a:p>
          </p:txBody>
        </p:sp>
        <p:sp>
          <p:nvSpPr>
            <p:cNvPr id="39" name="圆角矩形 38"/>
            <p:cNvSpPr/>
            <p:nvPr/>
          </p:nvSpPr>
          <p:spPr>
            <a:xfrm>
              <a:off x="4076256"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5</a:t>
              </a:r>
              <a:endParaRPr lang="zh-CN" altLang="en-US" dirty="0"/>
            </a:p>
          </p:txBody>
        </p:sp>
      </p:grpSp>
      <p:cxnSp>
        <p:nvCxnSpPr>
          <p:cNvPr id="5" name="直接连接符 4"/>
          <p:cNvCxnSpPr>
            <a:stCxn id="44" idx="6"/>
            <a:endCxn id="45" idx="2"/>
          </p:cNvCxnSpPr>
          <p:nvPr/>
        </p:nvCxnSpPr>
        <p:spPr>
          <a:xfrm>
            <a:off x="4407157" y="5407592"/>
            <a:ext cx="526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76798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                                                                                                                                                                                                                                                                                                                                                                                                                                                                                                                                                                                                                                                                                                                                                                                                                                                                                                                                                                                                           </a:t>
            </a:r>
            <a:endParaRPr lang="zh-CN" altLang="en-US" dirty="0"/>
          </a:p>
        </p:txBody>
      </p:sp>
      <p:sp>
        <p:nvSpPr>
          <p:cNvPr id="4" name="矩形 3"/>
          <p:cNvSpPr/>
          <p:nvPr/>
        </p:nvSpPr>
        <p:spPr>
          <a:xfrm>
            <a:off x="947333" y="1521406"/>
            <a:ext cx="3647152" cy="369332"/>
          </a:xfrm>
          <a:prstGeom prst="rect">
            <a:avLst/>
          </a:prstGeom>
        </p:spPr>
        <p:txBody>
          <a:bodyPr wrap="none">
            <a:spAutoFit/>
          </a:bodyPr>
          <a:lstStyle/>
          <a:p>
            <a:r>
              <a:rPr lang="zh-CN" altLang="en-US" dirty="0"/>
              <a:t>至此，我们算法的关键就转化为：</a:t>
            </a:r>
          </a:p>
        </p:txBody>
      </p:sp>
      <p:sp>
        <p:nvSpPr>
          <p:cNvPr id="5" name="矩形 4"/>
          <p:cNvSpPr/>
          <p:nvPr/>
        </p:nvSpPr>
        <p:spPr>
          <a:xfrm>
            <a:off x="947333" y="1890738"/>
            <a:ext cx="8092758" cy="646331"/>
          </a:xfrm>
          <a:prstGeom prst="rect">
            <a:avLst/>
          </a:prstGeom>
        </p:spPr>
        <p:txBody>
          <a:bodyPr wrap="square">
            <a:spAutoFit/>
          </a:bodyPr>
          <a:lstStyle/>
          <a:p>
            <a:r>
              <a:rPr lang="zh-CN" altLang="en-US" dirty="0"/>
              <a:t>求解在使用深度优先搜索访问到顶点</a:t>
            </a:r>
            <a:r>
              <a:rPr lang="en-US" altLang="zh-CN" dirty="0"/>
              <a:t>k</a:t>
            </a:r>
            <a:r>
              <a:rPr lang="zh-CN" altLang="en-US" dirty="0"/>
              <a:t>的情况下，去判断剩余未访问节点能否在不通过节点</a:t>
            </a:r>
            <a:r>
              <a:rPr lang="en-US" altLang="zh-CN" dirty="0"/>
              <a:t>k</a:t>
            </a:r>
            <a:r>
              <a:rPr lang="zh-CN" altLang="en-US" dirty="0"/>
              <a:t>的情况下到达已访问的节点，</a:t>
            </a:r>
          </a:p>
        </p:txBody>
      </p:sp>
      <p:sp>
        <p:nvSpPr>
          <p:cNvPr id="6" name="矩形 5"/>
          <p:cNvSpPr/>
          <p:nvPr/>
        </p:nvSpPr>
        <p:spPr>
          <a:xfrm>
            <a:off x="947333" y="2563244"/>
            <a:ext cx="6096000" cy="646331"/>
          </a:xfrm>
          <a:prstGeom prst="rect">
            <a:avLst/>
          </a:prstGeom>
        </p:spPr>
        <p:txBody>
          <a:bodyPr>
            <a:spAutoFit/>
          </a:bodyPr>
          <a:lstStyle/>
          <a:p>
            <a:r>
              <a:rPr lang="zh-CN" altLang="en-US" dirty="0"/>
              <a:t>在这里你可能产生疑问，这不是和我们第一个方法是一样的吗？为什么这种方法会降低时间复杂度，</a:t>
            </a:r>
          </a:p>
        </p:txBody>
      </p:sp>
      <p:sp>
        <p:nvSpPr>
          <p:cNvPr id="7" name="矩形 6"/>
          <p:cNvSpPr/>
          <p:nvPr/>
        </p:nvSpPr>
        <p:spPr>
          <a:xfrm>
            <a:off x="754745" y="4260866"/>
            <a:ext cx="8971145" cy="369332"/>
          </a:xfrm>
          <a:prstGeom prst="rect">
            <a:avLst/>
          </a:prstGeom>
        </p:spPr>
        <p:txBody>
          <a:bodyPr wrap="square">
            <a:spAutoFit/>
          </a:bodyPr>
          <a:lstStyle/>
          <a:p>
            <a:r>
              <a:rPr lang="zh-CN" altLang="en-US" dirty="0"/>
              <a:t>继续来看。在这里，我们</a:t>
            </a:r>
            <a:r>
              <a:rPr lang="zh-CN" altLang="en-US" dirty="0" smtClean="0"/>
              <a:t>将详细阐述我们</a:t>
            </a:r>
            <a:r>
              <a:rPr lang="zh-CN" altLang="en-US" dirty="0"/>
              <a:t>判断节点是否能够回到已访问节点的方法</a:t>
            </a:r>
          </a:p>
        </p:txBody>
      </p:sp>
      <p:pic>
        <p:nvPicPr>
          <p:cNvPr id="8" name="图片 7"/>
          <p:cNvPicPr>
            <a:picLocks noChangeAspect="1"/>
          </p:cNvPicPr>
          <p:nvPr/>
        </p:nvPicPr>
        <p:blipFill>
          <a:blip r:embed="rId2"/>
          <a:stretch>
            <a:fillRect/>
          </a:stretch>
        </p:blipFill>
        <p:spPr>
          <a:xfrm>
            <a:off x="3727256" y="3323525"/>
            <a:ext cx="7795936" cy="937341"/>
          </a:xfrm>
          <a:prstGeom prst="rect">
            <a:avLst/>
          </a:prstGeom>
        </p:spPr>
      </p:pic>
    </p:spTree>
    <p:extLst>
      <p:ext uri="{BB962C8B-B14F-4D97-AF65-F5344CB8AC3E}">
        <p14:creationId xmlns:p14="http://schemas.microsoft.com/office/powerpoint/2010/main" val="140406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38788" y="567218"/>
            <a:ext cx="1459992" cy="2698601"/>
            <a:chOff x="2813304" y="2029968"/>
            <a:chExt cx="1664208" cy="3076067"/>
          </a:xfrm>
        </p:grpSpPr>
        <p:sp>
          <p:nvSpPr>
            <p:cNvPr id="5" name="椭圆 4"/>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6" name="椭圆 5"/>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7" name="椭圆 6"/>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8" name="椭圆 7"/>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9" name="椭圆 8"/>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10" name="椭圆 9"/>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11" name="直接连接符 10"/>
            <p:cNvCxnSpPr>
              <a:stCxn id="5" idx="3"/>
              <a:endCxn id="6" idx="0"/>
            </p:cNvCxnSpPr>
            <p:nvPr/>
          </p:nvCxnSpPr>
          <p:spPr>
            <a:xfrm flipH="1">
              <a:off x="3192780" y="2443627"/>
              <a:ext cx="389489"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 idx="5"/>
              <a:endCxn id="7"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6" idx="5"/>
              <a:endCxn id="8"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3"/>
              <a:endCxn id="8"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8" idx="3"/>
              <a:endCxn id="9"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0" idx="0"/>
            </p:cNvCxnSpPr>
            <p:nvPr/>
          </p:nvCxnSpPr>
          <p:spPr>
            <a:xfrm>
              <a:off x="3878366" y="4178574"/>
              <a:ext cx="356830"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6"/>
              <a:endCxn id="10" idx="2"/>
            </p:cNvCxnSpPr>
            <p:nvPr/>
          </p:nvCxnSpPr>
          <p:spPr>
            <a:xfrm>
              <a:off x="3297936" y="4863719"/>
              <a:ext cx="69494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2731087" y="580726"/>
            <a:ext cx="1558062" cy="2671585"/>
            <a:chOff x="4004199" y="2633317"/>
            <a:chExt cx="2058489" cy="3529660"/>
          </a:xfrm>
        </p:grpSpPr>
        <p:grpSp>
          <p:nvGrpSpPr>
            <p:cNvPr id="19" name="组合 18"/>
            <p:cNvGrpSpPr/>
            <p:nvPr/>
          </p:nvGrpSpPr>
          <p:grpSpPr>
            <a:xfrm>
              <a:off x="4004199" y="2763547"/>
              <a:ext cx="1664208" cy="3076067"/>
              <a:chOff x="2813304" y="2029968"/>
              <a:chExt cx="1664208" cy="3076067"/>
            </a:xfrm>
          </p:grpSpPr>
          <p:sp>
            <p:nvSpPr>
              <p:cNvPr id="26" name="椭圆 25"/>
              <p:cNvSpPr/>
              <p:nvPr/>
            </p:nvSpPr>
            <p:spPr>
              <a:xfrm>
                <a:off x="3511296" y="2029968"/>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27" name="椭圆 26"/>
              <p:cNvSpPr/>
              <p:nvPr/>
            </p:nvSpPr>
            <p:spPr>
              <a:xfrm>
                <a:off x="2950464"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4</a:t>
                </a:r>
                <a:endParaRPr lang="zh-CN" altLang="en-US" dirty="0"/>
              </a:p>
            </p:txBody>
          </p:sp>
          <p:sp>
            <p:nvSpPr>
              <p:cNvPr id="28" name="椭圆 27"/>
              <p:cNvSpPr/>
              <p:nvPr/>
            </p:nvSpPr>
            <p:spPr>
              <a:xfrm>
                <a:off x="3992880" y="2886456"/>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29" name="椭圆 28"/>
              <p:cNvSpPr/>
              <p:nvPr/>
            </p:nvSpPr>
            <p:spPr>
              <a:xfrm>
                <a:off x="3464707" y="3764915"/>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30" name="椭圆 29"/>
              <p:cNvSpPr/>
              <p:nvPr/>
            </p:nvSpPr>
            <p:spPr>
              <a:xfrm>
                <a:off x="2813304"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5</a:t>
                </a:r>
                <a:endParaRPr lang="zh-CN" altLang="en-US" dirty="0"/>
              </a:p>
            </p:txBody>
          </p:sp>
          <p:sp>
            <p:nvSpPr>
              <p:cNvPr id="31" name="椭圆 30"/>
              <p:cNvSpPr/>
              <p:nvPr/>
            </p:nvSpPr>
            <p:spPr>
              <a:xfrm>
                <a:off x="3992880" y="4621403"/>
                <a:ext cx="484632" cy="484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6</a:t>
                </a:r>
                <a:endParaRPr lang="zh-CN" altLang="en-US" dirty="0"/>
              </a:p>
            </p:txBody>
          </p:sp>
          <p:cxnSp>
            <p:nvCxnSpPr>
              <p:cNvPr id="32" name="直接连接符 31"/>
              <p:cNvCxnSpPr>
                <a:stCxn id="26" idx="5"/>
                <a:endCxn id="28" idx="0"/>
              </p:cNvCxnSpPr>
              <p:nvPr/>
            </p:nvCxnSpPr>
            <p:spPr>
              <a:xfrm>
                <a:off x="3924955" y="2443627"/>
                <a:ext cx="310241" cy="442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7" idx="5"/>
                <a:endCxn id="29" idx="1"/>
              </p:cNvCxnSpPr>
              <p:nvPr/>
            </p:nvCxnSpPr>
            <p:spPr>
              <a:xfrm>
                <a:off x="3364123" y="3300115"/>
                <a:ext cx="17155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8" idx="3"/>
                <a:endCxn id="29" idx="7"/>
              </p:cNvCxnSpPr>
              <p:nvPr/>
            </p:nvCxnSpPr>
            <p:spPr>
              <a:xfrm flipH="1">
                <a:off x="3878366" y="3300115"/>
                <a:ext cx="185487" cy="535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9" idx="3"/>
                <a:endCxn id="30" idx="0"/>
              </p:cNvCxnSpPr>
              <p:nvPr/>
            </p:nvCxnSpPr>
            <p:spPr>
              <a:xfrm flipH="1">
                <a:off x="3055620" y="4178574"/>
                <a:ext cx="480060" cy="44282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圆角矩形 19"/>
            <p:cNvSpPr/>
            <p:nvPr/>
          </p:nvSpPr>
          <p:spPr>
            <a:xfrm>
              <a:off x="5141429" y="2633317"/>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1</a:t>
              </a:r>
              <a:endParaRPr lang="zh-CN" altLang="en-US" dirty="0"/>
            </a:p>
          </p:txBody>
        </p:sp>
        <p:sp>
          <p:nvSpPr>
            <p:cNvPr id="21" name="圆角矩形 20"/>
            <p:cNvSpPr/>
            <p:nvPr/>
          </p:nvSpPr>
          <p:spPr>
            <a:xfrm>
              <a:off x="5288169"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6</a:t>
              </a:r>
              <a:endParaRPr lang="zh-CN" altLang="en-US" dirty="0"/>
            </a:p>
          </p:txBody>
        </p:sp>
        <p:sp>
          <p:nvSpPr>
            <p:cNvPr id="22" name="圆角矩形 21"/>
            <p:cNvSpPr/>
            <p:nvPr/>
          </p:nvSpPr>
          <p:spPr>
            <a:xfrm>
              <a:off x="5769207" y="3669993"/>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2</a:t>
              </a:r>
              <a:endParaRPr lang="zh-CN" altLang="en-US" dirty="0"/>
            </a:p>
          </p:txBody>
        </p:sp>
        <p:sp>
          <p:nvSpPr>
            <p:cNvPr id="23" name="圆角矩形 22"/>
            <p:cNvSpPr/>
            <p:nvPr/>
          </p:nvSpPr>
          <p:spPr>
            <a:xfrm>
              <a:off x="4577439" y="3549062"/>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4</a:t>
              </a:r>
              <a:endParaRPr lang="zh-CN" altLang="en-US" dirty="0"/>
            </a:p>
          </p:txBody>
        </p:sp>
        <p:sp>
          <p:nvSpPr>
            <p:cNvPr id="24" name="圆角矩形 23"/>
            <p:cNvSpPr/>
            <p:nvPr/>
          </p:nvSpPr>
          <p:spPr>
            <a:xfrm>
              <a:off x="5204234" y="4576869"/>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3</a:t>
              </a:r>
              <a:endParaRPr lang="zh-CN" altLang="en-US" dirty="0"/>
            </a:p>
          </p:txBody>
        </p:sp>
        <p:sp>
          <p:nvSpPr>
            <p:cNvPr id="25" name="圆角矩形 24"/>
            <p:cNvSpPr/>
            <p:nvPr/>
          </p:nvSpPr>
          <p:spPr>
            <a:xfrm>
              <a:off x="4076256" y="5869496"/>
              <a:ext cx="293481" cy="29348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smtClean="0"/>
                <a:t>5</a:t>
              </a:r>
              <a:endParaRPr lang="zh-CN" altLang="en-US" dirty="0"/>
            </a:p>
          </p:txBody>
        </p:sp>
      </p:grpSp>
      <p:cxnSp>
        <p:nvCxnSpPr>
          <p:cNvPr id="38" name="直接连接符 37"/>
          <p:cNvCxnSpPr>
            <a:stCxn id="30" idx="6"/>
            <a:endCxn id="31" idx="2"/>
          </p:cNvCxnSpPr>
          <p:nvPr/>
        </p:nvCxnSpPr>
        <p:spPr>
          <a:xfrm>
            <a:off x="3097903" y="2824151"/>
            <a:ext cx="52600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503214" y="133468"/>
            <a:ext cx="6647974" cy="646331"/>
          </a:xfrm>
          <a:prstGeom prst="rect">
            <a:avLst/>
          </a:prstGeom>
          <a:noFill/>
        </p:spPr>
        <p:txBody>
          <a:bodyPr wrap="none" rtlCol="0">
            <a:spAutoFit/>
          </a:bodyPr>
          <a:lstStyle/>
          <a:p>
            <a:r>
              <a:rPr lang="zh-CN" altLang="en-US" dirty="0" smtClean="0"/>
              <a:t>我们之前使用了时间戳的方法来记录某个节点是第几次访问到的</a:t>
            </a:r>
            <a:endParaRPr lang="en-US" altLang="zh-CN" dirty="0" smtClean="0"/>
          </a:p>
          <a:p>
            <a:r>
              <a:rPr lang="zh-CN" altLang="en-US" dirty="0" smtClean="0"/>
              <a:t>现在假设我是用</a:t>
            </a:r>
            <a:r>
              <a:rPr lang="zh-CN" altLang="en-US" dirty="0" smtClean="0"/>
              <a:t>数组来</a:t>
            </a:r>
            <a:r>
              <a:rPr lang="zh-CN" altLang="en-US" dirty="0" smtClean="0"/>
              <a:t>存储时间戳，那么我会得到这样一个数组</a:t>
            </a:r>
            <a:endParaRPr lang="zh-CN" altLang="en-US" dirty="0"/>
          </a:p>
        </p:txBody>
      </p:sp>
      <p:graphicFrame>
        <p:nvGraphicFramePr>
          <p:cNvPr id="40" name="表格 39"/>
          <p:cNvGraphicFramePr>
            <a:graphicFrameLocks noGrp="1"/>
          </p:cNvGraphicFramePr>
          <p:nvPr>
            <p:extLst>
              <p:ext uri="{D42A27DB-BD31-4B8C-83A1-F6EECF244321}">
                <p14:modId xmlns:p14="http://schemas.microsoft.com/office/powerpoint/2010/main" val="3073061688"/>
              </p:ext>
            </p:extLst>
          </p:nvPr>
        </p:nvGraphicFramePr>
        <p:xfrm>
          <a:off x="7013863" y="1024035"/>
          <a:ext cx="3756179" cy="741680"/>
        </p:xfrm>
        <a:graphic>
          <a:graphicData uri="http://schemas.openxmlformats.org/drawingml/2006/table">
            <a:tbl>
              <a:tblPr firstRow="1" bandRow="1">
                <a:tableStyleId>{5C22544A-7EE6-4342-B048-85BDC9FD1C3A}</a:tableStyleId>
              </a:tblPr>
              <a:tblGrid>
                <a:gridCol w="536597">
                  <a:extLst>
                    <a:ext uri="{9D8B030D-6E8A-4147-A177-3AD203B41FA5}">
                      <a16:colId xmlns:a16="http://schemas.microsoft.com/office/drawing/2014/main" val="1827638367"/>
                    </a:ext>
                  </a:extLst>
                </a:gridCol>
                <a:gridCol w="536597">
                  <a:extLst>
                    <a:ext uri="{9D8B030D-6E8A-4147-A177-3AD203B41FA5}">
                      <a16:colId xmlns:a16="http://schemas.microsoft.com/office/drawing/2014/main" val="1719791054"/>
                    </a:ext>
                  </a:extLst>
                </a:gridCol>
                <a:gridCol w="536597">
                  <a:extLst>
                    <a:ext uri="{9D8B030D-6E8A-4147-A177-3AD203B41FA5}">
                      <a16:colId xmlns:a16="http://schemas.microsoft.com/office/drawing/2014/main" val="981015529"/>
                    </a:ext>
                  </a:extLst>
                </a:gridCol>
                <a:gridCol w="536597">
                  <a:extLst>
                    <a:ext uri="{9D8B030D-6E8A-4147-A177-3AD203B41FA5}">
                      <a16:colId xmlns:a16="http://schemas.microsoft.com/office/drawing/2014/main" val="3301724636"/>
                    </a:ext>
                  </a:extLst>
                </a:gridCol>
                <a:gridCol w="536597">
                  <a:extLst>
                    <a:ext uri="{9D8B030D-6E8A-4147-A177-3AD203B41FA5}">
                      <a16:colId xmlns:a16="http://schemas.microsoft.com/office/drawing/2014/main" val="4180009749"/>
                    </a:ext>
                  </a:extLst>
                </a:gridCol>
                <a:gridCol w="536597">
                  <a:extLst>
                    <a:ext uri="{9D8B030D-6E8A-4147-A177-3AD203B41FA5}">
                      <a16:colId xmlns:a16="http://schemas.microsoft.com/office/drawing/2014/main" val="1905839741"/>
                    </a:ext>
                  </a:extLst>
                </a:gridCol>
                <a:gridCol w="536597">
                  <a:extLst>
                    <a:ext uri="{9D8B030D-6E8A-4147-A177-3AD203B41FA5}">
                      <a16:colId xmlns:a16="http://schemas.microsoft.com/office/drawing/2014/main" val="1965508572"/>
                    </a:ext>
                  </a:extLst>
                </a:gridCol>
              </a:tblGrid>
              <a:tr h="370840">
                <a:tc>
                  <a:txBody>
                    <a:bodyPr/>
                    <a:lstStyle/>
                    <a:p>
                      <a:r>
                        <a:rPr lang="en-US" altLang="zh-CN" sz="1200" dirty="0" smtClean="0"/>
                        <a:t>point</a:t>
                      </a:r>
                      <a:endParaRPr lang="zh-CN" altLang="en-US" sz="1600" dirty="0"/>
                    </a:p>
                  </a:txBody>
                  <a:tcPr/>
                </a:tc>
                <a:tc>
                  <a:txBody>
                    <a:bodyPr/>
                    <a:lstStyle/>
                    <a:p>
                      <a:r>
                        <a:rPr lang="en-US" altLang="zh-CN" dirty="0" smtClean="0"/>
                        <a:t>1</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extLst>
                  <a:ext uri="{0D108BD9-81ED-4DB2-BD59-A6C34878D82A}">
                    <a16:rowId xmlns:a16="http://schemas.microsoft.com/office/drawing/2014/main" val="4148995673"/>
                  </a:ext>
                </a:extLst>
              </a:tr>
              <a:tr h="370840">
                <a:tc>
                  <a:txBody>
                    <a:bodyPr/>
                    <a:lstStyle/>
                    <a:p>
                      <a:r>
                        <a:rPr lang="en-US" altLang="zh-CN" sz="1200" dirty="0" smtClean="0"/>
                        <a:t>order</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extLst>
                  <a:ext uri="{0D108BD9-81ED-4DB2-BD59-A6C34878D82A}">
                    <a16:rowId xmlns:a16="http://schemas.microsoft.com/office/drawing/2014/main" val="205552103"/>
                  </a:ext>
                </a:extLst>
              </a:tr>
            </a:tbl>
          </a:graphicData>
        </a:graphic>
      </p:graphicFrame>
      <p:sp>
        <p:nvSpPr>
          <p:cNvPr id="41" name="文本框 40"/>
          <p:cNvSpPr txBox="1"/>
          <p:nvPr/>
        </p:nvSpPr>
        <p:spPr>
          <a:xfrm>
            <a:off x="4503214" y="2003477"/>
            <a:ext cx="6417141" cy="646331"/>
          </a:xfrm>
          <a:prstGeom prst="rect">
            <a:avLst/>
          </a:prstGeom>
          <a:noFill/>
        </p:spPr>
        <p:txBody>
          <a:bodyPr wrap="none" rtlCol="0">
            <a:spAutoFit/>
          </a:bodyPr>
          <a:lstStyle/>
          <a:p>
            <a:r>
              <a:rPr lang="zh-CN" altLang="en-US" dirty="0" smtClean="0"/>
              <a:t>我们每次测试</a:t>
            </a:r>
            <a:r>
              <a:rPr lang="en-US" altLang="zh-CN" dirty="0" smtClean="0"/>
              <a:t>k</a:t>
            </a:r>
            <a:r>
              <a:rPr lang="zh-CN" altLang="en-US" dirty="0" smtClean="0"/>
              <a:t>节点时，</a:t>
            </a:r>
            <a:endParaRPr lang="en-US" altLang="zh-CN" dirty="0" smtClean="0"/>
          </a:p>
          <a:p>
            <a:r>
              <a:rPr lang="zh-CN" altLang="en-US" dirty="0" smtClean="0"/>
              <a:t>寻找的肯定是其后的节点能否不通过该节点返回到已访问节点</a:t>
            </a:r>
            <a:endParaRPr lang="zh-CN" altLang="en-US" dirty="0"/>
          </a:p>
        </p:txBody>
      </p:sp>
      <p:sp>
        <p:nvSpPr>
          <p:cNvPr id="42" name="文本框 41"/>
          <p:cNvSpPr txBox="1"/>
          <p:nvPr/>
        </p:nvSpPr>
        <p:spPr>
          <a:xfrm>
            <a:off x="4503214" y="2702904"/>
            <a:ext cx="7109639" cy="646331"/>
          </a:xfrm>
          <a:prstGeom prst="rect">
            <a:avLst/>
          </a:prstGeom>
          <a:noFill/>
        </p:spPr>
        <p:txBody>
          <a:bodyPr wrap="none" rtlCol="0">
            <a:spAutoFit/>
          </a:bodyPr>
          <a:lstStyle/>
          <a:p>
            <a:r>
              <a:rPr lang="zh-CN" altLang="en-US" dirty="0" smtClean="0"/>
              <a:t>解释一下“其后”，我们使用深度优先搜索会生成一颗访问顺序树，</a:t>
            </a:r>
            <a:endParaRPr lang="en-US" altLang="zh-CN" dirty="0" smtClean="0"/>
          </a:p>
          <a:p>
            <a:r>
              <a:rPr lang="zh-CN" altLang="en-US" dirty="0" smtClean="0"/>
              <a:t>访问的先后顺序就形成了父子关系，所以其后节点指的就是子节点</a:t>
            </a:r>
            <a:endParaRPr lang="zh-CN" altLang="en-US" dirty="0"/>
          </a:p>
        </p:txBody>
      </p:sp>
      <p:sp>
        <p:nvSpPr>
          <p:cNvPr id="43" name="文本框 42"/>
          <p:cNvSpPr txBox="1"/>
          <p:nvPr/>
        </p:nvSpPr>
        <p:spPr>
          <a:xfrm>
            <a:off x="3007762" y="3444767"/>
            <a:ext cx="8725466" cy="369332"/>
          </a:xfrm>
          <a:prstGeom prst="rect">
            <a:avLst/>
          </a:prstGeom>
          <a:noFill/>
        </p:spPr>
        <p:txBody>
          <a:bodyPr wrap="none" rtlCol="0">
            <a:spAutoFit/>
          </a:bodyPr>
          <a:lstStyle/>
          <a:p>
            <a:r>
              <a:rPr lang="zh-CN" altLang="en-US" dirty="0" smtClean="0"/>
              <a:t>现在我们做这样一个</a:t>
            </a:r>
            <a:r>
              <a:rPr lang="zh-CN" altLang="en-US" dirty="0" smtClean="0"/>
              <a:t>数组，</a:t>
            </a:r>
            <a:r>
              <a:rPr lang="zh-CN" altLang="en-US" dirty="0" smtClean="0"/>
              <a:t>能够存储某节点在不经过父节点所能够回到最早的时间戳</a:t>
            </a:r>
            <a:endParaRPr lang="zh-CN" altLang="en-US" dirty="0"/>
          </a:p>
        </p:txBody>
      </p:sp>
      <p:graphicFrame>
        <p:nvGraphicFramePr>
          <p:cNvPr id="44" name="表格 43"/>
          <p:cNvGraphicFramePr>
            <a:graphicFrameLocks noGrp="1"/>
          </p:cNvGraphicFramePr>
          <p:nvPr>
            <p:extLst>
              <p:ext uri="{D42A27DB-BD31-4B8C-83A1-F6EECF244321}">
                <p14:modId xmlns:p14="http://schemas.microsoft.com/office/powerpoint/2010/main" val="2354083697"/>
              </p:ext>
            </p:extLst>
          </p:nvPr>
        </p:nvGraphicFramePr>
        <p:xfrm>
          <a:off x="7013862" y="3969850"/>
          <a:ext cx="3756179" cy="741680"/>
        </p:xfrm>
        <a:graphic>
          <a:graphicData uri="http://schemas.openxmlformats.org/drawingml/2006/table">
            <a:tbl>
              <a:tblPr firstRow="1" bandRow="1">
                <a:tableStyleId>{5C22544A-7EE6-4342-B048-85BDC9FD1C3A}</a:tableStyleId>
              </a:tblPr>
              <a:tblGrid>
                <a:gridCol w="536597">
                  <a:extLst>
                    <a:ext uri="{9D8B030D-6E8A-4147-A177-3AD203B41FA5}">
                      <a16:colId xmlns:a16="http://schemas.microsoft.com/office/drawing/2014/main" val="1827638367"/>
                    </a:ext>
                  </a:extLst>
                </a:gridCol>
                <a:gridCol w="536597">
                  <a:extLst>
                    <a:ext uri="{9D8B030D-6E8A-4147-A177-3AD203B41FA5}">
                      <a16:colId xmlns:a16="http://schemas.microsoft.com/office/drawing/2014/main" val="1719791054"/>
                    </a:ext>
                  </a:extLst>
                </a:gridCol>
                <a:gridCol w="536597">
                  <a:extLst>
                    <a:ext uri="{9D8B030D-6E8A-4147-A177-3AD203B41FA5}">
                      <a16:colId xmlns:a16="http://schemas.microsoft.com/office/drawing/2014/main" val="981015529"/>
                    </a:ext>
                  </a:extLst>
                </a:gridCol>
                <a:gridCol w="536597">
                  <a:extLst>
                    <a:ext uri="{9D8B030D-6E8A-4147-A177-3AD203B41FA5}">
                      <a16:colId xmlns:a16="http://schemas.microsoft.com/office/drawing/2014/main" val="3301724636"/>
                    </a:ext>
                  </a:extLst>
                </a:gridCol>
                <a:gridCol w="536597">
                  <a:extLst>
                    <a:ext uri="{9D8B030D-6E8A-4147-A177-3AD203B41FA5}">
                      <a16:colId xmlns:a16="http://schemas.microsoft.com/office/drawing/2014/main" val="4180009749"/>
                    </a:ext>
                  </a:extLst>
                </a:gridCol>
                <a:gridCol w="536597">
                  <a:extLst>
                    <a:ext uri="{9D8B030D-6E8A-4147-A177-3AD203B41FA5}">
                      <a16:colId xmlns:a16="http://schemas.microsoft.com/office/drawing/2014/main" val="1905839741"/>
                    </a:ext>
                  </a:extLst>
                </a:gridCol>
                <a:gridCol w="536597">
                  <a:extLst>
                    <a:ext uri="{9D8B030D-6E8A-4147-A177-3AD203B41FA5}">
                      <a16:colId xmlns:a16="http://schemas.microsoft.com/office/drawing/2014/main" val="1965508572"/>
                    </a:ext>
                  </a:extLst>
                </a:gridCol>
              </a:tblGrid>
              <a:tr h="370840">
                <a:tc>
                  <a:txBody>
                    <a:bodyPr/>
                    <a:lstStyle/>
                    <a:p>
                      <a:r>
                        <a:rPr lang="en-US" altLang="zh-CN" sz="1200" dirty="0" smtClean="0"/>
                        <a:t>point</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extLst>
                  <a:ext uri="{0D108BD9-81ED-4DB2-BD59-A6C34878D82A}">
                    <a16:rowId xmlns:a16="http://schemas.microsoft.com/office/drawing/2014/main" val="4148995673"/>
                  </a:ext>
                </a:extLst>
              </a:tr>
              <a:tr h="370840">
                <a:tc>
                  <a:txBody>
                    <a:bodyPr/>
                    <a:lstStyle/>
                    <a:p>
                      <a:r>
                        <a:rPr lang="en-US" altLang="zh-CN" sz="1200" dirty="0" smtClean="0"/>
                        <a:t>order</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1</a:t>
                      </a:r>
                      <a:endParaRPr lang="zh-CN" altLang="en-US" dirty="0"/>
                    </a:p>
                  </a:txBody>
                  <a:tcPr/>
                </a:tc>
                <a:extLst>
                  <a:ext uri="{0D108BD9-81ED-4DB2-BD59-A6C34878D82A}">
                    <a16:rowId xmlns:a16="http://schemas.microsoft.com/office/drawing/2014/main" val="205552103"/>
                  </a:ext>
                </a:extLst>
              </a:tr>
            </a:tbl>
          </a:graphicData>
        </a:graphic>
      </p:graphicFrame>
      <p:sp>
        <p:nvSpPr>
          <p:cNvPr id="2" name="文本框 1"/>
          <p:cNvSpPr txBox="1"/>
          <p:nvPr/>
        </p:nvSpPr>
        <p:spPr>
          <a:xfrm>
            <a:off x="181981" y="4831535"/>
            <a:ext cx="12010019" cy="369332"/>
          </a:xfrm>
          <a:prstGeom prst="rect">
            <a:avLst/>
          </a:prstGeom>
          <a:noFill/>
        </p:spPr>
        <p:txBody>
          <a:bodyPr wrap="none" rtlCol="0">
            <a:spAutoFit/>
          </a:bodyPr>
          <a:lstStyle/>
          <a:p>
            <a:r>
              <a:rPr lang="zh-CN" altLang="en-US" dirty="0" smtClean="0"/>
              <a:t>如果某个点在不经过父节点的 情况下，所能够回到的最早的时间戳为父节点所在的时间点，那么该节点就是一个割点</a:t>
            </a:r>
            <a:endParaRPr lang="zh-CN" altLang="en-US" dirty="0"/>
          </a:p>
        </p:txBody>
      </p:sp>
      <p:sp>
        <p:nvSpPr>
          <p:cNvPr id="3" name="矩形 2"/>
          <p:cNvSpPr/>
          <p:nvPr/>
        </p:nvSpPr>
        <p:spPr>
          <a:xfrm>
            <a:off x="5136339" y="4289118"/>
            <a:ext cx="1967270" cy="369332"/>
          </a:xfrm>
          <a:prstGeom prst="rect">
            <a:avLst/>
          </a:prstGeom>
        </p:spPr>
        <p:txBody>
          <a:bodyPr wrap="none">
            <a:spAutoFit/>
          </a:bodyPr>
          <a:lstStyle/>
          <a:p>
            <a:r>
              <a:rPr lang="en-US" altLang="zh-CN" dirty="0" err="1" smtClean="0"/>
              <a:t>back_access_order</a:t>
            </a:r>
            <a:endParaRPr lang="zh-CN" altLang="en-US" dirty="0"/>
          </a:p>
        </p:txBody>
      </p:sp>
      <p:sp>
        <p:nvSpPr>
          <p:cNvPr id="36" name="矩形 35"/>
          <p:cNvSpPr/>
          <p:nvPr/>
        </p:nvSpPr>
        <p:spPr>
          <a:xfrm>
            <a:off x="5694205" y="1389477"/>
            <a:ext cx="1319657" cy="369332"/>
          </a:xfrm>
          <a:prstGeom prst="rect">
            <a:avLst/>
          </a:prstGeom>
        </p:spPr>
        <p:txBody>
          <a:bodyPr wrap="none">
            <a:spAutoFit/>
          </a:bodyPr>
          <a:lstStyle/>
          <a:p>
            <a:r>
              <a:rPr lang="en-US" altLang="zh-CN" dirty="0" err="1"/>
              <a:t>acess_order</a:t>
            </a:r>
            <a:endParaRPr lang="zh-CN" altLang="en-US" dirty="0"/>
          </a:p>
        </p:txBody>
      </p:sp>
      <p:sp>
        <p:nvSpPr>
          <p:cNvPr id="37" name="矩形 36"/>
          <p:cNvSpPr/>
          <p:nvPr/>
        </p:nvSpPr>
        <p:spPr>
          <a:xfrm>
            <a:off x="171877" y="5393323"/>
            <a:ext cx="5848589" cy="369332"/>
          </a:xfrm>
          <a:prstGeom prst="rect">
            <a:avLst/>
          </a:prstGeom>
        </p:spPr>
        <p:txBody>
          <a:bodyPr wrap="none">
            <a:spAutoFit/>
          </a:bodyPr>
          <a:lstStyle/>
          <a:p>
            <a:r>
              <a:rPr lang="en-US" altLang="zh-CN" dirty="0" err="1" smtClean="0"/>
              <a:t>acess_order</a:t>
            </a:r>
            <a:r>
              <a:rPr lang="en-US" altLang="zh-CN" dirty="0" smtClean="0"/>
              <a:t>[</a:t>
            </a:r>
            <a:r>
              <a:rPr lang="en-US" altLang="zh-CN" dirty="0" err="1" smtClean="0"/>
              <a:t>point_father</a:t>
            </a:r>
            <a:r>
              <a:rPr lang="en-US" altLang="zh-CN" dirty="0" smtClean="0"/>
              <a:t>]&lt;=</a:t>
            </a:r>
            <a:r>
              <a:rPr lang="en-US" altLang="zh-CN" dirty="0" err="1" smtClean="0"/>
              <a:t>back_access_order</a:t>
            </a:r>
            <a:r>
              <a:rPr lang="en-US" altLang="zh-CN" dirty="0" smtClean="0"/>
              <a:t>[</a:t>
            </a:r>
            <a:r>
              <a:rPr lang="en-US" altLang="zh-CN" dirty="0" err="1" smtClean="0"/>
              <a:t>point_child</a:t>
            </a:r>
            <a:r>
              <a:rPr lang="en-US" altLang="zh-CN" dirty="0" smtClean="0"/>
              <a:t>]</a:t>
            </a:r>
            <a:endParaRPr lang="zh-CN" altLang="en-US" dirty="0"/>
          </a:p>
        </p:txBody>
      </p:sp>
      <p:sp>
        <p:nvSpPr>
          <p:cNvPr id="45" name="文本框 44"/>
          <p:cNvSpPr txBox="1"/>
          <p:nvPr/>
        </p:nvSpPr>
        <p:spPr>
          <a:xfrm>
            <a:off x="681439" y="5907914"/>
            <a:ext cx="9187130" cy="369332"/>
          </a:xfrm>
          <a:prstGeom prst="rect">
            <a:avLst/>
          </a:prstGeom>
          <a:noFill/>
        </p:spPr>
        <p:txBody>
          <a:bodyPr wrap="none" rtlCol="0">
            <a:spAutoFit/>
          </a:bodyPr>
          <a:lstStyle/>
          <a:p>
            <a:r>
              <a:rPr lang="zh-CN" altLang="en-US" dirty="0"/>
              <a:t>如</a:t>
            </a:r>
            <a:r>
              <a:rPr lang="zh-CN" altLang="en-US" dirty="0" smtClean="0"/>
              <a:t>果子节点能够回到的时间戳大于或者等于父节点的时间戳，那么该父节点就是一个割点</a:t>
            </a:r>
            <a:endParaRPr lang="zh-CN" altLang="en-US" dirty="0"/>
          </a:p>
        </p:txBody>
      </p:sp>
    </p:spTree>
    <p:extLst>
      <p:ext uri="{BB962C8B-B14F-4D97-AF65-F5344CB8AC3E}">
        <p14:creationId xmlns:p14="http://schemas.microsoft.com/office/powerpoint/2010/main" val="11154262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邻接表</a:t>
            </a:r>
            <a:endParaRPr lang="zh-CN" altLang="en-US" dirty="0"/>
          </a:p>
        </p:txBody>
      </p:sp>
      <p:sp>
        <p:nvSpPr>
          <p:cNvPr id="3" name="内容占位符 2"/>
          <p:cNvSpPr>
            <a:spLocks noGrp="1"/>
          </p:cNvSpPr>
          <p:nvPr>
            <p:ph idx="1"/>
          </p:nvPr>
        </p:nvSpPr>
        <p:spPr/>
        <p:txBody>
          <a:bodyPr/>
          <a:lstStyle/>
          <a:p>
            <a:r>
              <a:rPr lang="en-US" altLang="zh-CN" dirty="0" smtClean="0"/>
              <a:t>[</a:t>
            </a:r>
            <a:r>
              <a:rPr lang="zh-CN" altLang="en-US" dirty="0"/>
              <a:t>文件</a:t>
            </a:r>
            <a:r>
              <a:rPr lang="en-US" altLang="zh-CN" dirty="0" smtClean="0"/>
              <a:t>]!</a:t>
            </a:r>
            <a:r>
              <a:rPr lang="zh-CN" altLang="en-US" dirty="0" smtClean="0"/>
              <a:t>图的割边割点</a:t>
            </a:r>
            <a:r>
              <a:rPr lang="en-US" altLang="zh-CN" dirty="0" smtClean="0"/>
              <a:t>-</a:t>
            </a:r>
            <a:r>
              <a:rPr lang="zh-CN" altLang="en-US" smtClean="0"/>
              <a:t>邻接表部分</a:t>
            </a:r>
            <a:endParaRPr lang="zh-CN" altLang="en-US" dirty="0"/>
          </a:p>
        </p:txBody>
      </p:sp>
    </p:spTree>
    <p:extLst>
      <p:ext uri="{BB962C8B-B14F-4D97-AF65-F5344CB8AC3E}">
        <p14:creationId xmlns:p14="http://schemas.microsoft.com/office/powerpoint/2010/main" val="1149025000"/>
      </p:ext>
    </p:extLst>
  </p:cSld>
  <p:clrMapOvr>
    <a:masterClrMapping/>
  </p:clrMapOvr>
</p:sld>
</file>

<file path=ppt/theme/theme1.xml><?xml version="1.0" encoding="utf-8"?>
<a:theme xmlns:a="http://schemas.openxmlformats.org/drawingml/2006/main" name="A000120141119A01PPBG">
  <a:themeElements>
    <a:clrScheme name="自定义 341">
      <a:dk1>
        <a:srgbClr val="5F5F5F"/>
      </a:dk1>
      <a:lt1>
        <a:srgbClr val="FFFFFF"/>
      </a:lt1>
      <a:dk2>
        <a:srgbClr val="5F5F5F"/>
      </a:dk2>
      <a:lt2>
        <a:srgbClr val="5F5F5F"/>
      </a:lt2>
      <a:accent1>
        <a:srgbClr val="D47348"/>
      </a:accent1>
      <a:accent2>
        <a:srgbClr val="D4A444"/>
      </a:accent2>
      <a:accent3>
        <a:srgbClr val="EE96CC"/>
      </a:accent3>
      <a:accent4>
        <a:srgbClr val="B6ACDD"/>
      </a:accent4>
      <a:accent5>
        <a:srgbClr val="AA8FFF"/>
      </a:accent5>
      <a:accent6>
        <a:srgbClr val="FFC000"/>
      </a:accent6>
      <a:hlink>
        <a:srgbClr val="00B0F0"/>
      </a:hlink>
      <a:folHlink>
        <a:srgbClr val="7F7F7F"/>
      </a:folHlink>
    </a:clrScheme>
    <a:fontScheme name="自定义 12">
      <a:majorFont>
        <a:latin typeface="Tempus Sans ITC"/>
        <a:ea typeface="幼圆"/>
        <a:cs typeface=""/>
      </a:majorFont>
      <a:minorFont>
        <a:latin typeface="Calibri"/>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A000120150128A09KPBG</Template>
  <TotalTime>77</TotalTime>
  <Words>554</Words>
  <Application>Microsoft Office PowerPoint</Application>
  <PresentationFormat>宽屏</PresentationFormat>
  <Paragraphs>133</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等线</vt:lpstr>
      <vt:lpstr>幼圆</vt:lpstr>
      <vt:lpstr>Arial</vt:lpstr>
      <vt:lpstr>Calibri</vt:lpstr>
      <vt:lpstr>Open Sans</vt:lpstr>
      <vt:lpstr>Tempus Sans ITC</vt:lpstr>
      <vt:lpstr>Webdings</vt:lpstr>
      <vt:lpstr>A000120141119A01PPBG</vt:lpstr>
      <vt:lpstr>图的割点</vt:lpstr>
      <vt:lpstr>找出割点</vt:lpstr>
      <vt:lpstr>PowerPoint 演示文稿</vt:lpstr>
      <vt:lpstr>PowerPoint 演示文稿</vt:lpstr>
      <vt:lpstr>PowerPoint 演示文稿</vt:lpstr>
      <vt:lpstr>PowerPoint 演示文稿</vt:lpstr>
      <vt:lpstr>邻接表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图的割点</dc:title>
  <dc:creator>Tortoise -</dc:creator>
  <cp:lastModifiedBy>Tortoise -</cp:lastModifiedBy>
  <cp:revision>9</cp:revision>
  <dcterms:created xsi:type="dcterms:W3CDTF">2018-08-29T15:50:56Z</dcterms:created>
  <dcterms:modified xsi:type="dcterms:W3CDTF">2018-08-30T09:39:22Z</dcterms:modified>
</cp:coreProperties>
</file>