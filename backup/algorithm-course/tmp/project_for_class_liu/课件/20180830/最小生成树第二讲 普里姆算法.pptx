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248" t="6490" r="-124" b="10619"/>
          <a:stretch/>
        </p:blipFill>
        <p:spPr>
          <a:xfrm>
            <a:off x="478972" y="0"/>
            <a:ext cx="11713028" cy="6858000"/>
          </a:xfrm>
          <a:prstGeom prst="rect">
            <a:avLst/>
          </a:prstGeom>
        </p:spPr>
      </p:pic>
      <p:sp>
        <p:nvSpPr>
          <p:cNvPr id="4"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
        <p:nvSpPr>
          <p:cNvPr id="3" name="KSO_CT2"/>
          <p:cNvSpPr>
            <a:spLocks noGrp="1"/>
          </p:cNvSpPr>
          <p:nvPr>
            <p:ph type="subTitle" idx="1" hasCustomPrompt="1"/>
          </p:nvPr>
        </p:nvSpPr>
        <p:spPr>
          <a:xfrm rot="20534420">
            <a:off x="5491410" y="3712154"/>
            <a:ext cx="6772956" cy="467211"/>
          </a:xfrm>
          <a:noFill/>
        </p:spPr>
        <p:txBody>
          <a:bodyPr>
            <a:noAutofit/>
          </a:bodyPr>
          <a:lstStyle>
            <a:lvl1pPr marL="0" indent="0" algn="l">
              <a:buNone/>
              <a:defRPr sz="1800">
                <a:solidFill>
                  <a:schemeClr val="bg1">
                    <a:lumMod val="50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单击此处添加您的副标题</a:t>
            </a:r>
          </a:p>
        </p:txBody>
      </p:sp>
      <p:sp>
        <p:nvSpPr>
          <p:cNvPr id="7" name="KSO_CT1"/>
          <p:cNvSpPr>
            <a:spLocks noGrp="1"/>
          </p:cNvSpPr>
          <p:nvPr>
            <p:ph type="title" hasCustomPrompt="1"/>
          </p:nvPr>
        </p:nvSpPr>
        <p:spPr>
          <a:xfrm rot="20534420">
            <a:off x="5115495" y="2448663"/>
            <a:ext cx="6772956" cy="1289381"/>
          </a:xfrm>
        </p:spPr>
        <p:txBody>
          <a:bodyPr>
            <a:noAutofit/>
          </a:bodyPr>
          <a:lstStyle>
            <a:lvl1pPr algn="l">
              <a:lnSpc>
                <a:spcPct val="100000"/>
              </a:lnSpc>
              <a:defRPr sz="32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spTree>
    <p:extLst>
      <p:ext uri="{BB962C8B-B14F-4D97-AF65-F5344CB8AC3E}">
        <p14:creationId xmlns:p14="http://schemas.microsoft.com/office/powerpoint/2010/main" val="334036223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4967">
          <p15:clr>
            <a:srgbClr val="FBAE40"/>
          </p15:clr>
        </p15:guide>
        <p15:guide id="0" orient="horz" pos="2160">
          <p15:clr>
            <a:srgbClr val="FBAE40"/>
          </p15:clr>
        </p15:guide>
        <p15:guide id="2"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idx="1"/>
          </p:nvPr>
        </p:nvSpPr>
        <p:spPr/>
        <p:txBody>
          <a:bodyPr/>
          <a:lstStyle>
            <a:lvl1pPr>
              <a:defRPr>
                <a:solidFill>
                  <a:schemeClr val="accent1">
                    <a:lumMod val="75000"/>
                  </a:schemeClr>
                </a:solidFill>
              </a:defRPr>
            </a:lvl1pPr>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79456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5" y="2108200"/>
            <a:ext cx="7994651" cy="1235075"/>
          </a:xfrm>
        </p:spPr>
        <p:txBody>
          <a:bodyPr anchor="b">
            <a:normAutofit/>
          </a:bodyPr>
          <a:lstStyle>
            <a:lvl1pPr algn="ctr">
              <a:defRPr sz="36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3" y="3400425"/>
            <a:ext cx="4090217" cy="357478"/>
          </a:xfrm>
          <a:prstGeom prst="roundRect">
            <a:avLst>
              <a:gd name="adj" fmla="val 50000"/>
            </a:avLst>
          </a:prstGeom>
          <a:solidFill>
            <a:schemeClr val="tx2">
              <a:lumMod val="40000"/>
              <a:lumOff val="60000"/>
            </a:schemeClr>
          </a:solidFill>
        </p:spPr>
        <p:txBody>
          <a:bodyPr anchor="ctr">
            <a:normAutofit/>
          </a:bodyPr>
          <a:lstStyle>
            <a:lvl1pPr marL="0" indent="0" algn="ctr">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855259549"/>
      </p:ext>
    </p:extLst>
  </p:cSld>
  <p:clrMapOvr>
    <a:masterClrMapping/>
  </p:clrMapOvr>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smtClean="0"/>
              <a:t>编辑母版文本样式</a:t>
            </a:r>
          </a:p>
          <a:p>
            <a:pPr lvl="1"/>
            <a:r>
              <a:rPr lang="zh-CN" altLang="en-US" smtClean="0"/>
              <a:t>第二级</a:t>
            </a:r>
          </a:p>
        </p:txBody>
      </p:sp>
      <p:sp>
        <p:nvSpPr>
          <p:cNvPr id="4" name="KSO_BC2"/>
          <p:cNvSpPr>
            <a:spLocks noGrp="1"/>
          </p:cNvSpPr>
          <p:nvPr>
            <p:ph sz="half" idx="2"/>
          </p:nvPr>
        </p:nvSpPr>
        <p:spPr>
          <a:xfrm>
            <a:off x="6519333" y="1244601"/>
            <a:ext cx="5094116" cy="4932363"/>
          </a:xfrm>
        </p:spPr>
        <p:txBody>
          <a:bodyPr/>
          <a:lstStyle/>
          <a:p>
            <a:pPr lvl="0"/>
            <a:r>
              <a:rPr lang="zh-CN" altLang="en-US" smtClean="0"/>
              <a:t>编辑母版文本样式</a:t>
            </a:r>
          </a:p>
          <a:p>
            <a:pPr lvl="1"/>
            <a:r>
              <a:rPr lang="zh-CN" altLang="en-US" smtClean="0"/>
              <a:t>第二级</a:t>
            </a:r>
          </a:p>
        </p:txBody>
      </p:sp>
      <p:sp>
        <p:nvSpPr>
          <p:cNvPr id="5"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22673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smtClean="0"/>
              <a:t>编辑母版文本样式</a:t>
            </a:r>
          </a:p>
          <a:p>
            <a:pPr lvl="1"/>
            <a:r>
              <a:rPr lang="zh-CN" altLang="en-US" smtClean="0"/>
              <a:t>第二级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smtClean="0"/>
              <a:t>编辑母版文本样式</a:t>
            </a:r>
          </a:p>
          <a:p>
            <a:pPr lvl="1"/>
            <a:r>
              <a:rPr lang="zh-CN" altLang="en-US" smtClean="0"/>
              <a:t>第二级</a:t>
            </a:r>
          </a:p>
        </p:txBody>
      </p:sp>
      <p:sp>
        <p:nvSpPr>
          <p:cNvPr id="7"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695021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64139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159735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084366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04605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198816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smtClean="0"/>
              <a:t>编辑母版文本样式</a:t>
            </a:r>
          </a:p>
          <a:p>
            <a:pPr lvl="1"/>
            <a:r>
              <a:rPr lang="zh-CN" altLang="en-US" smtClean="0"/>
              <a:t>第二级</a:t>
            </a:r>
          </a:p>
        </p:txBody>
      </p:sp>
      <p:sp>
        <p:nvSpPr>
          <p:cNvPr id="4" name="KSO_FD"/>
          <p:cNvSpPr>
            <a:spLocks noGrp="1"/>
          </p:cNvSpPr>
          <p:nvPr>
            <p:ph type="dt" sz="half" idx="10"/>
          </p:nvPr>
        </p:nvSpPr>
        <p:spPr/>
        <p:txBody>
          <a:bodyPr/>
          <a:lstStyle/>
          <a:p>
            <a:fld id="{42DA1B6C-5A60-4FFC-A360-8B70688794E5}" type="datetimeFigureOut">
              <a:rPr lang="zh-CN" altLang="en-US" smtClean="0"/>
              <a:t>2018/8/30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02B8DB8-5808-4BF9-861F-82DA078EFFFE}" type="slidenum">
              <a:rPr lang="zh-CN" altLang="en-US" smtClean="0"/>
              <a:t>‹#›</a:t>
            </a:fld>
            <a:endParaRPr lang="zh-CN" altLang="en-US"/>
          </a:p>
        </p:txBody>
      </p:sp>
    </p:spTree>
    <p:extLst>
      <p:ext uri="{BB962C8B-B14F-4D97-AF65-F5344CB8AC3E}">
        <p14:creationId xmlns:p14="http://schemas.microsoft.com/office/powerpoint/2010/main" val="338045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13" cstate="print">
            <a:extLst>
              <a:ext uri="{28A0092B-C50C-407E-A947-70E740481C1C}">
                <a14:useLocalDpi xmlns:a14="http://schemas.microsoft.com/office/drawing/2010/main" val="0"/>
              </a:ext>
            </a:extLst>
          </a:blip>
          <a:srcRect l="44077"/>
          <a:stretch/>
        </p:blipFill>
        <p:spPr>
          <a:xfrm>
            <a:off x="9834880" y="0"/>
            <a:ext cx="2357120" cy="3744686"/>
          </a:xfrm>
          <a:prstGeom prst="rect">
            <a:avLst/>
          </a:prstGeom>
        </p:spPr>
      </p:pic>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DA1B6C-5A60-4FFC-A360-8B70688794E5}" type="datetimeFigureOut">
              <a:rPr lang="zh-CN" altLang="en-US" smtClean="0"/>
              <a:t>2018/8/30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B8DB8-5808-4BF9-861F-82DA078EFFFE}" type="slidenum">
              <a:rPr lang="zh-CN" altLang="en-US" smtClean="0"/>
              <a:t>‹#›</a:t>
            </a:fld>
            <a:endParaRPr lang="zh-CN" altLang="en-US"/>
          </a:p>
        </p:txBody>
      </p:sp>
      <p:sp>
        <p:nvSpPr>
          <p:cNvPr id="2" name="KSO_BT1"/>
          <p:cNvSpPr>
            <a:spLocks noGrp="1"/>
          </p:cNvSpPr>
          <p:nvPr>
            <p:ph type="title"/>
          </p:nvPr>
        </p:nvSpPr>
        <p:spPr>
          <a:xfrm>
            <a:off x="558798" y="169414"/>
            <a:ext cx="11056060" cy="796011"/>
          </a:xfrm>
          <a:prstGeom prst="rect">
            <a:avLst/>
          </a:prstGeom>
        </p:spPr>
        <p:txBody>
          <a:bodyPr vert="horz" lIns="91440" tIns="45720" rIns="91440" bIns="45720" rtlCol="0" anchor="b">
            <a:normAutofit/>
          </a:bodyPr>
          <a:lstStyle/>
          <a:p>
            <a:r>
              <a:rPr lang="zh-CN" altLang="en-US" dirty="0" smtClean="0"/>
              <a:t>单击此处编辑母版标题样式</a:t>
            </a:r>
            <a:endParaRPr lang="en-US" dirty="0"/>
          </a:p>
        </p:txBody>
      </p:sp>
      <p:sp>
        <p:nvSpPr>
          <p:cNvPr id="3" name="KSO_BC1"/>
          <p:cNvSpPr>
            <a:spLocks noGrp="1"/>
          </p:cNvSpPr>
          <p:nvPr>
            <p:ph type="body" idx="1"/>
          </p:nvPr>
        </p:nvSpPr>
        <p:spPr>
          <a:xfrm>
            <a:off x="558798" y="1219200"/>
            <a:ext cx="11056060" cy="506312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p:txBody>
      </p:sp>
    </p:spTree>
    <p:extLst>
      <p:ext uri="{BB962C8B-B14F-4D97-AF65-F5344CB8AC3E}">
        <p14:creationId xmlns:p14="http://schemas.microsoft.com/office/powerpoint/2010/main" val="215109487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1" i="0" kern="1200" baseline="0">
          <a:solidFill>
            <a:schemeClr val="accent1"/>
          </a:solidFill>
          <a:effectLst/>
          <a:latin typeface="+mj-ea"/>
          <a:ea typeface="+mj-ea"/>
          <a:cs typeface="+mj-cs"/>
        </a:defRPr>
      </a:lvl1pPr>
    </p:titleStyle>
    <p:bodyStyle>
      <a:lvl1pPr marL="357188" indent="-357188" algn="just" defTabSz="914400" rtl="0" eaLnBrk="1" latinLnBrk="0" hangingPunct="1">
        <a:lnSpc>
          <a:spcPct val="110000"/>
        </a:lnSpc>
        <a:spcBef>
          <a:spcPts val="600"/>
        </a:spcBef>
        <a:spcAft>
          <a:spcPts val="0"/>
        </a:spcAft>
        <a:buClr>
          <a:schemeClr val="accent1"/>
        </a:buClr>
        <a:buSzPct val="60000"/>
        <a:buFont typeface="Wingdings" panose="05000000000000000000" pitchFamily="2" charset="2"/>
        <a:buChar char=""/>
        <a:defRPr lang="zh-CN" altLang="en-US" sz="2800" kern="1200" baseline="0" dirty="0" smtClean="0">
          <a:solidFill>
            <a:schemeClr val="accent1"/>
          </a:solidFill>
          <a:latin typeface="+mn-ea"/>
          <a:ea typeface="+mn-ea"/>
          <a:cs typeface="+mn-cs"/>
        </a:defRPr>
      </a:lvl1pPr>
      <a:lvl2pPr marL="357188" indent="-357188" algn="just" defTabSz="914400" rtl="0" eaLnBrk="1" latinLnBrk="0" hangingPunct="1">
        <a:lnSpc>
          <a:spcPct val="120000"/>
        </a:lnSpc>
        <a:spcBef>
          <a:spcPts val="0"/>
        </a:spcBef>
        <a:spcAft>
          <a:spcPts val="6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dirty="0"/>
          </a:p>
        </p:txBody>
      </p:sp>
      <p:sp>
        <p:nvSpPr>
          <p:cNvPr id="2" name="标题 1"/>
          <p:cNvSpPr>
            <a:spLocks noGrp="1"/>
          </p:cNvSpPr>
          <p:nvPr>
            <p:ph type="title"/>
          </p:nvPr>
        </p:nvSpPr>
        <p:spPr/>
        <p:txBody>
          <a:bodyPr/>
          <a:lstStyle/>
          <a:p>
            <a:r>
              <a:rPr lang="en-US" altLang="zh-CN" dirty="0" smtClean="0"/>
              <a:t>Prim algorithm</a:t>
            </a:r>
            <a:r>
              <a:rPr lang="zh-CN" altLang="en-US" dirty="0" smtClean="0"/>
              <a:t> </a:t>
            </a:r>
            <a:endParaRPr lang="zh-CN" altLang="en-US" dirty="0"/>
          </a:p>
        </p:txBody>
      </p:sp>
    </p:spTree>
    <p:extLst>
      <p:ext uri="{BB962C8B-B14F-4D97-AF65-F5344CB8AC3E}">
        <p14:creationId xmlns:p14="http://schemas.microsoft.com/office/powerpoint/2010/main" val="287522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核心</a:t>
            </a:r>
            <a:endParaRPr lang="zh-CN" altLang="en-US" dirty="0"/>
          </a:p>
        </p:txBody>
      </p:sp>
      <p:sp>
        <p:nvSpPr>
          <p:cNvPr id="3" name="内容占位符 2"/>
          <p:cNvSpPr>
            <a:spLocks noGrp="1"/>
          </p:cNvSpPr>
          <p:nvPr>
            <p:ph idx="1"/>
          </p:nvPr>
        </p:nvSpPr>
        <p:spPr>
          <a:xfrm>
            <a:off x="558798" y="1034450"/>
            <a:ext cx="11056060" cy="5063129"/>
          </a:xfrm>
        </p:spPr>
        <p:txBody>
          <a:bodyPr/>
          <a:lstStyle/>
          <a:p>
            <a:r>
              <a:rPr lang="zh-CN" altLang="en-US" dirty="0" smtClean="0"/>
              <a:t>从某点开始依次在未选择的边中选择能够到达未访问的顶点的最小值</a:t>
            </a:r>
            <a:endParaRPr lang="zh-CN" altLang="en-US" dirty="0"/>
          </a:p>
        </p:txBody>
      </p:sp>
      <p:grpSp>
        <p:nvGrpSpPr>
          <p:cNvPr id="4" name="组合 3"/>
          <p:cNvGrpSpPr/>
          <p:nvPr/>
        </p:nvGrpSpPr>
        <p:grpSpPr>
          <a:xfrm>
            <a:off x="911352" y="2688336"/>
            <a:ext cx="4304794" cy="2260765"/>
            <a:chOff x="3819144" y="1627632"/>
            <a:chExt cx="4304794" cy="2260765"/>
          </a:xfrm>
        </p:grpSpPr>
        <p:sp>
          <p:nvSpPr>
            <p:cNvPr id="5" name="椭圆 4"/>
            <p:cNvSpPr/>
            <p:nvPr/>
          </p:nvSpPr>
          <p:spPr>
            <a:xfrm>
              <a:off x="5010912" y="1627632"/>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6" name="椭圆 5"/>
            <p:cNvSpPr/>
            <p:nvPr/>
          </p:nvSpPr>
          <p:spPr>
            <a:xfrm>
              <a:off x="6388608" y="1627632"/>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7" name="椭圆 6"/>
            <p:cNvSpPr/>
            <p:nvPr/>
          </p:nvSpPr>
          <p:spPr>
            <a:xfrm>
              <a:off x="3819144" y="2456688"/>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8" name="椭圆 7"/>
            <p:cNvSpPr/>
            <p:nvPr/>
          </p:nvSpPr>
          <p:spPr>
            <a:xfrm>
              <a:off x="5010912" y="3358045"/>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9" name="椭圆 8"/>
            <p:cNvSpPr/>
            <p:nvPr/>
          </p:nvSpPr>
          <p:spPr>
            <a:xfrm>
              <a:off x="6388608" y="3358045"/>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7593586" y="2456688"/>
              <a:ext cx="530352" cy="5303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11" name="直接连接符 10"/>
            <p:cNvCxnSpPr>
              <a:endCxn id="6" idx="2"/>
            </p:cNvCxnSpPr>
            <p:nvPr/>
          </p:nvCxnSpPr>
          <p:spPr>
            <a:xfrm>
              <a:off x="5541264" y="1892808"/>
              <a:ext cx="847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3"/>
              <a:endCxn id="8" idx="7"/>
            </p:cNvCxnSpPr>
            <p:nvPr/>
          </p:nvCxnSpPr>
          <p:spPr>
            <a:xfrm flipH="1">
              <a:off x="5463596" y="2080316"/>
              <a:ext cx="1002680" cy="1355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5" idx="4"/>
              <a:endCxn id="8" idx="0"/>
            </p:cNvCxnSpPr>
            <p:nvPr/>
          </p:nvCxnSpPr>
          <p:spPr>
            <a:xfrm>
              <a:off x="5276088" y="2157984"/>
              <a:ext cx="0" cy="1200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7" idx="0"/>
            </p:cNvCxnSpPr>
            <p:nvPr/>
          </p:nvCxnSpPr>
          <p:spPr>
            <a:xfrm flipH="1">
              <a:off x="4084320" y="1892808"/>
              <a:ext cx="926592" cy="563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4"/>
              <a:endCxn id="8" idx="2"/>
            </p:cNvCxnSpPr>
            <p:nvPr/>
          </p:nvCxnSpPr>
          <p:spPr>
            <a:xfrm>
              <a:off x="4084320" y="2987040"/>
              <a:ext cx="926592" cy="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4"/>
              <a:endCxn id="9" idx="0"/>
            </p:cNvCxnSpPr>
            <p:nvPr/>
          </p:nvCxnSpPr>
          <p:spPr>
            <a:xfrm>
              <a:off x="6653784" y="2157984"/>
              <a:ext cx="0" cy="1200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6"/>
              <a:endCxn id="9" idx="2"/>
            </p:cNvCxnSpPr>
            <p:nvPr/>
          </p:nvCxnSpPr>
          <p:spPr>
            <a:xfrm>
              <a:off x="5541264" y="3623221"/>
              <a:ext cx="847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6" idx="6"/>
              <a:endCxn id="10" idx="1"/>
            </p:cNvCxnSpPr>
            <p:nvPr/>
          </p:nvCxnSpPr>
          <p:spPr>
            <a:xfrm>
              <a:off x="6918960" y="1892808"/>
              <a:ext cx="752294" cy="6415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a:endCxn id="9" idx="6"/>
            </p:cNvCxnSpPr>
            <p:nvPr/>
          </p:nvCxnSpPr>
          <p:spPr>
            <a:xfrm flipH="1">
              <a:off x="6918960" y="2955039"/>
              <a:ext cx="726694" cy="668182"/>
            </a:xfrm>
            <a:prstGeom prst="line">
              <a:avLst/>
            </a:prstGeom>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198676" y="1901952"/>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1" name="矩形 20"/>
            <p:cNvSpPr/>
            <p:nvPr/>
          </p:nvSpPr>
          <p:spPr>
            <a:xfrm>
              <a:off x="5770654" y="1643606"/>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t>11</a:t>
              </a:r>
              <a:endParaRPr lang="zh-CN" altLang="en-US" sz="1400" dirty="0"/>
            </a:p>
          </p:txBody>
        </p:sp>
        <p:sp>
          <p:nvSpPr>
            <p:cNvPr id="22" name="矩形 21"/>
            <p:cNvSpPr/>
            <p:nvPr/>
          </p:nvSpPr>
          <p:spPr>
            <a:xfrm>
              <a:off x="7318784" y="2004004"/>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3" name="矩形 22"/>
            <p:cNvSpPr/>
            <p:nvPr/>
          </p:nvSpPr>
          <p:spPr>
            <a:xfrm>
              <a:off x="4185411" y="3309983"/>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4" name="矩形 23"/>
            <p:cNvSpPr/>
            <p:nvPr/>
          </p:nvSpPr>
          <p:spPr>
            <a:xfrm>
              <a:off x="5827326" y="2645972"/>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a:t>
              </a:r>
              <a:endParaRPr lang="zh-CN" altLang="en-US" dirty="0"/>
            </a:p>
          </p:txBody>
        </p:sp>
        <p:sp>
          <p:nvSpPr>
            <p:cNvPr id="25" name="矩形 24"/>
            <p:cNvSpPr/>
            <p:nvPr/>
          </p:nvSpPr>
          <p:spPr>
            <a:xfrm>
              <a:off x="5129164" y="2602992"/>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sp>
          <p:nvSpPr>
            <p:cNvPr id="26" name="矩形 25"/>
            <p:cNvSpPr/>
            <p:nvPr/>
          </p:nvSpPr>
          <p:spPr>
            <a:xfrm>
              <a:off x="5798339" y="3600177"/>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t>13</a:t>
              </a:r>
              <a:endParaRPr lang="zh-CN" altLang="en-US" dirty="0"/>
            </a:p>
          </p:txBody>
        </p:sp>
        <p:sp>
          <p:nvSpPr>
            <p:cNvPr id="27" name="矩形 26"/>
            <p:cNvSpPr/>
            <p:nvPr/>
          </p:nvSpPr>
          <p:spPr>
            <a:xfrm>
              <a:off x="7282307" y="3268554"/>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28" name="矩形 27"/>
            <p:cNvSpPr/>
            <p:nvPr/>
          </p:nvSpPr>
          <p:spPr>
            <a:xfrm>
              <a:off x="6653784" y="2609396"/>
              <a:ext cx="388564" cy="237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grpSp>
      <p:sp>
        <p:nvSpPr>
          <p:cNvPr id="29" name="椭圆 28"/>
          <p:cNvSpPr/>
          <p:nvPr/>
        </p:nvSpPr>
        <p:spPr>
          <a:xfrm>
            <a:off x="909701" y="3502460"/>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1</a:t>
            </a:r>
            <a:endParaRPr lang="zh-CN" altLang="en-US" dirty="0"/>
          </a:p>
        </p:txBody>
      </p:sp>
      <p:sp>
        <p:nvSpPr>
          <p:cNvPr id="30" name="椭圆 29"/>
          <p:cNvSpPr/>
          <p:nvPr/>
        </p:nvSpPr>
        <p:spPr>
          <a:xfrm>
            <a:off x="2089264" y="2695262"/>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2</a:t>
            </a:r>
            <a:endParaRPr lang="zh-CN" altLang="en-US" dirty="0"/>
          </a:p>
        </p:txBody>
      </p:sp>
      <p:cxnSp>
        <p:nvCxnSpPr>
          <p:cNvPr id="31" name="直接连接符 30"/>
          <p:cNvCxnSpPr/>
          <p:nvPr/>
        </p:nvCxnSpPr>
        <p:spPr>
          <a:xfrm flipH="1">
            <a:off x="1162672" y="2960438"/>
            <a:ext cx="926592" cy="563880"/>
          </a:xfrm>
          <a:prstGeom prst="line">
            <a:avLst/>
          </a:prstGeom>
        </p:spPr>
        <p:style>
          <a:lnRef idx="2">
            <a:schemeClr val="accent4">
              <a:shade val="50000"/>
            </a:schemeClr>
          </a:lnRef>
          <a:fillRef idx="1">
            <a:schemeClr val="accent4"/>
          </a:fillRef>
          <a:effectRef idx="0">
            <a:schemeClr val="accent4"/>
          </a:effectRef>
          <a:fontRef idx="minor">
            <a:schemeClr val="lt1"/>
          </a:fontRef>
        </p:style>
      </p:cxnSp>
      <p:sp>
        <p:nvSpPr>
          <p:cNvPr id="32" name="椭圆 31"/>
          <p:cNvSpPr/>
          <p:nvPr/>
        </p:nvSpPr>
        <p:spPr>
          <a:xfrm>
            <a:off x="2089264" y="4415284"/>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3</a:t>
            </a:r>
            <a:endParaRPr lang="zh-CN" altLang="en-US" dirty="0"/>
          </a:p>
        </p:txBody>
      </p:sp>
      <p:cxnSp>
        <p:nvCxnSpPr>
          <p:cNvPr id="33" name="直接连接符 32"/>
          <p:cNvCxnSpPr>
            <a:endCxn id="32" idx="2"/>
          </p:cNvCxnSpPr>
          <p:nvPr/>
        </p:nvCxnSpPr>
        <p:spPr>
          <a:xfrm>
            <a:off x="1162672" y="4044279"/>
            <a:ext cx="926592" cy="636181"/>
          </a:xfrm>
          <a:prstGeom prst="line">
            <a:avLst/>
          </a:prstGeom>
        </p:spPr>
        <p:style>
          <a:lnRef idx="2">
            <a:schemeClr val="accent4">
              <a:shade val="50000"/>
            </a:schemeClr>
          </a:lnRef>
          <a:fillRef idx="1">
            <a:schemeClr val="accent4"/>
          </a:fillRef>
          <a:effectRef idx="0">
            <a:schemeClr val="accent4"/>
          </a:effectRef>
          <a:fontRef idx="minor">
            <a:schemeClr val="lt1"/>
          </a:fontRef>
        </p:style>
      </p:cxnSp>
      <p:sp>
        <p:nvSpPr>
          <p:cNvPr id="34" name="椭圆 33"/>
          <p:cNvSpPr/>
          <p:nvPr/>
        </p:nvSpPr>
        <p:spPr>
          <a:xfrm>
            <a:off x="3467341" y="2687772"/>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4</a:t>
            </a:r>
            <a:endParaRPr lang="zh-CN" altLang="en-US" dirty="0"/>
          </a:p>
        </p:txBody>
      </p:sp>
      <p:cxnSp>
        <p:nvCxnSpPr>
          <p:cNvPr id="35" name="直接连接符 34"/>
          <p:cNvCxnSpPr>
            <a:stCxn id="34" idx="3"/>
          </p:cNvCxnSpPr>
          <p:nvPr/>
        </p:nvCxnSpPr>
        <p:spPr>
          <a:xfrm flipH="1">
            <a:off x="2542329" y="3140456"/>
            <a:ext cx="1002680" cy="1355397"/>
          </a:xfrm>
          <a:prstGeom prst="line">
            <a:avLst/>
          </a:prstGeom>
        </p:spPr>
        <p:style>
          <a:lnRef idx="2">
            <a:schemeClr val="accent4">
              <a:shade val="50000"/>
            </a:schemeClr>
          </a:lnRef>
          <a:fillRef idx="1">
            <a:schemeClr val="accent4"/>
          </a:fillRef>
          <a:effectRef idx="0">
            <a:schemeClr val="accent4"/>
          </a:effectRef>
          <a:fontRef idx="minor">
            <a:schemeClr val="lt1"/>
          </a:fontRef>
        </p:style>
      </p:cxnSp>
      <p:sp>
        <p:nvSpPr>
          <p:cNvPr id="36" name="椭圆 35"/>
          <p:cNvSpPr/>
          <p:nvPr/>
        </p:nvSpPr>
        <p:spPr>
          <a:xfrm>
            <a:off x="4699269" y="3524318"/>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6</a:t>
            </a:r>
            <a:endParaRPr lang="zh-CN" altLang="en-US" dirty="0"/>
          </a:p>
        </p:txBody>
      </p:sp>
      <p:cxnSp>
        <p:nvCxnSpPr>
          <p:cNvPr id="37" name="直接连接符 36"/>
          <p:cNvCxnSpPr>
            <a:endCxn id="36" idx="1"/>
          </p:cNvCxnSpPr>
          <p:nvPr/>
        </p:nvCxnSpPr>
        <p:spPr>
          <a:xfrm>
            <a:off x="4024643" y="2960438"/>
            <a:ext cx="752294" cy="641548"/>
          </a:xfrm>
          <a:prstGeom prst="line">
            <a:avLst/>
          </a:prstGeom>
        </p:spPr>
        <p:style>
          <a:lnRef idx="2">
            <a:schemeClr val="accent4">
              <a:shade val="50000"/>
            </a:schemeClr>
          </a:lnRef>
          <a:fillRef idx="1">
            <a:schemeClr val="accent4"/>
          </a:fillRef>
          <a:effectRef idx="0">
            <a:schemeClr val="accent4"/>
          </a:effectRef>
          <a:fontRef idx="minor">
            <a:schemeClr val="lt1"/>
          </a:fontRef>
        </p:style>
      </p:cxnSp>
      <p:sp>
        <p:nvSpPr>
          <p:cNvPr id="38" name="椭圆 37"/>
          <p:cNvSpPr/>
          <p:nvPr/>
        </p:nvSpPr>
        <p:spPr>
          <a:xfrm>
            <a:off x="3480094" y="4415284"/>
            <a:ext cx="530352" cy="530352"/>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smtClean="0"/>
              <a:t>5</a:t>
            </a:r>
            <a:endParaRPr lang="zh-CN" altLang="en-US" dirty="0"/>
          </a:p>
        </p:txBody>
      </p:sp>
      <p:cxnSp>
        <p:nvCxnSpPr>
          <p:cNvPr id="39" name="直接连接符 38"/>
          <p:cNvCxnSpPr>
            <a:endCxn id="38" idx="6"/>
          </p:cNvCxnSpPr>
          <p:nvPr/>
        </p:nvCxnSpPr>
        <p:spPr>
          <a:xfrm flipH="1">
            <a:off x="4010446" y="4012278"/>
            <a:ext cx="726694" cy="668182"/>
          </a:xfrm>
          <a:prstGeom prst="line">
            <a:avLst/>
          </a:prstGeom>
        </p:spPr>
        <p:style>
          <a:lnRef idx="2">
            <a:schemeClr val="accent4">
              <a:shade val="50000"/>
            </a:schemeClr>
          </a:lnRef>
          <a:fillRef idx="1">
            <a:schemeClr val="accent4"/>
          </a:fillRef>
          <a:effectRef idx="0">
            <a:schemeClr val="accent4"/>
          </a:effectRef>
          <a:fontRef idx="minor">
            <a:schemeClr val="lt1"/>
          </a:fontRef>
        </p:style>
      </p:cxnSp>
    </p:spTree>
    <p:extLst>
      <p:ext uri="{BB962C8B-B14F-4D97-AF65-F5344CB8AC3E}">
        <p14:creationId xmlns:p14="http://schemas.microsoft.com/office/powerpoint/2010/main" val="50959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P spid="34" grpId="0" animBg="1"/>
      <p:bldP spid="36"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算法效率</a:t>
            </a:r>
            <a:endParaRPr lang="zh-CN" altLang="en-US" dirty="0"/>
          </a:p>
        </p:txBody>
      </p:sp>
      <p:sp>
        <p:nvSpPr>
          <p:cNvPr id="3" name="内容占位符 2"/>
          <p:cNvSpPr>
            <a:spLocks noGrp="1"/>
          </p:cNvSpPr>
          <p:nvPr>
            <p:ph idx="1"/>
          </p:nvPr>
        </p:nvSpPr>
        <p:spPr/>
        <p:txBody>
          <a:bodyPr/>
          <a:lstStyle/>
          <a:p>
            <a:r>
              <a:rPr lang="zh-CN" altLang="en-US" dirty="0" smtClean="0"/>
              <a:t>选择长度最短的边，使用堆（</a:t>
            </a:r>
            <a:r>
              <a:rPr lang="en-US" altLang="zh-CN" dirty="0" smtClean="0"/>
              <a:t>O(log M)</a:t>
            </a:r>
            <a:r>
              <a:rPr lang="zh-CN" altLang="en-US" dirty="0" smtClean="0"/>
              <a:t>）</a:t>
            </a:r>
            <a:endParaRPr lang="en-US" altLang="zh-CN" dirty="0" smtClean="0"/>
          </a:p>
          <a:p>
            <a:r>
              <a:rPr lang="zh-CN" altLang="en-US" dirty="0" smtClean="0"/>
              <a:t>使用</a:t>
            </a:r>
            <a:r>
              <a:rPr lang="zh-CN" altLang="en-US" dirty="0" smtClean="0"/>
              <a:t>邻接</a:t>
            </a:r>
            <a:r>
              <a:rPr lang="zh-CN" altLang="en-US" dirty="0"/>
              <a:t>表</a:t>
            </a:r>
            <a:r>
              <a:rPr lang="zh-CN" altLang="en-US" dirty="0" smtClean="0"/>
              <a:t>存储</a:t>
            </a:r>
            <a:r>
              <a:rPr lang="zh-CN" altLang="en-US" dirty="0" smtClean="0"/>
              <a:t>图 （</a:t>
            </a:r>
            <a:r>
              <a:rPr lang="en-US" altLang="zh-CN" dirty="0" smtClean="0"/>
              <a:t>O(</a:t>
            </a:r>
            <a:r>
              <a:rPr lang="en-US" altLang="zh-CN" dirty="0" err="1" smtClean="0"/>
              <a:t>mlog</a:t>
            </a:r>
            <a:r>
              <a:rPr lang="en-US" altLang="zh-CN" dirty="0" smtClean="0"/>
              <a:t> n)</a:t>
            </a:r>
            <a:r>
              <a:rPr lang="zh-CN" altLang="en-US" dirty="0" smtClean="0"/>
              <a:t>）</a:t>
            </a:r>
            <a:endParaRPr lang="zh-CN" altLang="en-US" dirty="0"/>
          </a:p>
        </p:txBody>
      </p:sp>
    </p:spTree>
    <p:extLst>
      <p:ext uri="{BB962C8B-B14F-4D97-AF65-F5344CB8AC3E}">
        <p14:creationId xmlns:p14="http://schemas.microsoft.com/office/powerpoint/2010/main" val="511207311"/>
      </p:ext>
    </p:extLst>
  </p:cSld>
  <p:clrMapOvr>
    <a:masterClrMapping/>
  </p:clrMapOvr>
  <p:timing>
    <p:tnLst>
      <p:par>
        <p:cTn id="1" dur="indefinite" restart="never" nodeType="tmRoot"/>
      </p:par>
    </p:tnLst>
  </p:timing>
</p:sld>
</file>

<file path=ppt/theme/theme1.xml><?xml version="1.0" encoding="utf-8"?>
<a:theme xmlns:a="http://schemas.openxmlformats.org/drawingml/2006/main" name="A000120140530A99PPBG">
  <a:themeElements>
    <a:clrScheme name="自定义 430">
      <a:dk1>
        <a:srgbClr val="5F5F5F"/>
      </a:dk1>
      <a:lt1>
        <a:srgbClr val="FFFFFF"/>
      </a:lt1>
      <a:dk2>
        <a:srgbClr val="5F5F5F"/>
      </a:dk2>
      <a:lt2>
        <a:srgbClr val="FFFFFF"/>
      </a:lt2>
      <a:accent1>
        <a:srgbClr val="0070C0"/>
      </a:accent1>
      <a:accent2>
        <a:srgbClr val="6A63CB"/>
      </a:accent2>
      <a:accent3>
        <a:srgbClr val="4040A2"/>
      </a:accent3>
      <a:accent4>
        <a:srgbClr val="8542A0"/>
      </a:accent4>
      <a:accent5>
        <a:srgbClr val="AACC03"/>
      </a:accent5>
      <a:accent6>
        <a:srgbClr val="FFC000"/>
      </a:accent6>
      <a:hlink>
        <a:srgbClr val="00B0F0"/>
      </a:hlink>
      <a:folHlink>
        <a:srgbClr val="AFB2B4"/>
      </a:folHlink>
    </a:clrScheme>
    <a:fontScheme name="KSO主题文字4">
      <a:majorFont>
        <a:latin typeface="Baskerville Old Face"/>
        <a:ea typeface="黑体"/>
        <a:cs typeface=""/>
      </a:majorFont>
      <a:minorFont>
        <a:latin typeface="Calibri"/>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A000120150324A04KPBG</Template>
  <TotalTime>148</TotalTime>
  <Words>69</Words>
  <Application>Microsoft Office PowerPoint</Application>
  <PresentationFormat>宽屏</PresentationFormat>
  <Paragraphs>27</Paragraphs>
  <Slides>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vt:i4>
      </vt:variant>
    </vt:vector>
  </HeadingPairs>
  <TitlesOfParts>
    <vt:vector size="9" baseType="lpstr">
      <vt:lpstr>黑体</vt:lpstr>
      <vt:lpstr>幼圆</vt:lpstr>
      <vt:lpstr>Arial</vt:lpstr>
      <vt:lpstr>Calibri</vt:lpstr>
      <vt:lpstr>Wingdings</vt:lpstr>
      <vt:lpstr>A000120140530A99PPBG</vt:lpstr>
      <vt:lpstr>Prim algorithm </vt:lpstr>
      <vt:lpstr>核心</vt:lpstr>
      <vt:lpstr>算法效率</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 algorithm </dc:title>
  <dc:creator>Tortoise -</dc:creator>
  <cp:lastModifiedBy>Tortoise -</cp:lastModifiedBy>
  <cp:revision>4</cp:revision>
  <dcterms:created xsi:type="dcterms:W3CDTF">2018-08-29T13:09:11Z</dcterms:created>
  <dcterms:modified xsi:type="dcterms:W3CDTF">2018-08-30T12:18:14Z</dcterms:modified>
</cp:coreProperties>
</file>